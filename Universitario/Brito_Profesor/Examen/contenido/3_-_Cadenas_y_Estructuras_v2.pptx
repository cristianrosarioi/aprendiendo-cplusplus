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67"/>
  </p:notesMasterIdLst>
  <p:handoutMasterIdLst>
    <p:handoutMasterId r:id="rId68"/>
  </p:handoutMasterIdLst>
  <p:sldIdLst>
    <p:sldId id="256" r:id="rId3"/>
    <p:sldId id="427" r:id="rId4"/>
    <p:sldId id="258" r:id="rId5"/>
    <p:sldId id="428" r:id="rId6"/>
    <p:sldId id="265" r:id="rId7"/>
    <p:sldId id="268" r:id="rId8"/>
    <p:sldId id="429" r:id="rId9"/>
    <p:sldId id="430" r:id="rId10"/>
    <p:sldId id="431" r:id="rId11"/>
    <p:sldId id="432" r:id="rId12"/>
    <p:sldId id="433" r:id="rId13"/>
    <p:sldId id="434" r:id="rId14"/>
    <p:sldId id="435" r:id="rId15"/>
    <p:sldId id="436" r:id="rId16"/>
    <p:sldId id="437" r:id="rId17"/>
    <p:sldId id="378" r:id="rId18"/>
    <p:sldId id="438" r:id="rId19"/>
    <p:sldId id="439" r:id="rId20"/>
    <p:sldId id="440" r:id="rId21"/>
    <p:sldId id="441" r:id="rId22"/>
    <p:sldId id="442" r:id="rId23"/>
    <p:sldId id="443" r:id="rId24"/>
    <p:sldId id="444" r:id="rId25"/>
    <p:sldId id="381" r:id="rId26"/>
    <p:sldId id="445" r:id="rId27"/>
    <p:sldId id="446" r:id="rId28"/>
    <p:sldId id="447" r:id="rId29"/>
    <p:sldId id="382" r:id="rId30"/>
    <p:sldId id="448" r:id="rId31"/>
    <p:sldId id="449" r:id="rId32"/>
    <p:sldId id="450" r:id="rId33"/>
    <p:sldId id="383" r:id="rId34"/>
    <p:sldId id="456" r:id="rId35"/>
    <p:sldId id="451" r:id="rId36"/>
    <p:sldId id="385" r:id="rId37"/>
    <p:sldId id="452" r:id="rId38"/>
    <p:sldId id="453" r:id="rId39"/>
    <p:sldId id="454" r:id="rId40"/>
    <p:sldId id="455" r:id="rId41"/>
    <p:sldId id="387" r:id="rId42"/>
    <p:sldId id="457" r:id="rId43"/>
    <p:sldId id="458" r:id="rId44"/>
    <p:sldId id="459" r:id="rId45"/>
    <p:sldId id="460" r:id="rId46"/>
    <p:sldId id="388" r:id="rId47"/>
    <p:sldId id="461" r:id="rId48"/>
    <p:sldId id="462" r:id="rId49"/>
    <p:sldId id="463" r:id="rId50"/>
    <p:sldId id="464" r:id="rId51"/>
    <p:sldId id="465" r:id="rId52"/>
    <p:sldId id="389" r:id="rId53"/>
    <p:sldId id="466" r:id="rId54"/>
    <p:sldId id="390" r:id="rId55"/>
    <p:sldId id="467" r:id="rId56"/>
    <p:sldId id="392" r:id="rId57"/>
    <p:sldId id="468" r:id="rId58"/>
    <p:sldId id="469" r:id="rId59"/>
    <p:sldId id="470" r:id="rId60"/>
    <p:sldId id="471" r:id="rId61"/>
    <p:sldId id="397" r:id="rId62"/>
    <p:sldId id="377" r:id="rId63"/>
    <p:sldId id="472" r:id="rId64"/>
    <p:sldId id="426" r:id="rId65"/>
    <p:sldId id="261" r:id="rId66"/>
  </p:sldIdLst>
  <p:sldSz cx="9144000" cy="6858000" type="screen4x3"/>
  <p:notesSz cx="7099300" cy="10234613"/>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BFC4A"/>
    <a:srgbClr val="81FC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6" autoAdjust="0"/>
    <p:restoredTop sz="92383" autoAdjust="0"/>
  </p:normalViewPr>
  <p:slideViewPr>
    <p:cSldViewPr>
      <p:cViewPr varScale="1">
        <p:scale>
          <a:sx n="67" d="100"/>
          <a:sy n="67" d="100"/>
        </p:scale>
        <p:origin x="43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E5908F18-8924-4D1A-9AB1-248C1069A6EB}" type="datetimeFigureOut">
              <a:rPr lang="en-US" smtClean="0"/>
              <a:pPr/>
              <a:t>10/31/2014</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9DC24247-3611-49FE-925D-09A45A7A4F84}" type="slidenum">
              <a:rPr lang="en-US" smtClean="0"/>
              <a:pPr/>
              <a:t>‹Nº›</a:t>
            </a:fld>
            <a:endParaRPr lang="en-US"/>
          </a:p>
        </p:txBody>
      </p:sp>
    </p:spTree>
    <p:extLst>
      <p:ext uri="{BB962C8B-B14F-4D97-AF65-F5344CB8AC3E}">
        <p14:creationId xmlns:p14="http://schemas.microsoft.com/office/powerpoint/2010/main" val="19848327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extLst/>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extLst/>
          </a:lstStyle>
          <a:p>
            <a:fld id="{A8ADFD5B-A66C-449C-B6E8-FB716D07777D}" type="datetimeFigureOut">
              <a:rPr lang="en-US" smtClean="0"/>
              <a:pPr/>
              <a:t>10/31/2014</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extLst/>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extLst/>
          </a:lstStyle>
          <a:p>
            <a:pPr lvl="0"/>
            <a:r>
              <a:rPr lang="en-US" smtClean="0"/>
              <a:t>Click to edit Master text styles</a:t>
            </a:r>
            <a:endParaRPr lang="en-US"/>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extLst/>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extLst/>
          </a:lstStyle>
          <a:p>
            <a:fld id="{CA5D3BF3-D352-46FC-8343-31F56E6730EA}" type="slidenum">
              <a:rPr lang="en-US" smtClean="0"/>
              <a:pPr/>
              <a:t>‹Nº›</a:t>
            </a:fld>
            <a:endParaRPr lang="en-US"/>
          </a:p>
        </p:txBody>
      </p:sp>
    </p:spTree>
    <p:extLst>
      <p:ext uri="{BB962C8B-B14F-4D97-AF65-F5344CB8AC3E}">
        <p14:creationId xmlns:p14="http://schemas.microsoft.com/office/powerpoint/2010/main" val="1676860100"/>
      </p:ext>
    </p:extLst>
  </p:cSld>
  <p:clrMap bg1="lt1" tx1="dk1" bg2="lt2" tx2="dk2" accent1="accent1" accent2="accent2" accent3="accent3" accent4="accent4" accent5="accent5" accent6="accent6" hlink="hlink" folHlink="folHlink"/>
  <p:hf hdr="0" ftr="0" dt="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1</a:t>
            </a:fld>
            <a:endParaRPr lang="en-US"/>
          </a:p>
        </p:txBody>
      </p:sp>
    </p:spTree>
    <p:extLst>
      <p:ext uri="{BB962C8B-B14F-4D97-AF65-F5344CB8AC3E}">
        <p14:creationId xmlns:p14="http://schemas.microsoft.com/office/powerpoint/2010/main" val="814387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lIns="91422" tIns="45711" rIns="91422" bIns="45711"/>
          <a:lstStyle>
            <a:extLst/>
          </a:lstStyle>
          <a:p>
            <a:endParaRPr lang="en-US"/>
          </a:p>
        </p:txBody>
      </p:sp>
      <p:sp>
        <p:nvSpPr>
          <p:cNvPr id="4" name="Rectangle 3"/>
          <p:cNvSpPr>
            <a:spLocks noGrp="1"/>
          </p:cNvSpPr>
          <p:nvPr>
            <p:ph type="sldNum" sz="quarter" idx="10"/>
          </p:nvPr>
        </p:nvSpPr>
        <p:spPr/>
        <p:txBody>
          <a:bodyPr lIns="91422" tIns="45711" rIns="91422" bIns="45711"/>
          <a:lstStyle>
            <a:extLst/>
          </a:lstStyle>
          <a:p>
            <a:fld id="{CA5D3BF3-D352-46FC-8343-31F56E6730EA}" type="slidenum">
              <a:rPr lang="en-US" smtClean="0"/>
              <a:pPr/>
              <a:t>2</a:t>
            </a:fld>
            <a:endParaRPr lang="en-US"/>
          </a:p>
        </p:txBody>
      </p:sp>
    </p:spTree>
    <p:extLst>
      <p:ext uri="{BB962C8B-B14F-4D97-AF65-F5344CB8AC3E}">
        <p14:creationId xmlns:p14="http://schemas.microsoft.com/office/powerpoint/2010/main" val="2173949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3</a:t>
            </a:fld>
            <a:endParaRPr lang="en-US"/>
          </a:p>
        </p:txBody>
      </p:sp>
    </p:spTree>
    <p:extLst>
      <p:ext uri="{BB962C8B-B14F-4D97-AF65-F5344CB8AC3E}">
        <p14:creationId xmlns:p14="http://schemas.microsoft.com/office/powerpoint/2010/main" val="230001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4</a:t>
            </a:fld>
            <a:endParaRPr lang="en-US"/>
          </a:p>
        </p:txBody>
      </p:sp>
    </p:spTree>
    <p:extLst>
      <p:ext uri="{BB962C8B-B14F-4D97-AF65-F5344CB8AC3E}">
        <p14:creationId xmlns:p14="http://schemas.microsoft.com/office/powerpoint/2010/main" val="1736313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14</a:t>
            </a:fld>
            <a:endParaRPr lang="en-US"/>
          </a:p>
        </p:txBody>
      </p:sp>
    </p:spTree>
    <p:extLst>
      <p:ext uri="{BB962C8B-B14F-4D97-AF65-F5344CB8AC3E}">
        <p14:creationId xmlns:p14="http://schemas.microsoft.com/office/powerpoint/2010/main" val="1228752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22</a:t>
            </a:fld>
            <a:endParaRPr lang="en-US"/>
          </a:p>
        </p:txBody>
      </p:sp>
    </p:spTree>
    <p:extLst>
      <p:ext uri="{BB962C8B-B14F-4D97-AF65-F5344CB8AC3E}">
        <p14:creationId xmlns:p14="http://schemas.microsoft.com/office/powerpoint/2010/main" val="40746184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30</a:t>
            </a:fld>
            <a:endParaRPr lang="en-US"/>
          </a:p>
        </p:txBody>
      </p:sp>
    </p:spTree>
    <p:extLst>
      <p:ext uri="{BB962C8B-B14F-4D97-AF65-F5344CB8AC3E}">
        <p14:creationId xmlns:p14="http://schemas.microsoft.com/office/powerpoint/2010/main" val="109292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43</a:t>
            </a:fld>
            <a:endParaRPr lang="en-US"/>
          </a:p>
        </p:txBody>
      </p:sp>
    </p:spTree>
    <p:extLst>
      <p:ext uri="{BB962C8B-B14F-4D97-AF65-F5344CB8AC3E}">
        <p14:creationId xmlns:p14="http://schemas.microsoft.com/office/powerpoint/2010/main" val="3943212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49</a:t>
            </a:fld>
            <a:endParaRPr lang="en-US"/>
          </a:p>
        </p:txBody>
      </p:sp>
    </p:spTree>
    <p:extLst>
      <p:ext uri="{BB962C8B-B14F-4D97-AF65-F5344CB8AC3E}">
        <p14:creationId xmlns:p14="http://schemas.microsoft.com/office/powerpoint/2010/main" val="257444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lIns="91431" tIns="45715" rIns="91431" bIns="45715"/>
          <a:lstStyle>
            <a:extLst/>
          </a:lstStyle>
          <a:p>
            <a:endParaRPr lang="en-US"/>
          </a:p>
        </p:txBody>
      </p:sp>
      <p:sp>
        <p:nvSpPr>
          <p:cNvPr id="4" name="Rectangle 3"/>
          <p:cNvSpPr>
            <a:spLocks noGrp="1"/>
          </p:cNvSpPr>
          <p:nvPr>
            <p:ph type="sldNum" sz="quarter" idx="10"/>
          </p:nvPr>
        </p:nvSpPr>
        <p:spPr/>
        <p:txBody>
          <a:bodyPr lIns="91431" tIns="45715" rIns="91431" bIns="45715"/>
          <a:lstStyle>
            <a:extLst/>
          </a:lstStyle>
          <a:p>
            <a:fld id="{CA5D3BF3-D352-46FC-8343-31F56E6730EA}" type="slidenum">
              <a:rPr lang="en-US" smtClean="0"/>
              <a:pPr/>
              <a:t>63</a:t>
            </a:fld>
            <a:endParaRPr lang="en-US"/>
          </a:p>
        </p:txBody>
      </p:sp>
    </p:spTree>
    <p:extLst>
      <p:ext uri="{BB962C8B-B14F-4D97-AF65-F5344CB8AC3E}">
        <p14:creationId xmlns:p14="http://schemas.microsoft.com/office/powerpoint/2010/main" val="2057828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992188" y="768350"/>
            <a:ext cx="5114925" cy="3836988"/>
          </a:xfrm>
        </p:spPr>
      </p:sp>
      <p:sp>
        <p:nvSpPr>
          <p:cNvPr id="3" name="Rectangle 2"/>
          <p:cNvSpPr>
            <a:spLocks noGrp="1"/>
          </p:cNvSpPr>
          <p:nvPr>
            <p:ph type="body" idx="1"/>
          </p:nvPr>
        </p:nvSpPr>
        <p:spPr/>
        <p:txBody>
          <a:bodyPr/>
          <a:lstStyle>
            <a:extLst/>
          </a:lstStyle>
          <a:p>
            <a:endParaRPr lang="en-US"/>
          </a:p>
        </p:txBody>
      </p:sp>
      <p:sp>
        <p:nvSpPr>
          <p:cNvPr id="4" name="Rectangle 3"/>
          <p:cNvSpPr>
            <a:spLocks noGrp="1"/>
          </p:cNvSpPr>
          <p:nvPr>
            <p:ph type="sldNum" sz="quarter" idx="10"/>
          </p:nvPr>
        </p:nvSpPr>
        <p:spPr/>
        <p:txBody>
          <a:bodyPr/>
          <a:lstStyle>
            <a:extLst/>
          </a:lstStyle>
          <a:p>
            <a:fld id="{CA5D3BF3-D352-46FC-8343-31F56E6730EA}" type="slidenum">
              <a:rPr lang="en-US" smtClean="0"/>
              <a:pPr/>
              <a:t>64</a:t>
            </a:fld>
            <a:endParaRPr lang="en-US"/>
          </a:p>
        </p:txBody>
      </p:sp>
    </p:spTree>
    <p:extLst>
      <p:ext uri="{BB962C8B-B14F-4D97-AF65-F5344CB8AC3E}">
        <p14:creationId xmlns:p14="http://schemas.microsoft.com/office/powerpoint/2010/main" val="612774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9" name="Subtitle 8"/>
          <p:cNvSpPr>
            <a:spLocks noGrp="1"/>
          </p:cNvSpPr>
          <p:nvPr>
            <p:ph type="subTitle" idx="1"/>
          </p:nvPr>
        </p:nvSpPr>
        <p:spPr>
          <a:xfrm>
            <a:off x="2362200" y="6050037"/>
            <a:ext cx="6515100" cy="685800"/>
          </a:xfrm>
        </p:spPr>
        <p:txBody>
          <a:bodyPr anchor="ctr"/>
          <a:lstStyle>
            <a:lvl1pPr marL="0" indent="0" algn="l" eaLnBrk="1" latinLnBrk="0" hangingPunct="1">
              <a:buNone/>
              <a:defRPr kumimoji="0" sz="2800">
                <a:solidFill>
                  <a:srgbClr val="FFFFFF"/>
                </a:solidFill>
              </a:defRPr>
            </a:lvl1pPr>
            <a:lvl2pPr marL="457200" indent="0" algn="ctr" eaLnBrk="1" latinLnBrk="0" hangingPunct="1">
              <a:buNone/>
            </a:lvl2pPr>
            <a:lvl3pPr marL="914400" indent="0" algn="ctr" eaLnBrk="1" latinLnBrk="0" hangingPunct="1">
              <a:buNone/>
            </a:lvl3pPr>
            <a:lvl4pPr marL="1371600" indent="0" algn="ctr" eaLnBrk="1" latinLnBrk="0" hangingPunct="1">
              <a:buNone/>
            </a:lvl4pPr>
            <a:lvl5pPr marL="1828800" indent="0" algn="ctr" eaLnBrk="1" latinLnBrk="0" hangingPunct="1">
              <a:buNone/>
            </a:lvl5pPr>
            <a:lvl6pPr marL="2286000" indent="0" algn="ctr" eaLnBrk="1" latinLnBrk="0" hangingPunct="1">
              <a:buNone/>
            </a:lvl6pPr>
            <a:lvl7pPr marL="2743200" indent="0" algn="ctr" eaLnBrk="1" latinLnBrk="0" hangingPunct="1">
              <a:buNone/>
            </a:lvl7pPr>
            <a:lvl8pPr marL="3200400" indent="0" algn="ctr" eaLnBrk="1" latinLnBrk="0" hangingPunct="1">
              <a:buNone/>
            </a:lvl8pPr>
            <a:lvl9pPr marL="3657600" indent="0" algn="ctr" eaLnBrk="1" latinLnBrk="0" hangingPunct="1">
              <a:buNone/>
            </a:lvl9pPr>
            <a:extLst/>
          </a:lstStyle>
          <a:p>
            <a:pPr eaLnBrk="1" latinLnBrk="1" hangingPunct="1"/>
            <a:r>
              <a:rPr lang="en-US" smtClean="0"/>
              <a:t>Click to edit Master subtitle style</a:t>
            </a:r>
            <a:endParaRPr/>
          </a:p>
        </p:txBody>
      </p:sp>
      <p:sp>
        <p:nvSpPr>
          <p:cNvPr id="28" name="Date Placeholder 27"/>
          <p:cNvSpPr>
            <a:spLocks noGrp="1"/>
          </p:cNvSpPr>
          <p:nvPr>
            <p:ph type="dt" sz="half" idx="10"/>
          </p:nvPr>
        </p:nvSpPr>
        <p:spPr>
          <a:xfrm>
            <a:off x="76200" y="6068699"/>
            <a:ext cx="2057400" cy="685800"/>
          </a:xfrm>
        </p:spPr>
        <p:txBody>
          <a:bodyPr>
            <a:noAutofit/>
          </a:bodyPr>
          <a:lstStyle>
            <a:lvl1pPr algn="ctr" eaLnBrk="1" latinLnBrk="0" hangingPunct="1">
              <a:defRPr kumimoji="0" sz="2000">
                <a:solidFill>
                  <a:srgbClr val="FFFFFF"/>
                </a:solidFill>
              </a:defRPr>
            </a:lvl1pPr>
            <a:extLst/>
          </a:lstStyle>
          <a:p>
            <a:pPr algn="ctr"/>
            <a:fld id="{F25CFF3F-650C-4585-B0A9-4A8F284D2587}" type="datetime1">
              <a:rPr kumimoji="0" lang="en-US" smtClean="0">
                <a:solidFill>
                  <a:srgbClr val="FFFFFF"/>
                </a:solidFill>
              </a:rPr>
              <a:pPr algn="ctr"/>
              <a:t>10/31/2014</a:t>
            </a:fld>
            <a:endParaRPr kumimoji="0" lang="en-US" sz="2000" dirty="0">
              <a:solidFill>
                <a:srgbClr val="FFFFFF"/>
              </a:solidFill>
            </a:endParaRPr>
          </a:p>
        </p:txBody>
      </p:sp>
      <p:sp>
        <p:nvSpPr>
          <p:cNvPr id="17" name="Footer Placeholder 16"/>
          <p:cNvSpPr>
            <a:spLocks noGrp="1"/>
          </p:cNvSpPr>
          <p:nvPr>
            <p:ph type="ftr" sz="quarter" idx="11"/>
          </p:nvPr>
        </p:nvSpPr>
        <p:spPr>
          <a:xfrm>
            <a:off x="2085393" y="236539"/>
            <a:ext cx="5867400" cy="365125"/>
          </a:xfrm>
        </p:spPr>
        <p:txBody>
          <a:bodyPr/>
          <a:lstStyle>
            <a:lvl1pPr algn="r" eaLnBrk="1" latinLnBrk="0" hangingPunct="1">
              <a:defRPr kumimoji="0">
                <a:solidFill>
                  <a:schemeClr val="tx2"/>
                </a:solidFill>
              </a:defRPr>
            </a:lvl1pPr>
            <a:extLst/>
          </a:lstStyle>
          <a:p>
            <a:pPr algn="r"/>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eaLnBrk="1" latinLnBrk="0" hangingPunct="1">
              <a:defRPr kumimoji="0">
                <a:solidFill>
                  <a:schemeClr val="tx2"/>
                </a:solidFill>
              </a:defRPr>
            </a:lvl1pPr>
            <a:extLst/>
          </a:lstStyle>
          <a:p>
            <a:fld id="{8F82E0A0-C266-4798-8C8F-B9F91E9DA37E}" type="slidenum">
              <a:rPr kumimoji="0" lang="en-US" smtClean="0">
                <a:solidFill>
                  <a:schemeClr val="tx2"/>
                </a:solidFill>
              </a:rPr>
              <a:pPr/>
              <a:t>‹Nº›</a:t>
            </a:fld>
            <a:endParaRPr kumimoji="0" lang="en-US" dirty="0">
              <a:solidFill>
                <a:schemeClr val="tx2"/>
              </a:solidFill>
            </a:endParaRPr>
          </a:p>
        </p:txBody>
      </p:sp>
      <p:sp>
        <p:nvSpPr>
          <p:cNvPr id="12" name="Rectangle 11"/>
          <p:cNvSpPr>
            <a:spLocks noGrp="1"/>
          </p:cNvSpPr>
          <p:nvPr>
            <p:ph type="title"/>
          </p:nvPr>
        </p:nvSpPr>
        <p:spPr>
          <a:xfrm>
            <a:off x="2362200" y="3124200"/>
            <a:ext cx="6477000" cy="2717800"/>
          </a:xfrm>
        </p:spPr>
        <p:txBody>
          <a:bodyPr rtlCol="0" anchor="b"/>
          <a:lstStyle>
            <a:lvl1pPr eaLnBrk="1" latinLnBrk="0" hangingPunct="1">
              <a:defRPr kumimoji="0" cap="all" baseline="0"/>
            </a:lvl1pPr>
            <a:extLst/>
          </a:lstStyle>
          <a:p>
            <a:pPr eaLnBrk="1" latinLnBrk="1" hangingPunct="1"/>
            <a:r>
              <a:rPr lang="en-US" smtClean="0"/>
              <a:t>Click to edit Master title style</a:t>
            </a:r>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pPr eaLnBrk="1" latinLnBrk="1" hangingPunct="1"/>
            <a:r>
              <a:rPr lang="en-US" smtClean="0"/>
              <a:t>Click to edit Master title style</a:t>
            </a:r>
            <a:endParaRPr/>
          </a:p>
        </p:txBody>
      </p:sp>
      <p:sp>
        <p:nvSpPr>
          <p:cNvPr id="3" name="Rectangle 2"/>
          <p:cNvSpPr>
            <a:spLocks noGrp="1"/>
          </p:cNvSpPr>
          <p:nvPr>
            <p:ph type="dt" sz="half" idx="10"/>
          </p:nvPr>
        </p:nvSpPr>
        <p:spPr/>
        <p:txBody>
          <a:bodyPr/>
          <a:lstStyle>
            <a:extLst/>
          </a:lstStyle>
          <a:p>
            <a:fld id="{C883BC3B-9A94-4EA4-9CB7-64A0D888B9E5}" type="datetime1">
              <a:rPr kumimoji="0" lang="en-US" smtClean="0"/>
              <a:pPr/>
              <a:t>10/31/2014</a:t>
            </a:fld>
            <a:endParaRPr kumimoji="0" lang="en-US"/>
          </a:p>
        </p:txBody>
      </p:sp>
      <p:sp>
        <p:nvSpPr>
          <p:cNvPr id="4" name="Rectangle 3"/>
          <p:cNvSpPr>
            <a:spLocks noGrp="1"/>
          </p:cNvSpPr>
          <p:nvPr>
            <p:ph type="ftr" sz="quarter" idx="11"/>
          </p:nvPr>
        </p:nvSpPr>
        <p:spPr/>
        <p:txBody>
          <a:bodyPr/>
          <a:lstStyle>
            <a:extLst/>
          </a:lstStyle>
          <a:p>
            <a:endParaRPr kumimoji="0" lang="en-US"/>
          </a:p>
        </p:txBody>
      </p:sp>
      <p:sp>
        <p:nvSpPr>
          <p:cNvPr id="5" name="Rectangle 4"/>
          <p:cNvSpPr>
            <a:spLocks noGrp="1"/>
          </p:cNvSpPr>
          <p:nvPr>
            <p:ph type="sldNum" sz="quarter" idx="12"/>
          </p:nvPr>
        </p:nvSpPr>
        <p:spPr/>
        <p:txBody>
          <a:bodyPr/>
          <a:lstStyle>
            <a:extLst/>
          </a:lstStyle>
          <a:p>
            <a:pPr algn="ctr"/>
            <a:fld id="{8F82E0A0-C266-4798-8C8F-B9F91E9DA37E}" type="slidenum">
              <a:rPr kumimoji="0" lang="en-US" sz="1400" b="1" smtClean="0">
                <a:solidFill>
                  <a:srgbClr val="FFFFFF"/>
                </a:solidFill>
              </a:rPr>
              <a:pPr algn="ctr"/>
              <a:t>‹Nº›</a:t>
            </a:fld>
            <a:endParaRPr kumimoji="0" lang="en-US"/>
          </a:p>
        </p:txBody>
      </p:sp>
      <p:sp>
        <p:nvSpPr>
          <p:cNvPr id="7" name="Rectangle 6"/>
          <p:cNvSpPr>
            <a:spLocks noGrp="1"/>
          </p:cNvSpPr>
          <p:nvPr>
            <p:ph sz="quarter" idx="13"/>
          </p:nvPr>
        </p:nvSpPr>
        <p:spPr>
          <a:xfrm>
            <a:off x="609600" y="1803400"/>
            <a:ext cx="8153400" cy="4368800"/>
          </a:xfrm>
        </p:spPr>
        <p:txBody>
          <a:bodyPr/>
          <a:lstStyle>
            <a:extLst/>
          </a:lstStyle>
          <a:p>
            <a:pPr lvl="0" eaLnBrk="1" latinLnBrk="1" hangingPunct="1"/>
            <a:r>
              <a:rPr lang="en-US" smtClean="0"/>
              <a:t>Click to edit Master text styles</a:t>
            </a:r>
          </a:p>
          <a:p>
            <a:pPr lvl="1" eaLnBrk="1" latinLnBrk="1" hangingPunct="1"/>
            <a:r>
              <a:rPr lang="en-US" smtClean="0"/>
              <a:t>Second level</a:t>
            </a:r>
          </a:p>
          <a:p>
            <a:pPr lvl="2" eaLnBrk="1" latinLnBrk="1" hangingPunct="1"/>
            <a:r>
              <a:rPr lang="en-US" smtClean="0"/>
              <a:t>Third level</a:t>
            </a:r>
          </a:p>
          <a:p>
            <a:pPr lvl="3" eaLnBrk="1" latinLnBrk="1" hangingPunct="1"/>
            <a:r>
              <a:rPr lang="en-US" smtClean="0"/>
              <a:t>Fourth level</a:t>
            </a:r>
          </a:p>
          <a:p>
            <a:pPr lvl="4" eaLnBrk="1" latinLnBrk="1" hangingPunct="1"/>
            <a:r>
              <a:rPr lang="en-US" smtClean="0"/>
              <a:t>Fifth level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1" y="2743201"/>
            <a:ext cx="7123113" cy="1673225"/>
          </a:xfrm>
        </p:spPr>
        <p:txBody>
          <a:bodyPr anchor="t"/>
          <a:lstStyle>
            <a:lvl1pPr eaLnBrk="1" latinLnBrk="0" hangingPunct="1">
              <a:buNone/>
              <a:defRPr kumimoji="0" sz="2800">
                <a:solidFill>
                  <a:schemeClr val="tx2"/>
                </a:solidFill>
              </a:defRPr>
            </a:lvl1pPr>
            <a:lvl2pPr eaLnBrk="1" latinLnBrk="0" hangingPunct="1">
              <a:buNone/>
              <a:defRPr kumimoji="0" sz="1800">
                <a:solidFill>
                  <a:schemeClr val="tx1">
                    <a:tint val="75000"/>
                  </a:schemeClr>
                </a:solidFill>
              </a:defRPr>
            </a:lvl2pPr>
            <a:lvl3pPr eaLnBrk="1" latinLnBrk="0" hangingPunct="1">
              <a:buNone/>
              <a:defRPr kumimoji="0" sz="1600">
                <a:solidFill>
                  <a:schemeClr val="tx1">
                    <a:tint val="75000"/>
                  </a:schemeClr>
                </a:solidFill>
              </a:defRPr>
            </a:lvl3pPr>
            <a:lvl4pPr eaLnBrk="1" latinLnBrk="0" hangingPunct="1">
              <a:buNone/>
              <a:defRPr kumimoji="0" sz="1400">
                <a:solidFill>
                  <a:schemeClr val="tx1">
                    <a:tint val="75000"/>
                  </a:schemeClr>
                </a:solidFill>
              </a:defRPr>
            </a:lvl4pPr>
            <a:lvl5pPr eaLnBrk="1" latinLnBrk="0" hangingPunct="1">
              <a:buNone/>
              <a:defRPr kumimoji="0" sz="1400">
                <a:solidFill>
                  <a:schemeClr val="tx1">
                    <a:tint val="75000"/>
                  </a:schemeClr>
                </a:solidFill>
              </a:defRPr>
            </a:lvl5pPr>
            <a:extLst/>
          </a:lstStyle>
          <a:p>
            <a:pPr lvl="0" eaLnBrk="1" latinLnBrk="1" hangingPunct="1"/>
            <a:r>
              <a:rPr lang="en-US" smtClean="0"/>
              <a:t>Click to edit Master text styles</a:t>
            </a:r>
          </a:p>
        </p:txBody>
      </p:sp>
      <p:sp>
        <p:nvSpPr>
          <p:cNvPr id="7" name="Rectangle 6"/>
          <p:cNvSpPr/>
          <p:nvPr/>
        </p:nvSpPr>
        <p:spPr>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2" name="Title 1"/>
          <p:cNvSpPr>
            <a:spLocks noGrp="1"/>
          </p:cNvSpPr>
          <p:nvPr>
            <p:ph type="title" hasCustomPrompt="1"/>
          </p:nvPr>
        </p:nvSpPr>
        <p:spPr>
          <a:xfrm>
            <a:off x="1371600" y="1600200"/>
            <a:ext cx="7620000" cy="990600"/>
          </a:xfrm>
        </p:spPr>
        <p:txBody>
          <a:bodyPr/>
          <a:lstStyle>
            <a:lvl1pPr algn="l" eaLnBrk="1" latinLnBrk="0" hangingPunct="1">
              <a:buNone/>
              <a:defRPr kumimoji="0" sz="4400" b="0" cap="none">
                <a:solidFill>
                  <a:srgbClr val="FFFFFF"/>
                </a:solidFill>
              </a:defRPr>
            </a:lvl1pPr>
            <a:extLst/>
          </a:lstStyle>
          <a:p>
            <a:r>
              <a:rPr kumimoji="0" lang="en-US" dirty="0" smtClean="0"/>
              <a:t>Click to edit master title style</a:t>
            </a:r>
            <a:endParaRPr kumimoji="0" lang="en-US" dirty="0"/>
          </a:p>
        </p:txBody>
      </p:sp>
      <p:sp>
        <p:nvSpPr>
          <p:cNvPr id="12" name="Date Placeholder 11"/>
          <p:cNvSpPr>
            <a:spLocks noGrp="1"/>
          </p:cNvSpPr>
          <p:nvPr>
            <p:ph type="dt" sz="half" idx="10"/>
          </p:nvPr>
        </p:nvSpPr>
        <p:spPr/>
        <p:txBody>
          <a:bodyPr/>
          <a:lstStyle>
            <a:extLst/>
          </a:lstStyle>
          <a:p>
            <a:fld id="{510C1642-ECAA-4DA5-9764-2404E7F85428}" type="datetime1">
              <a:rPr kumimoji="0" lang="en-US" smtClean="0"/>
              <a:pPr/>
              <a:t>10/31/2014</a:t>
            </a:fld>
            <a:endParaRPr kumimoji="0" lang="en-US"/>
          </a:p>
        </p:txBody>
      </p:sp>
      <p:sp>
        <p:nvSpPr>
          <p:cNvPr id="13" name="Slide Number Placeholder 12"/>
          <p:cNvSpPr>
            <a:spLocks noGrp="1"/>
          </p:cNvSpPr>
          <p:nvPr>
            <p:ph type="sldNum" sz="quarter" idx="11"/>
          </p:nvPr>
        </p:nvSpPr>
        <p:spPr>
          <a:xfrm>
            <a:off x="0" y="1752601"/>
            <a:ext cx="1295400" cy="701676"/>
          </a:xfrm>
        </p:spPr>
        <p:txBody>
          <a:bodyPr>
            <a:noAutofit/>
          </a:bodyPr>
          <a:lstStyle>
            <a:lvl1pPr eaLnBrk="1" latinLnBrk="0" hangingPunct="1">
              <a:defRPr kumimoji="0" sz="2400">
                <a:solidFill>
                  <a:srgbClr val="FFFFFF"/>
                </a:solidFill>
              </a:defRPr>
            </a:lvl1pPr>
            <a:extLst/>
          </a:lstStyle>
          <a:p>
            <a:pPr algn="ctr"/>
            <a:fld id="{8F82E0A0-C266-4798-8C8F-B9F91E9DA37E}" type="slidenum">
              <a:rPr kumimoji="0" lang="en-US" sz="2400" b="1" smtClean="0">
                <a:solidFill>
                  <a:srgbClr val="FFFFFF"/>
                </a:solidFill>
              </a:rPr>
              <a:pPr algn="ctr"/>
              <a:t>‹Nº›</a:t>
            </a:fld>
            <a:endParaRPr kumimoji="0" lang="en-US" sz="2400" dirty="0">
              <a:solidFill>
                <a:srgbClr val="FFFFFF"/>
              </a:solidFill>
            </a:endParaRPr>
          </a:p>
        </p:txBody>
      </p:sp>
      <p:sp>
        <p:nvSpPr>
          <p:cNvPr id="14" name="Footer Placeholder 13"/>
          <p:cNvSpPr>
            <a:spLocks noGrp="1"/>
          </p:cNvSpPr>
          <p:nvPr>
            <p:ph type="ftr" sz="quarter" idx="12"/>
          </p:nvPr>
        </p:nvSpPr>
        <p:spPr/>
        <p:txBody>
          <a:bodyPr/>
          <a:lstStyle>
            <a:extLst/>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pPr eaLnBrk="1" latinLnBrk="1" hangingPunct="1"/>
            <a:r>
              <a:rPr lang="en-US" smtClean="0"/>
              <a:t>Click to edit Master title style</a:t>
            </a:r>
            <a:endParaRPr/>
          </a:p>
        </p:txBody>
      </p:sp>
      <p:sp>
        <p:nvSpPr>
          <p:cNvPr id="9" name="Content Placeholder 8"/>
          <p:cNvSpPr>
            <a:spLocks noGrp="1"/>
          </p:cNvSpPr>
          <p:nvPr>
            <p:ph sz="quarter" idx="13"/>
          </p:nvPr>
        </p:nvSpPr>
        <p:spPr>
          <a:xfrm>
            <a:off x="609600" y="1803402"/>
            <a:ext cx="3886200" cy="4358165"/>
          </a:xfrm>
        </p:spPr>
        <p:txBody>
          <a:bodyPr/>
          <a:lstStyle>
            <a:extLst/>
          </a:lstStyle>
          <a:p>
            <a:pPr lvl="0" eaLnBrk="1" latinLnBrk="1" hangingPunct="1"/>
            <a:r>
              <a:rPr lang="en-US" smtClean="0"/>
              <a:t>Click to edit Master text styles</a:t>
            </a:r>
          </a:p>
          <a:p>
            <a:pPr lvl="1" eaLnBrk="1" latinLnBrk="1" hangingPunct="1"/>
            <a:r>
              <a:rPr lang="en-US" smtClean="0"/>
              <a:t>Second level</a:t>
            </a:r>
          </a:p>
          <a:p>
            <a:pPr lvl="2" eaLnBrk="1" latinLnBrk="1" hangingPunct="1"/>
            <a:r>
              <a:rPr lang="en-US" smtClean="0"/>
              <a:t>Third level</a:t>
            </a:r>
          </a:p>
          <a:p>
            <a:pPr lvl="3" eaLnBrk="1" latinLnBrk="1" hangingPunct="1"/>
            <a:r>
              <a:rPr lang="en-US" smtClean="0"/>
              <a:t>Fourth level</a:t>
            </a:r>
          </a:p>
          <a:p>
            <a:pPr lvl="4" eaLnBrk="1" latinLnBrk="1" hangingPunct="1"/>
            <a:r>
              <a:rPr lang="en-US" smtClean="0"/>
              <a:t>Fifth level</a:t>
            </a:r>
            <a:endParaRPr/>
          </a:p>
        </p:txBody>
      </p:sp>
      <p:sp>
        <p:nvSpPr>
          <p:cNvPr id="11" name="Content Placeholder 10"/>
          <p:cNvSpPr>
            <a:spLocks noGrp="1"/>
          </p:cNvSpPr>
          <p:nvPr>
            <p:ph sz="quarter" idx="14"/>
          </p:nvPr>
        </p:nvSpPr>
        <p:spPr>
          <a:xfrm>
            <a:off x="4844901" y="1803399"/>
            <a:ext cx="3886200" cy="4358167"/>
          </a:xfrm>
        </p:spPr>
        <p:txBody>
          <a:bodyPr/>
          <a:lstStyle>
            <a:extLst/>
          </a:lstStyle>
          <a:p>
            <a:pPr lvl="0" eaLnBrk="1" latinLnBrk="1" hangingPunct="1"/>
            <a:r>
              <a:rPr lang="en-US" smtClean="0"/>
              <a:t>Click to edit Master text styles</a:t>
            </a:r>
          </a:p>
          <a:p>
            <a:pPr lvl="1" eaLnBrk="1" latinLnBrk="1" hangingPunct="1"/>
            <a:r>
              <a:rPr lang="en-US" smtClean="0"/>
              <a:t>Second level</a:t>
            </a:r>
          </a:p>
          <a:p>
            <a:pPr lvl="2" eaLnBrk="1" latinLnBrk="1" hangingPunct="1"/>
            <a:r>
              <a:rPr lang="en-US" smtClean="0"/>
              <a:t>Third level</a:t>
            </a:r>
          </a:p>
          <a:p>
            <a:pPr lvl="3" eaLnBrk="1" latinLnBrk="1" hangingPunct="1"/>
            <a:r>
              <a:rPr lang="en-US" smtClean="0"/>
              <a:t>Fourth level</a:t>
            </a:r>
          </a:p>
          <a:p>
            <a:pPr lvl="4" eaLnBrk="1" latinLnBrk="1" hangingPunct="1"/>
            <a:r>
              <a:rPr lang="en-US" smtClean="0"/>
              <a:t>Fifth level</a:t>
            </a:r>
            <a:endParaRPr/>
          </a:p>
        </p:txBody>
      </p:sp>
      <p:sp>
        <p:nvSpPr>
          <p:cNvPr id="8" name="Date Placeholder 7"/>
          <p:cNvSpPr>
            <a:spLocks noGrp="1"/>
          </p:cNvSpPr>
          <p:nvPr>
            <p:ph type="dt" sz="half" idx="15"/>
          </p:nvPr>
        </p:nvSpPr>
        <p:spPr/>
        <p:txBody>
          <a:bodyPr rtlCol="0"/>
          <a:lstStyle>
            <a:extLst/>
          </a:lstStyle>
          <a:p>
            <a:fld id="{AEAB970F-6D4F-4633-AEED-8C3C92081891}" type="datetime1">
              <a:rPr kumimoji="0" lang="en-US" smtClean="0"/>
              <a:pPr/>
              <a:t>10/31/2014</a:t>
            </a:fld>
            <a:endParaRPr kumimoji="0" lang="en-US"/>
          </a:p>
        </p:txBody>
      </p:sp>
      <p:sp>
        <p:nvSpPr>
          <p:cNvPr id="10" name="Slide Number Placeholder 9"/>
          <p:cNvSpPr>
            <a:spLocks noGrp="1"/>
          </p:cNvSpPr>
          <p:nvPr>
            <p:ph type="sldNum" sz="quarter" idx="16"/>
          </p:nvPr>
        </p:nvSpPr>
        <p:spPr/>
        <p:txBody>
          <a:bodyPr rtlCol="0"/>
          <a:lstStyle>
            <a:extLst/>
          </a:lstStyle>
          <a:p>
            <a:pPr algn="ctr"/>
            <a:fld id="{8F82E0A0-C266-4798-8C8F-B9F91E9DA37E}" type="slidenum">
              <a:rPr kumimoji="0" lang="en-US" sz="1400" b="1" smtClean="0">
                <a:solidFill>
                  <a:srgbClr val="FFFFFF"/>
                </a:solidFill>
              </a:rPr>
              <a:pPr algn="ctr"/>
              <a:t>‹Nº›</a:t>
            </a:fld>
            <a:endParaRPr kumimoji="0" lang="en-US"/>
          </a:p>
        </p:txBody>
      </p:sp>
      <p:sp>
        <p:nvSpPr>
          <p:cNvPr id="12" name="Footer Placeholder 11"/>
          <p:cNvSpPr>
            <a:spLocks noGrp="1"/>
          </p:cNvSpPr>
          <p:nvPr>
            <p:ph type="ftr" sz="quarter" idx="17"/>
          </p:nvPr>
        </p:nvSpPr>
        <p:spPr/>
        <p:txBody>
          <a:bodyPr rtlCol="0"/>
          <a:lstStyle>
            <a:extLst/>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57480"/>
            <a:ext cx="8153400" cy="1341120"/>
          </a:xfrm>
        </p:spPr>
        <p:txBody>
          <a:bodyPr anchor="b"/>
          <a:lstStyle>
            <a:lvl1pPr eaLnBrk="1" latinLnBrk="0" hangingPunct="1">
              <a:defRPr kumimoji="0"/>
            </a:lvl1pPr>
            <a:extLst/>
          </a:lstStyle>
          <a:p>
            <a:pPr eaLnBrk="1" latinLnBrk="1" hangingPunct="1"/>
            <a:r>
              <a:rPr lang="en-US" smtClean="0"/>
              <a:t>Click to edit Master title style</a:t>
            </a:r>
            <a:endParaRPr/>
          </a:p>
        </p:txBody>
      </p:sp>
      <p:sp>
        <p:nvSpPr>
          <p:cNvPr id="11" name="Content Placeholder 10"/>
          <p:cNvSpPr>
            <a:spLocks noGrp="1"/>
          </p:cNvSpPr>
          <p:nvPr>
            <p:ph sz="quarter" idx="13"/>
          </p:nvPr>
        </p:nvSpPr>
        <p:spPr>
          <a:xfrm>
            <a:off x="609600" y="2559757"/>
            <a:ext cx="3886200" cy="3505200"/>
          </a:xfrm>
        </p:spPr>
        <p:txBody>
          <a:bodyPr/>
          <a:lstStyle>
            <a:extLst/>
          </a:lstStyle>
          <a:p>
            <a:pPr lvl="0" eaLnBrk="1" latinLnBrk="1" hangingPunct="1"/>
            <a:r>
              <a:rPr lang="en-US" smtClean="0"/>
              <a:t>Click to edit Master text styles</a:t>
            </a:r>
          </a:p>
          <a:p>
            <a:pPr lvl="1" eaLnBrk="1" latinLnBrk="1" hangingPunct="1"/>
            <a:r>
              <a:rPr lang="en-US" smtClean="0"/>
              <a:t>Second level</a:t>
            </a:r>
          </a:p>
          <a:p>
            <a:pPr lvl="2" eaLnBrk="1" latinLnBrk="1" hangingPunct="1"/>
            <a:r>
              <a:rPr lang="en-US" smtClean="0"/>
              <a:t>Third level</a:t>
            </a:r>
          </a:p>
          <a:p>
            <a:pPr lvl="3" eaLnBrk="1" latinLnBrk="1" hangingPunct="1"/>
            <a:r>
              <a:rPr lang="en-US" smtClean="0"/>
              <a:t>Fourth level</a:t>
            </a:r>
          </a:p>
          <a:p>
            <a:pPr lvl="4" eaLnBrk="1" latinLnBrk="1" hangingPunct="1"/>
            <a:r>
              <a:rPr lang="en-US" smtClean="0"/>
              <a:t>Fifth level</a:t>
            </a:r>
            <a:endParaRPr/>
          </a:p>
        </p:txBody>
      </p:sp>
      <p:sp>
        <p:nvSpPr>
          <p:cNvPr id="13" name="Content Placeholder 12"/>
          <p:cNvSpPr>
            <a:spLocks noGrp="1"/>
          </p:cNvSpPr>
          <p:nvPr>
            <p:ph sz="quarter" idx="14"/>
          </p:nvPr>
        </p:nvSpPr>
        <p:spPr>
          <a:xfrm>
            <a:off x="4800600" y="2559757"/>
            <a:ext cx="3886200" cy="3505200"/>
          </a:xfrm>
        </p:spPr>
        <p:txBody>
          <a:bodyPr/>
          <a:lstStyle>
            <a:extLst/>
          </a:lstStyle>
          <a:p>
            <a:pPr lvl="0" eaLnBrk="1" latinLnBrk="1" hangingPunct="1"/>
            <a:r>
              <a:rPr lang="en-US" smtClean="0"/>
              <a:t>Click to edit Master text styles</a:t>
            </a:r>
          </a:p>
          <a:p>
            <a:pPr lvl="1" eaLnBrk="1" latinLnBrk="1" hangingPunct="1"/>
            <a:r>
              <a:rPr lang="en-US" smtClean="0"/>
              <a:t>Second level</a:t>
            </a:r>
          </a:p>
          <a:p>
            <a:pPr lvl="2" eaLnBrk="1" latinLnBrk="1" hangingPunct="1"/>
            <a:r>
              <a:rPr lang="en-US" smtClean="0"/>
              <a:t>Third level</a:t>
            </a:r>
          </a:p>
          <a:p>
            <a:pPr lvl="3" eaLnBrk="1" latinLnBrk="1" hangingPunct="1"/>
            <a:r>
              <a:rPr lang="en-US" smtClean="0"/>
              <a:t>Fourth level</a:t>
            </a:r>
          </a:p>
          <a:p>
            <a:pPr lvl="4" eaLnBrk="1" latinLnBrk="1" hangingPunct="1"/>
            <a:r>
              <a:rPr lang="en-US" smtClean="0"/>
              <a:t>Fifth level</a:t>
            </a:r>
            <a:endParaRPr/>
          </a:p>
        </p:txBody>
      </p:sp>
      <p:sp>
        <p:nvSpPr>
          <p:cNvPr id="10" name="Date Placeholder 9"/>
          <p:cNvSpPr>
            <a:spLocks noGrp="1"/>
          </p:cNvSpPr>
          <p:nvPr>
            <p:ph type="dt" sz="half" idx="15"/>
          </p:nvPr>
        </p:nvSpPr>
        <p:spPr/>
        <p:txBody>
          <a:bodyPr rtlCol="0"/>
          <a:lstStyle>
            <a:extLst/>
          </a:lstStyle>
          <a:p>
            <a:fld id="{E5C579BA-0698-49ED-A9DB-585611098157}" type="datetime1">
              <a:rPr kumimoji="0" lang="en-US" smtClean="0"/>
              <a:pPr/>
              <a:t>10/31/2014</a:t>
            </a:fld>
            <a:endParaRPr kumimoji="0" lang="en-US"/>
          </a:p>
        </p:txBody>
      </p:sp>
      <p:sp>
        <p:nvSpPr>
          <p:cNvPr id="12" name="Slide Number Placeholder 11"/>
          <p:cNvSpPr>
            <a:spLocks noGrp="1"/>
          </p:cNvSpPr>
          <p:nvPr>
            <p:ph type="sldNum" sz="quarter" idx="16"/>
          </p:nvPr>
        </p:nvSpPr>
        <p:spPr/>
        <p:txBody>
          <a:bodyPr rtlCol="0"/>
          <a:lstStyle>
            <a:extLst/>
          </a:lstStyle>
          <a:p>
            <a:pPr algn="ctr"/>
            <a:fld id="{8F82E0A0-C266-4798-8C8F-B9F91E9DA37E}" type="slidenum">
              <a:rPr kumimoji="0" lang="en-US" sz="1400" b="1" smtClean="0">
                <a:solidFill>
                  <a:srgbClr val="FFFFFF"/>
                </a:solidFill>
              </a:rPr>
              <a:pPr algn="ctr"/>
              <a:t>‹Nº›</a:t>
            </a:fld>
            <a:endParaRPr kumimoji="0" lang="en-US"/>
          </a:p>
        </p:txBody>
      </p:sp>
      <p:sp>
        <p:nvSpPr>
          <p:cNvPr id="14" name="Footer Placeholder 13"/>
          <p:cNvSpPr>
            <a:spLocks noGrp="1"/>
          </p:cNvSpPr>
          <p:nvPr>
            <p:ph type="ftr" sz="quarter" idx="17"/>
          </p:nvPr>
        </p:nvSpPr>
        <p:spPr/>
        <p:txBody>
          <a:bodyPr rtlCol="0"/>
          <a:lstStyle>
            <a:extLst/>
          </a:lstStyle>
          <a:p>
            <a:endParaRPr kumimoji="0" lang="en-US"/>
          </a:p>
        </p:txBody>
      </p:sp>
      <p:sp>
        <p:nvSpPr>
          <p:cNvPr id="16" name="Text Placeholder 15"/>
          <p:cNvSpPr>
            <a:spLocks noGrp="1"/>
          </p:cNvSpPr>
          <p:nvPr>
            <p:ph type="body" sz="quarter" idx="18"/>
          </p:nvPr>
        </p:nvSpPr>
        <p:spPr>
          <a:xfrm>
            <a:off x="609600" y="1816383"/>
            <a:ext cx="3886200" cy="707136"/>
          </a:xfrm>
          <a:solidFill>
            <a:schemeClr val="accent2"/>
          </a:solidFill>
        </p:spPr>
        <p:txBody>
          <a:bodyPr rtlCol="0" anchor="ctr"/>
          <a:lstStyle>
            <a:lvl1pPr eaLnBrk="1" latinLnBrk="0" hangingPunct="1">
              <a:buFontTx/>
              <a:buNone/>
              <a:defRPr kumimoji="0" sz="2000" b="1">
                <a:solidFill>
                  <a:srgbClr val="FFFFFF"/>
                </a:solidFill>
              </a:defRPr>
            </a:lvl1pPr>
            <a:extLst/>
          </a:lstStyle>
          <a:p>
            <a:pPr lvl="0" eaLnBrk="1" latinLnBrk="1" hangingPunct="1"/>
            <a:r>
              <a:rPr lang="en-US" smtClean="0"/>
              <a:t>Click to edit Master text styles</a:t>
            </a:r>
          </a:p>
        </p:txBody>
      </p:sp>
      <p:sp>
        <p:nvSpPr>
          <p:cNvPr id="15" name="Text Placeholder 14"/>
          <p:cNvSpPr>
            <a:spLocks noGrp="1"/>
          </p:cNvSpPr>
          <p:nvPr>
            <p:ph type="body" sz="quarter" idx="19"/>
          </p:nvPr>
        </p:nvSpPr>
        <p:spPr>
          <a:xfrm>
            <a:off x="4800600" y="1816383"/>
            <a:ext cx="3886200" cy="707136"/>
          </a:xfrm>
          <a:solidFill>
            <a:schemeClr val="accent4"/>
          </a:solidFill>
        </p:spPr>
        <p:txBody>
          <a:bodyPr rtlCol="0" anchor="ctr"/>
          <a:lstStyle>
            <a:lvl1pPr eaLnBrk="1" latinLnBrk="0" hangingPunct="1">
              <a:buFontTx/>
              <a:buNone/>
              <a:defRPr kumimoji="0" sz="2000" b="1">
                <a:solidFill>
                  <a:srgbClr val="FFFFFF"/>
                </a:solidFill>
              </a:defRPr>
            </a:lvl1pPr>
            <a:extLst/>
          </a:lstStyle>
          <a:p>
            <a:pPr lvl="0" eaLnBrk="1" latinLnBrk="1" hangingPunct="1"/>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pPr eaLnBrk="1" latinLnBrk="1" hangingPunct="1"/>
            <a:r>
              <a:rPr lang="en-US" smtClean="0"/>
              <a:t>Click to edit Master title style</a:t>
            </a:r>
            <a:endParaRPr/>
          </a:p>
        </p:txBody>
      </p:sp>
      <p:sp>
        <p:nvSpPr>
          <p:cNvPr id="3" name="Date Placeholder 2"/>
          <p:cNvSpPr>
            <a:spLocks noGrp="1"/>
          </p:cNvSpPr>
          <p:nvPr>
            <p:ph type="dt" sz="half" idx="10"/>
          </p:nvPr>
        </p:nvSpPr>
        <p:spPr/>
        <p:txBody>
          <a:bodyPr/>
          <a:lstStyle>
            <a:extLst/>
          </a:lstStyle>
          <a:p>
            <a:fld id="{21741FA9-BB45-4C13-BDB6-71212EB4FD16}" type="datetime1">
              <a:rPr kumimoji="0" lang="en-US" smtClean="0"/>
              <a:pPr/>
              <a:t>10/31/2014</a:t>
            </a:fld>
            <a:endParaRPr kumimoji="0" lang="en-US"/>
          </a:p>
        </p:txBody>
      </p:sp>
      <p:sp>
        <p:nvSpPr>
          <p:cNvPr id="4" name="Footer Placeholder 3"/>
          <p:cNvSpPr>
            <a:spLocks noGrp="1"/>
          </p:cNvSpPr>
          <p:nvPr>
            <p:ph type="ftr" sz="quarter" idx="11"/>
          </p:nvPr>
        </p:nvSpPr>
        <p:spPr/>
        <p:txBody>
          <a:bodyPr/>
          <a:lstStyle>
            <a:extLst/>
          </a:lstStyle>
          <a:p>
            <a:endParaRPr kumimoji="0" lang="en-US"/>
          </a:p>
        </p:txBody>
      </p:sp>
      <p:sp>
        <p:nvSpPr>
          <p:cNvPr id="5" name="Slide Number Placeholder 4"/>
          <p:cNvSpPr>
            <a:spLocks noGrp="1"/>
          </p:cNvSpPr>
          <p:nvPr>
            <p:ph type="sldNum" sz="quarter" idx="12"/>
          </p:nvPr>
        </p:nvSpPr>
        <p:spPr/>
        <p:txBody>
          <a:bodyPr/>
          <a:lstStyle>
            <a:lvl1pPr eaLnBrk="1" latinLnBrk="0" hangingPunct="1">
              <a:defRPr kumimoji="0">
                <a:solidFill>
                  <a:srgbClr val="FFFFFF"/>
                </a:solidFill>
              </a:defRPr>
            </a:lvl1pPr>
            <a:extLst/>
          </a:lstStyle>
          <a:p>
            <a:fld id="{A3F7CB7D-F184-43C7-B6FD-03D728E1BBFF}" type="slidenum">
              <a:rPr kumimoji="0" lang="en-US" smtClean="0">
                <a:solidFill>
                  <a:srgbClr val="FFFFFF"/>
                </a:solidFill>
              </a:rPr>
              <a:pPr/>
              <a:t>‹Nº›</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531085F3-ED6D-491A-BF83-B7F9A49BB4CC}" type="datetime1">
              <a:rPr kumimoji="0" lang="en-US" smtClean="0"/>
              <a:pPr/>
              <a:t>10/31/2014</a:t>
            </a:fld>
            <a:endParaRPr kumimoji="0" lang="en-US"/>
          </a:p>
        </p:txBody>
      </p:sp>
      <p:sp>
        <p:nvSpPr>
          <p:cNvPr id="3" name="Footer Placeholder 2"/>
          <p:cNvSpPr>
            <a:spLocks noGrp="1"/>
          </p:cNvSpPr>
          <p:nvPr>
            <p:ph type="ftr" sz="quarter" idx="11"/>
          </p:nvPr>
        </p:nvSpPr>
        <p:spPr/>
        <p:txBody>
          <a:bodyPr/>
          <a:lstStyle>
            <a:extLst/>
          </a:lstStyle>
          <a:p>
            <a:endParaRPr kumimoji="0" lang="en-US" dirty="0"/>
          </a:p>
        </p:txBody>
      </p:sp>
      <p:sp>
        <p:nvSpPr>
          <p:cNvPr id="4" name="Slide Number Placeholder 3"/>
          <p:cNvSpPr>
            <a:spLocks noGrp="1"/>
          </p:cNvSpPr>
          <p:nvPr>
            <p:ph type="sldNum" sz="quarter" idx="12"/>
          </p:nvPr>
        </p:nvSpPr>
        <p:spPr>
          <a:xfrm>
            <a:off x="0" y="6248400"/>
            <a:ext cx="533400" cy="381000"/>
          </a:xfrm>
        </p:spPr>
        <p:txBody>
          <a:bodyPr/>
          <a:lstStyle>
            <a:lvl1pPr eaLnBrk="1" latinLnBrk="0" hangingPunct="1">
              <a:defRPr kumimoji="0">
                <a:solidFill>
                  <a:schemeClr val="tx2"/>
                </a:solidFill>
              </a:defRPr>
            </a:lvl1pPr>
            <a:extLst/>
          </a:lstStyle>
          <a:p>
            <a:fld id="{A3F7CB7D-F184-43C7-B6FD-03D728E1BBFF}" type="slidenum">
              <a:rPr kumimoji="0" lang="en-US" smtClean="0">
                <a:solidFill>
                  <a:schemeClr val="tx2"/>
                </a:solidFill>
              </a:rPr>
              <a:pPr/>
              <a:t>‹Nº›</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57480"/>
            <a:ext cx="8153400" cy="1341120"/>
          </a:xfrm>
        </p:spPr>
        <p:txBody>
          <a:bodyPr anchor="b"/>
          <a:lstStyle>
            <a:lvl1pPr algn="l" eaLnBrk="1" latinLnBrk="0" hangingPunct="1">
              <a:buNone/>
              <a:defRPr kumimoji="0" sz="4200" b="0"/>
            </a:lvl1pPr>
            <a:extLst/>
          </a:lstStyle>
          <a:p>
            <a:pPr eaLnBrk="1" latinLnBrk="1" hangingPunct="1"/>
            <a:r>
              <a:rPr lang="en-US" smtClean="0"/>
              <a:t>Click to edit Master title style</a:t>
            </a:r>
            <a:endParaRPr/>
          </a:p>
        </p:txBody>
      </p:sp>
      <p:sp>
        <p:nvSpPr>
          <p:cNvPr id="5" name="Date Placeholder 4"/>
          <p:cNvSpPr>
            <a:spLocks noGrp="1"/>
          </p:cNvSpPr>
          <p:nvPr>
            <p:ph type="dt" sz="half" idx="10"/>
          </p:nvPr>
        </p:nvSpPr>
        <p:spPr/>
        <p:txBody>
          <a:bodyPr/>
          <a:lstStyle>
            <a:extLst/>
          </a:lstStyle>
          <a:p>
            <a:fld id="{89797384-F33D-49B8-B2AA-669C69E77B6D}" type="datetime1">
              <a:rPr kumimoji="0" lang="en-US" smtClean="0"/>
              <a:pPr/>
              <a:t>10/31/2014</a:t>
            </a:fld>
            <a:endParaRPr kumimoji="0" lang="en-US"/>
          </a:p>
        </p:txBody>
      </p:sp>
      <p:sp>
        <p:nvSpPr>
          <p:cNvPr id="6" name="Footer Placeholder 5"/>
          <p:cNvSpPr>
            <a:spLocks noGrp="1"/>
          </p:cNvSpPr>
          <p:nvPr>
            <p:ph type="ftr" sz="quarter" idx="11"/>
          </p:nvPr>
        </p:nvSpPr>
        <p:spPr/>
        <p:txBody>
          <a:bodyPr/>
          <a:lstStyle>
            <a:extLst/>
          </a:lstStyle>
          <a:p>
            <a:endParaRPr kumimoji="0" lang="en-US"/>
          </a:p>
        </p:txBody>
      </p:sp>
      <p:sp>
        <p:nvSpPr>
          <p:cNvPr id="7" name="Slide Number Placeholder 6"/>
          <p:cNvSpPr>
            <a:spLocks noGrp="1"/>
          </p:cNvSpPr>
          <p:nvPr>
            <p:ph type="sldNum" sz="quarter" idx="12"/>
          </p:nvPr>
        </p:nvSpPr>
        <p:spPr/>
        <p:txBody>
          <a:bodyPr/>
          <a:lstStyle>
            <a:lvl1pPr eaLnBrk="1" latinLnBrk="0" hangingPunct="1">
              <a:defRPr kumimoji="0">
                <a:solidFill>
                  <a:srgbClr val="FFFFFF"/>
                </a:solidFill>
              </a:defRPr>
            </a:lvl1pPr>
            <a:extLst/>
          </a:lstStyle>
          <a:p>
            <a:fld id="{A3F7CB7D-F184-43C7-B6FD-03D728E1BBFF}" type="slidenum">
              <a:rPr kumimoji="0" lang="en-US" smtClean="0">
                <a:solidFill>
                  <a:srgbClr val="FFFFFF"/>
                </a:solidFill>
              </a:rPr>
              <a:pPr/>
              <a:t>‹Nº›</a:t>
            </a:fld>
            <a:endParaRPr kumimoji="0" lang="en-US" dirty="0">
              <a:solidFill>
                <a:srgbClr val="FFFFFF"/>
              </a:solidFill>
            </a:endParaRPr>
          </a:p>
        </p:txBody>
      </p:sp>
      <p:sp>
        <p:nvSpPr>
          <p:cNvPr id="3" name="Text Placeholder 2"/>
          <p:cNvSpPr>
            <a:spLocks noGrp="1"/>
          </p:cNvSpPr>
          <p:nvPr>
            <p:ph type="body" idx="1"/>
          </p:nvPr>
        </p:nvSpPr>
        <p:spPr>
          <a:xfrm>
            <a:off x="609600" y="1905000"/>
            <a:ext cx="16002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eaLnBrk="1" latinLnBrk="0" hangingPunct="1">
              <a:spcAft>
                <a:spcPts val="1000"/>
              </a:spcAft>
              <a:buNone/>
              <a:defRPr kumimoji="0" sz="1800"/>
            </a:lvl1pPr>
            <a:lvl2pPr eaLnBrk="1" latinLnBrk="0" hangingPunct="1">
              <a:buNone/>
              <a:defRPr kumimoji="0" sz="1200"/>
            </a:lvl2pPr>
            <a:lvl3pPr eaLnBrk="1" latinLnBrk="0" hangingPunct="1">
              <a:buNone/>
              <a:defRPr kumimoji="0" sz="1000"/>
            </a:lvl3pPr>
            <a:lvl4pPr eaLnBrk="1" latinLnBrk="0" hangingPunct="1">
              <a:buNone/>
              <a:defRPr kumimoji="0" sz="900"/>
            </a:lvl4pPr>
            <a:lvl5pPr eaLnBrk="1" latinLnBrk="0" hangingPunct="1">
              <a:buNone/>
              <a:defRPr kumimoji="0" sz="900"/>
            </a:lvl5pPr>
            <a:extLst/>
          </a:lstStyle>
          <a:p>
            <a:pPr lvl="0" eaLnBrk="1" latinLnBrk="1" hangingPunct="1"/>
            <a:r>
              <a:rPr lang="en-US" smtClean="0"/>
              <a:t>Click to edit Master text styles</a:t>
            </a:r>
          </a:p>
        </p:txBody>
      </p:sp>
      <p:sp>
        <p:nvSpPr>
          <p:cNvPr id="9" name="Content Placeholder 8"/>
          <p:cNvSpPr>
            <a:spLocks noGrp="1"/>
          </p:cNvSpPr>
          <p:nvPr>
            <p:ph sz="quarter" idx="13"/>
          </p:nvPr>
        </p:nvSpPr>
        <p:spPr>
          <a:xfrm>
            <a:off x="2362200" y="1905000"/>
            <a:ext cx="6400800" cy="4267200"/>
          </a:xfrm>
        </p:spPr>
        <p:txBody>
          <a:bodyPr/>
          <a:lstStyle>
            <a:extLst/>
          </a:lstStyle>
          <a:p>
            <a:pPr lvl="0" eaLnBrk="1" latinLnBrk="1" hangingPunct="1"/>
            <a:r>
              <a:rPr lang="en-US" smtClean="0"/>
              <a:t>Click to edit Master text styles</a:t>
            </a:r>
          </a:p>
          <a:p>
            <a:pPr lvl="1" eaLnBrk="1" latinLnBrk="1" hangingPunct="1"/>
            <a:r>
              <a:rPr lang="en-US" smtClean="0"/>
              <a:t>Second level</a:t>
            </a:r>
          </a:p>
          <a:p>
            <a:pPr lvl="2" eaLnBrk="1" latinLnBrk="1" hangingPunct="1"/>
            <a:r>
              <a:rPr lang="en-US" smtClean="0"/>
              <a:t>Third level</a:t>
            </a:r>
          </a:p>
          <a:p>
            <a:pPr lvl="3" eaLnBrk="1" latinLnBrk="1" hangingPunct="1"/>
            <a:r>
              <a:rPr lang="en-US" smtClean="0"/>
              <a:t>Fourth level</a:t>
            </a:r>
          </a:p>
          <a:p>
            <a:pPr lvl="4" eaLnBrk="1" latinLnBrk="1" hangingPunct="1"/>
            <a:r>
              <a:rPr lang="en-US" smtClean="0"/>
              <a:t>Fifth level</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4559808"/>
          </a:xfrm>
          <a:solidFill>
            <a:schemeClr val="tx2">
              <a:shade val="50000"/>
            </a:schemeClr>
          </a:solidFill>
          <a:ln>
            <a:noFill/>
          </a:ln>
        </p:spPr>
        <p:txBody>
          <a:bodyPr/>
          <a:lstStyle>
            <a:lvl1pPr eaLnBrk="1" latinLnBrk="0" hangingPunct="1">
              <a:buNone/>
              <a:defRPr kumimoji="0" sz="3200"/>
            </a:lvl1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00200" y="5486400"/>
            <a:ext cx="7315200" cy="685800"/>
          </a:xfrm>
        </p:spPr>
        <p:txBody>
          <a:bodyPr/>
          <a:lstStyle>
            <a:lvl1pPr marL="0" indent="0" eaLnBrk="1" latinLnBrk="0" hangingPunct="1">
              <a:buFontTx/>
              <a:buNone/>
              <a:defRPr kumimoji="0" sz="1700"/>
            </a:lvl1pPr>
            <a:lvl2pPr eaLnBrk="1" latinLnBrk="0" hangingPunct="1">
              <a:buFontTx/>
              <a:buNone/>
              <a:defRPr kumimoji="0" sz="1200"/>
            </a:lvl2pPr>
            <a:lvl3pPr eaLnBrk="1" latinLnBrk="0" hangingPunct="1">
              <a:buFontTx/>
              <a:buNone/>
              <a:defRPr kumimoji="0" sz="1000"/>
            </a:lvl3pPr>
            <a:lvl4pPr eaLnBrk="1" latinLnBrk="0" hangingPunct="1">
              <a:buFontTx/>
              <a:buNone/>
              <a:defRPr kumimoji="0" sz="900"/>
            </a:lvl4pPr>
            <a:lvl5pPr eaLnBrk="1" latinLnBrk="0" hangingPunct="1">
              <a:buFontTx/>
              <a:buNone/>
              <a:defRPr kumimoji="0" sz="900"/>
            </a:lvl5pPr>
            <a:extLst/>
          </a:lstStyle>
          <a:p>
            <a:pPr lvl="0" eaLnBrk="1" latinLnBrk="1" hangingPunct="1"/>
            <a:r>
              <a:rPr lang="en-US" smtClean="0"/>
              <a:t>Click to edit Master text styles</a:t>
            </a:r>
          </a:p>
        </p:txBody>
      </p:sp>
      <p:sp>
        <p:nvSpPr>
          <p:cNvPr id="8" name="Rectangle 7"/>
          <p:cNvSpPr/>
          <p:nvPr/>
        </p:nvSpPr>
        <p:spPr>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10" name="Rectangle 9"/>
          <p:cNvSpPr/>
          <p:nvPr/>
        </p:nvSpPr>
        <p:spPr>
          <a:xfrm>
            <a:off x="1545336" y="4654296"/>
            <a:ext cx="758952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2" name="Title 1"/>
          <p:cNvSpPr>
            <a:spLocks noGrp="1"/>
          </p:cNvSpPr>
          <p:nvPr>
            <p:ph type="title"/>
          </p:nvPr>
        </p:nvSpPr>
        <p:spPr>
          <a:xfrm>
            <a:off x="1600200" y="4724400"/>
            <a:ext cx="7315200" cy="609600"/>
          </a:xfrm>
        </p:spPr>
        <p:txBody>
          <a:bodyPr anchor="ctr"/>
          <a:lstStyle>
            <a:lvl1pPr algn="l" eaLnBrk="1" latinLnBrk="0" hangingPunct="1">
              <a:buNone/>
              <a:defRPr kumimoji="0" sz="2800" b="0">
                <a:solidFill>
                  <a:srgbClr val="FFFFFF"/>
                </a:solidFill>
              </a:defRPr>
            </a:lvl1pPr>
            <a:extLst/>
          </a:lstStyle>
          <a:p>
            <a:pPr eaLnBrk="1" latinLnBrk="1" hangingPunct="1"/>
            <a:r>
              <a:rPr lang="en-US" smtClean="0"/>
              <a:t>Click to edit Master title style</a:t>
            </a:r>
            <a:endParaRPr/>
          </a:p>
        </p:txBody>
      </p:sp>
      <p:sp>
        <p:nvSpPr>
          <p:cNvPr id="11" name="Rectangle 10"/>
          <p:cNvSpPr/>
          <p:nvPr/>
        </p:nvSpPr>
        <p:spPr>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12" name="Date Placeholder 11"/>
          <p:cNvSpPr>
            <a:spLocks noGrp="1"/>
          </p:cNvSpPr>
          <p:nvPr>
            <p:ph type="dt" sz="half" idx="10"/>
          </p:nvPr>
        </p:nvSpPr>
        <p:spPr>
          <a:xfrm>
            <a:off x="6248400" y="6248400"/>
            <a:ext cx="2667000" cy="365125"/>
          </a:xfrm>
        </p:spPr>
        <p:txBody>
          <a:bodyPr rtlCol="0"/>
          <a:lstStyle>
            <a:extLst/>
          </a:lstStyle>
          <a:p>
            <a:fld id="{FD8F0396-982D-4FDB-9071-CF940AAABFA4}" type="datetime1">
              <a:rPr kumimoji="0" lang="en-US" smtClean="0"/>
              <a:pPr/>
              <a:t>10/31/2014</a:t>
            </a:fld>
            <a:endParaRPr kumimoji="0" lang="en-US"/>
          </a:p>
        </p:txBody>
      </p:sp>
      <p:sp>
        <p:nvSpPr>
          <p:cNvPr id="13" name="Slide Number Placeholder 12"/>
          <p:cNvSpPr>
            <a:spLocks noGrp="1"/>
          </p:cNvSpPr>
          <p:nvPr>
            <p:ph type="sldNum" sz="quarter" idx="11"/>
          </p:nvPr>
        </p:nvSpPr>
        <p:spPr>
          <a:xfrm>
            <a:off x="0" y="4667249"/>
            <a:ext cx="1447800" cy="663579"/>
          </a:xfrm>
        </p:spPr>
        <p:txBody>
          <a:bodyPr rtlCol="0"/>
          <a:lstStyle>
            <a:lvl1pPr eaLnBrk="1" latinLnBrk="0" hangingPunct="1">
              <a:defRPr kumimoji="0" sz="2800"/>
            </a:lvl1pPr>
            <a:extLst/>
          </a:lstStyle>
          <a:p>
            <a:pPr algn="ctr"/>
            <a:fld id="{8F82E0A0-C266-4798-8C8F-B9F91E9DA37E}" type="slidenum">
              <a:rPr kumimoji="0" lang="en-US" sz="2800" b="1" smtClean="0">
                <a:solidFill>
                  <a:srgbClr val="FFFFFF"/>
                </a:solidFill>
              </a:rPr>
              <a:pPr algn="ctr"/>
              <a:t>‹Nº›</a:t>
            </a:fld>
            <a:endParaRPr kumimoji="0" lang="en-US" sz="2800" dirty="0"/>
          </a:p>
        </p:txBody>
      </p:sp>
      <p:sp>
        <p:nvSpPr>
          <p:cNvPr id="14" name="Footer Placeholder 13"/>
          <p:cNvSpPr>
            <a:spLocks noGrp="1"/>
          </p:cNvSpPr>
          <p:nvPr>
            <p:ph type="ftr" sz="quarter" idx="12"/>
          </p:nvPr>
        </p:nvSpPr>
        <p:spPr>
          <a:xfrm>
            <a:off x="1600200" y="6248207"/>
            <a:ext cx="4572000" cy="365125"/>
          </a:xfrm>
        </p:spPr>
        <p:txBody>
          <a:bodyPr rtlCol="0"/>
          <a:lstStyle>
            <a:extLst/>
          </a:lstStyle>
          <a:p>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803400"/>
            <a:ext cx="8153400" cy="4323080"/>
          </a:xfrm>
          <a:prstGeom prst="rect">
            <a:avLst/>
          </a:prstGeom>
        </p:spPr>
        <p:txBody>
          <a:bodyPr vert="horz">
            <a:normAutofit/>
          </a:bodyPr>
          <a:lstStyle>
            <a:extLst/>
          </a:lstStyle>
          <a:p>
            <a:pPr lvl="0" eaLnBrk="1" latinLnBrk="1" hangingPunct="1"/>
            <a:r>
              <a:rPr kumimoji="0" lang="en-US" smtClean="0"/>
              <a:t>Click to edit Master text styles</a:t>
            </a:r>
          </a:p>
          <a:p>
            <a:pPr lvl="1" eaLnBrk="1" latinLnBrk="1" hangingPunct="1"/>
            <a:r>
              <a:rPr kumimoji="0" lang="en-US" smtClean="0"/>
              <a:t>Second level</a:t>
            </a:r>
          </a:p>
          <a:p>
            <a:pPr lvl="2" eaLnBrk="1" latinLnBrk="1" hangingPunct="1"/>
            <a:r>
              <a:rPr kumimoji="0" lang="en-US" smtClean="0"/>
              <a:t>Third level</a:t>
            </a:r>
          </a:p>
          <a:p>
            <a:pPr lvl="3" eaLnBrk="1" latinLnBrk="1" hangingPunct="1"/>
            <a:r>
              <a:rPr kumimoji="0" lang="en-US" smtClean="0"/>
              <a:t>Fourth level</a:t>
            </a:r>
          </a:p>
          <a:p>
            <a:pPr lvl="4" eaLnBrk="1" latinLnBrk="1"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extLst/>
          </a:lstStyle>
          <a:p>
            <a:fld id="{335E68E8-113D-4FCF-9308-77352C6065D7}" type="datetime1">
              <a:rPr kumimoji="0" lang="en-US" smtClean="0"/>
              <a:pPr/>
              <a:t>10/31/2014</a:t>
            </a:fld>
            <a:endParaRPr kumimoji="0" lang="en-US" sz="1400" dirty="0">
              <a:solidFill>
                <a:schemeClr val="tx2"/>
              </a:solidFill>
            </a:endParaRPr>
          </a:p>
        </p:txBody>
      </p:sp>
      <p:sp>
        <p:nvSpPr>
          <p:cNvPr id="3" name="Footer Placeholder 2"/>
          <p:cNvSpPr>
            <a:spLocks noGrp="1"/>
          </p:cNvSpPr>
          <p:nvPr>
            <p:ph type="ftr" sz="quarter" idx="3"/>
          </p:nvPr>
        </p:nvSpPr>
        <p:spPr>
          <a:xfrm>
            <a:off x="609602" y="6248207"/>
            <a:ext cx="5421083" cy="365125"/>
          </a:xfrm>
          <a:prstGeom prst="rect">
            <a:avLst/>
          </a:prstGeom>
        </p:spPr>
        <p:txBody>
          <a:bodyPr vert="horz" anchor="ctr"/>
          <a:lstStyle>
            <a:lvl1pPr algn="r" eaLnBrk="1" latinLnBrk="0" hangingPunct="1">
              <a:defRPr kumimoji="0" sz="1400">
                <a:solidFill>
                  <a:schemeClr val="tx2"/>
                </a:solidFill>
              </a:defRPr>
            </a:lvl1pPr>
            <a:extLst/>
          </a:lstStyle>
          <a:p>
            <a:pPr algn="r"/>
            <a:endParaRPr kumimoji="0" lang="en-US" sz="1400" dirty="0">
              <a:solidFill>
                <a:schemeClr val="tx2"/>
              </a:solidFill>
            </a:endParaRPr>
          </a:p>
        </p:txBody>
      </p:sp>
      <p:sp>
        <p:nvSpPr>
          <p:cNvPr id="7" name="Rectangle 6"/>
          <p:cNvSpPr/>
          <p:nvPr/>
        </p:nvSpPr>
        <p:spPr>
          <a:xfrm>
            <a:off x="0" y="1460227"/>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8" name="Rectangle 7"/>
          <p:cNvSpPr/>
          <p:nvPr/>
        </p:nvSpPr>
        <p:spPr>
          <a:xfrm>
            <a:off x="0" y="1505947"/>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9" name="Rectangle 8"/>
          <p:cNvSpPr/>
          <p:nvPr/>
        </p:nvSpPr>
        <p:spPr>
          <a:xfrm>
            <a:off x="590550" y="1505947"/>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a:endParaRPr kumimoji="0" lang="en-US"/>
          </a:p>
        </p:txBody>
      </p:sp>
      <p:sp>
        <p:nvSpPr>
          <p:cNvPr id="23" name="Slide Number Placeholder 22"/>
          <p:cNvSpPr>
            <a:spLocks noGrp="1"/>
          </p:cNvSpPr>
          <p:nvPr>
            <p:ph type="sldNum" sz="quarter" idx="4"/>
          </p:nvPr>
        </p:nvSpPr>
        <p:spPr>
          <a:xfrm>
            <a:off x="0" y="1498010"/>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extLst/>
          </a:lstStyle>
          <a:p>
            <a:pPr algn="ctr"/>
            <a:fld id="{8F82E0A0-C266-4798-8C8F-B9F91E9DA37E}" type="slidenum">
              <a:rPr kumimoji="0" lang="en-US" sz="1400" b="1" smtClean="0">
                <a:solidFill>
                  <a:srgbClr val="FFFFFF"/>
                </a:solidFill>
              </a:rPr>
              <a:pPr algn="ctr"/>
              <a:t>‹Nº›</a:t>
            </a:fld>
            <a:endParaRPr kumimoji="0" lang="en-US" sz="1400" b="1" dirty="0">
              <a:solidFill>
                <a:srgbClr val="FFFFFF"/>
              </a:solidFill>
            </a:endParaRPr>
          </a:p>
        </p:txBody>
      </p:sp>
      <p:sp>
        <p:nvSpPr>
          <p:cNvPr id="22" name="Title Placeholder 21"/>
          <p:cNvSpPr>
            <a:spLocks noGrp="1"/>
          </p:cNvSpPr>
          <p:nvPr>
            <p:ph type="title"/>
          </p:nvPr>
        </p:nvSpPr>
        <p:spPr>
          <a:xfrm>
            <a:off x="609600" y="157480"/>
            <a:ext cx="8153400" cy="1341120"/>
          </a:xfrm>
          <a:prstGeom prst="rect">
            <a:avLst/>
          </a:prstGeom>
        </p:spPr>
        <p:txBody>
          <a:bodyPr vert="horz" anchor="b">
            <a:normAutofit/>
          </a:bodyPr>
          <a:lstStyle>
            <a:extLst/>
          </a:lstStyle>
          <a:p>
            <a:pPr eaLnBrk="1" latinLnBrk="1" hangingPunct="1"/>
            <a:r>
              <a:rPr kumimoji="0" lang="en-US" smtClean="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rtl="0" eaLnBrk="1" latinLnBrk="0" hangingPunct="1">
        <a:spcBef>
          <a:spcPct val="0"/>
        </a:spcBef>
        <a:buNone/>
        <a:defRPr kumimoji="0"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cplusplus.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c.conclase.net/curso/index.php"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www.cplusplus.com/"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p:cNvSpPr>
          <p:nvPr>
            <p:ph type="title"/>
          </p:nvPr>
        </p:nvSpPr>
        <p:spPr/>
        <p:txBody>
          <a:bodyPr/>
          <a:lstStyle>
            <a:extLst/>
          </a:lstStyle>
          <a:p>
            <a:r>
              <a:rPr lang="en-US" dirty="0" smtClean="0"/>
              <a:t>Unidad 3</a:t>
            </a:r>
            <a:br>
              <a:rPr lang="en-US" dirty="0" smtClean="0"/>
            </a:br>
            <a:r>
              <a:rPr lang="en-US" dirty="0" smtClean="0"/>
              <a:t>cadenas y estructuras</a:t>
            </a:r>
            <a:endParaRPr lang="en-US" dirty="0"/>
          </a:p>
        </p:txBody>
      </p:sp>
      <p:sp>
        <p:nvSpPr>
          <p:cNvPr id="5" name="Rectangle 4"/>
          <p:cNvSpPr>
            <a:spLocks noGrp="1"/>
          </p:cNvSpPr>
          <p:nvPr>
            <p:ph type="subTitle" idx="1"/>
          </p:nvPr>
        </p:nvSpPr>
        <p:spPr/>
        <p:txBody>
          <a:bodyPr>
            <a:normAutofit/>
          </a:bodyPr>
          <a:lstStyle>
            <a:extLst/>
          </a:lstStyle>
          <a:p>
            <a:r>
              <a:rPr lang="en-US" sz="2000" dirty="0" smtClean="0"/>
              <a:t>Strings y estructuras en C++</a:t>
            </a:r>
            <a:endParaRPr lang="en-US" sz="2000" dirty="0"/>
          </a:p>
        </p:txBody>
      </p:sp>
      <p:sp>
        <p:nvSpPr>
          <p:cNvPr id="6" name="TextBox 5"/>
          <p:cNvSpPr txBox="1"/>
          <p:nvPr/>
        </p:nvSpPr>
        <p:spPr>
          <a:xfrm>
            <a:off x="76200" y="6172200"/>
            <a:ext cx="2057400" cy="400110"/>
          </a:xfrm>
          <a:prstGeom prst="rect">
            <a:avLst/>
          </a:prstGeom>
          <a:noFill/>
        </p:spPr>
        <p:txBody>
          <a:bodyPr wrap="square" rtlCol="0">
            <a:spAutoFit/>
          </a:bodyPr>
          <a:lstStyle/>
          <a:p>
            <a:r>
              <a:rPr lang="en-US" sz="1000" dirty="0" smtClean="0"/>
              <a:t>Por Félix Ferreiras </a:t>
            </a:r>
          </a:p>
          <a:p>
            <a:r>
              <a:rPr lang="en-US" sz="1000" dirty="0" smtClean="0"/>
              <a:t>y Zobiesky Ovalle</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Objetivos</a:t>
            </a:r>
            <a:endParaRPr lang="en-US" dirty="0"/>
          </a:p>
        </p:txBody>
      </p:sp>
      <p:sp>
        <p:nvSpPr>
          <p:cNvPr id="3" name="Rectangle 2"/>
          <p:cNvSpPr>
            <a:spLocks noGrp="1"/>
          </p:cNvSpPr>
          <p:nvPr>
            <p:ph sz="quarter" idx="13"/>
          </p:nvPr>
        </p:nvSpPr>
        <p:spPr>
          <a:xfrm>
            <a:off x="609600" y="1981200"/>
            <a:ext cx="7924800" cy="4267200"/>
          </a:xfrm>
        </p:spPr>
        <p:txBody>
          <a:bodyPr anchor="ctr">
            <a:normAutofit/>
          </a:bodyPr>
          <a:lstStyle>
            <a:extLst/>
          </a:lstStyle>
          <a:p>
            <a:pPr marL="274320" lvl="1">
              <a:buNone/>
            </a:pPr>
            <a:r>
              <a:rPr lang="es-DO" altLang="x-none" sz="2200" dirty="0" smtClean="0"/>
              <a:t>En esta unidad usted aprenderá a:</a:t>
            </a:r>
          </a:p>
          <a:p>
            <a:pPr marL="274320" lvl="1">
              <a:buNone/>
            </a:pPr>
            <a:endParaRPr lang="es-DO" altLang="x-none" sz="2200" dirty="0" smtClean="0"/>
          </a:p>
          <a:p>
            <a:pPr marL="274320" lvl="1"/>
            <a:r>
              <a:rPr lang="es-ES" sz="2200" dirty="0" smtClean="0"/>
              <a:t>Manejar cadenas inteligentes o strings</a:t>
            </a:r>
            <a:endParaRPr lang="es-ES" sz="2200" dirty="0"/>
          </a:p>
          <a:p>
            <a:pPr marL="274320" lvl="1"/>
            <a:r>
              <a:rPr lang="es-ES" sz="2200" dirty="0" smtClean="0"/>
              <a:t>Conocer y utilizar los recursos de las cadenas inteligentes</a:t>
            </a:r>
            <a:endParaRPr lang="es-ES" sz="2200" dirty="0"/>
          </a:p>
          <a:p>
            <a:pPr marL="274320" lvl="1"/>
            <a:r>
              <a:rPr lang="es-ES" sz="2200" dirty="0" smtClean="0"/>
              <a:t>Utilizar funciones ctype</a:t>
            </a:r>
            <a:endParaRPr lang="es-ES" sz="2200" dirty="0"/>
          </a:p>
          <a:p>
            <a:pPr marL="274320" lvl="1"/>
            <a:r>
              <a:rPr lang="es-DO" sz="2200" dirty="0" smtClean="0"/>
              <a:t>Entender las estructuras en C++</a:t>
            </a:r>
            <a:endParaRPr lang="es-DO" sz="2200" dirty="0"/>
          </a:p>
          <a:p>
            <a:pPr marL="274320" lvl="1"/>
            <a:r>
              <a:rPr lang="es-ES" sz="2200" dirty="0" smtClean="0"/>
              <a:t>Manejar estructuras como un tipo de datos en un programa</a:t>
            </a:r>
            <a:endParaRPr lang="es-ES" sz="2200" dirty="0"/>
          </a:p>
        </p:txBody>
      </p:sp>
    </p:spTree>
    <p:extLst>
      <p:ext uri="{BB962C8B-B14F-4D97-AF65-F5344CB8AC3E}">
        <p14:creationId xmlns:p14="http://schemas.microsoft.com/office/powerpoint/2010/main" val="890272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t>Strings: concepto y declaración.</a:t>
            </a:r>
          </a:p>
          <a:p>
            <a:pPr marL="274320" lvl="1"/>
            <a:r>
              <a:rPr lang="es-DO" altLang="x-none" dirty="0" smtClean="0"/>
              <a:t>Operadores de cadenas</a:t>
            </a:r>
            <a:r>
              <a:rPr lang="es-DO" dirty="0" smtClean="0"/>
              <a:t>.</a:t>
            </a:r>
          </a:p>
          <a:p>
            <a:pPr marL="274320" lvl="1"/>
            <a:r>
              <a:rPr lang="es-DO" dirty="0" smtClean="0"/>
              <a:t>Recursos de string.</a:t>
            </a:r>
          </a:p>
          <a:p>
            <a:pPr marL="274320" lvl="1"/>
            <a:r>
              <a:rPr lang="es-DO" dirty="0" smtClean="0"/>
              <a:t>Iteradores.</a:t>
            </a:r>
          </a:p>
          <a:p>
            <a:pPr marL="274320" lvl="1"/>
            <a:r>
              <a:rPr lang="es-DO" dirty="0" smtClean="0"/>
              <a:t>Recursos de ctype.</a:t>
            </a:r>
          </a:p>
          <a:p>
            <a:pPr marL="274320" lvl="1"/>
            <a:r>
              <a:rPr lang="es-DO" dirty="0" smtClean="0"/>
              <a:t>Estructuras: concepto y declaración.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t>Strings: Concepto y declaración.</a:t>
            </a:r>
          </a:p>
          <a:p>
            <a:pPr marL="274320" lvl="1"/>
            <a:r>
              <a:rPr lang="es-DO" altLang="x-none" dirty="0" smtClean="0">
                <a:solidFill>
                  <a:schemeClr val="bg1">
                    <a:lumMod val="50000"/>
                  </a:schemeClr>
                </a:solidFill>
              </a:rPr>
              <a:t>Operadores de cadenas</a:t>
            </a:r>
            <a:r>
              <a:rPr lang="es-DO" dirty="0" smtClean="0">
                <a:solidFill>
                  <a:schemeClr val="bg1">
                    <a:lumMod val="50000"/>
                  </a:schemeClr>
                </a:solidFill>
              </a:rPr>
              <a:t>.</a:t>
            </a:r>
          </a:p>
          <a:p>
            <a:pPr marL="274320" lvl="1"/>
            <a:r>
              <a:rPr lang="es-DO" dirty="0" smtClean="0">
                <a:solidFill>
                  <a:schemeClr val="bg1">
                    <a:lumMod val="50000"/>
                  </a:schemeClr>
                </a:solidFill>
              </a:rPr>
              <a:t>Recursos de string.</a:t>
            </a:r>
          </a:p>
          <a:p>
            <a:pPr marL="274320" lvl="1"/>
            <a:r>
              <a:rPr lang="es-DO" dirty="0" smtClean="0">
                <a:solidFill>
                  <a:schemeClr val="bg1">
                    <a:lumMod val="50000"/>
                  </a:schemeClr>
                </a:solidFill>
              </a:rPr>
              <a:t>Iteradores.</a:t>
            </a:r>
          </a:p>
          <a:p>
            <a:pPr marL="274320" lvl="1"/>
            <a:r>
              <a:rPr lang="es-DO" dirty="0" smtClean="0">
                <a:solidFill>
                  <a:schemeClr val="bg1">
                    <a:lumMod val="50000"/>
                  </a:schemeClr>
                </a:solidFill>
              </a:rPr>
              <a:t>Recursos de ctype.</a:t>
            </a:r>
          </a:p>
          <a:p>
            <a:pPr marL="274320" lvl="1"/>
            <a:r>
              <a:rPr lang="es-DO" dirty="0" smtClean="0">
                <a:solidFill>
                  <a:schemeClr val="bg1">
                    <a:lumMod val="50000"/>
                  </a:schemeClr>
                </a:solidFill>
              </a:rPr>
              <a:t>Estructuras: concepto y declaración.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s-ES" dirty="0" smtClean="0"/>
              <a:t>Concepto, declaración</a:t>
            </a:r>
            <a:endParaRPr lang="es-DO" dirty="0" smtClean="0"/>
          </a:p>
        </p:txBody>
      </p:sp>
      <p:sp>
        <p:nvSpPr>
          <p:cNvPr id="3" name="Title 2"/>
          <p:cNvSpPr>
            <a:spLocks noGrp="1"/>
          </p:cNvSpPr>
          <p:nvPr>
            <p:ph type="title"/>
          </p:nvPr>
        </p:nvSpPr>
        <p:spPr/>
        <p:txBody>
          <a:bodyPr>
            <a:normAutofit/>
          </a:bodyPr>
          <a:lstStyle/>
          <a:p>
            <a:r>
              <a:rPr lang="es-DO" dirty="0" smtClean="0"/>
              <a:t>Strings</a:t>
            </a:r>
            <a:endParaRPr lang="es-DO"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Strings: Concepto</a:t>
            </a:r>
            <a:endParaRPr lang="es-DO" dirty="0"/>
          </a:p>
        </p:txBody>
      </p:sp>
      <p:sp>
        <p:nvSpPr>
          <p:cNvPr id="3" name="Content Placeholder 2"/>
          <p:cNvSpPr>
            <a:spLocks noGrp="1"/>
          </p:cNvSpPr>
          <p:nvPr>
            <p:ph sz="quarter" idx="13"/>
          </p:nvPr>
        </p:nvSpPr>
        <p:spPr/>
        <p:txBody>
          <a:bodyPr>
            <a:normAutofit/>
          </a:bodyPr>
          <a:lstStyle/>
          <a:p>
            <a:r>
              <a:rPr lang="es-DO" sz="2400" dirty="0" smtClean="0"/>
              <a:t>Una cadena C++ es una secuencia de caracteres que tiene un tamaño variable en tiempo de ejecución</a:t>
            </a:r>
          </a:p>
          <a:p>
            <a:r>
              <a:rPr lang="es-DO" sz="2400" dirty="0" smtClean="0"/>
              <a:t>Se les llama cadenas inteligentes por que disponen de recursos propios para su manipulación</a:t>
            </a:r>
          </a:p>
          <a:p>
            <a:endParaRPr lang="es-DO" sz="2400" dirty="0" smtClean="0"/>
          </a:p>
          <a:p>
            <a:r>
              <a:rPr lang="es-DO" sz="2400" dirty="0" smtClean="0"/>
              <a:t>Veamos una cadena:</a:t>
            </a:r>
          </a:p>
        </p:txBody>
      </p:sp>
      <p:sp>
        <p:nvSpPr>
          <p:cNvPr id="4" name="Rectangle 3"/>
          <p:cNvSpPr/>
          <p:nvPr/>
        </p:nvSpPr>
        <p:spPr>
          <a:xfrm>
            <a:off x="10668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A</a:t>
            </a:r>
            <a:endParaRPr lang="en-US" sz="2000" dirty="0">
              <a:solidFill>
                <a:schemeClr val="tx1"/>
              </a:solidFill>
            </a:endParaRPr>
          </a:p>
        </p:txBody>
      </p:sp>
      <p:sp>
        <p:nvSpPr>
          <p:cNvPr id="5" name="Rectangle 4"/>
          <p:cNvSpPr/>
          <p:nvPr/>
        </p:nvSpPr>
        <p:spPr>
          <a:xfrm>
            <a:off x="16764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n</a:t>
            </a:r>
            <a:endParaRPr lang="en-US" sz="2000" dirty="0">
              <a:solidFill>
                <a:schemeClr val="tx1"/>
              </a:solidFill>
            </a:endParaRPr>
          </a:p>
        </p:txBody>
      </p:sp>
      <p:sp>
        <p:nvSpPr>
          <p:cNvPr id="6" name="Rectangle 5"/>
          <p:cNvSpPr/>
          <p:nvPr/>
        </p:nvSpPr>
        <p:spPr>
          <a:xfrm>
            <a:off x="22860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d</a:t>
            </a:r>
            <a:endParaRPr lang="en-US" sz="2000" dirty="0">
              <a:solidFill>
                <a:schemeClr val="tx1"/>
              </a:solidFill>
            </a:endParaRPr>
          </a:p>
        </p:txBody>
      </p:sp>
      <p:sp>
        <p:nvSpPr>
          <p:cNvPr id="7" name="Rectangle 6"/>
          <p:cNvSpPr/>
          <p:nvPr/>
        </p:nvSpPr>
        <p:spPr>
          <a:xfrm>
            <a:off x="28956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r</a:t>
            </a:r>
            <a:endParaRPr lang="en-US" sz="2000" dirty="0">
              <a:solidFill>
                <a:schemeClr val="tx1"/>
              </a:solidFill>
            </a:endParaRPr>
          </a:p>
        </p:txBody>
      </p:sp>
      <p:sp>
        <p:nvSpPr>
          <p:cNvPr id="8" name="Rectangle 7"/>
          <p:cNvSpPr/>
          <p:nvPr/>
        </p:nvSpPr>
        <p:spPr>
          <a:xfrm>
            <a:off x="35052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o</a:t>
            </a:r>
            <a:endParaRPr lang="en-US" dirty="0">
              <a:solidFill>
                <a:schemeClr val="tx1"/>
              </a:solidFill>
            </a:endParaRPr>
          </a:p>
        </p:txBody>
      </p:sp>
      <p:sp>
        <p:nvSpPr>
          <p:cNvPr id="9" name="Rectangle 8"/>
          <p:cNvSpPr/>
          <p:nvPr/>
        </p:nvSpPr>
        <p:spPr>
          <a:xfrm>
            <a:off x="41148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i</a:t>
            </a:r>
            <a:endParaRPr lang="en-US" sz="2000" dirty="0">
              <a:solidFill>
                <a:schemeClr val="tx1"/>
              </a:solidFill>
            </a:endParaRPr>
          </a:p>
        </p:txBody>
      </p:sp>
      <p:sp>
        <p:nvSpPr>
          <p:cNvPr id="10" name="Rectangle 9"/>
          <p:cNvSpPr/>
          <p:nvPr/>
        </p:nvSpPr>
        <p:spPr>
          <a:xfrm>
            <a:off x="47244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d</a:t>
            </a:r>
            <a:endParaRPr lang="en-US" sz="2000" dirty="0">
              <a:solidFill>
                <a:schemeClr val="tx1"/>
              </a:solidFill>
            </a:endParaRPr>
          </a:p>
        </p:txBody>
      </p:sp>
      <p:sp>
        <p:nvSpPr>
          <p:cNvPr id="11" name="Rectangle 10"/>
          <p:cNvSpPr/>
          <p:nvPr/>
        </p:nvSpPr>
        <p:spPr>
          <a:xfrm>
            <a:off x="53340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 </a:t>
            </a:r>
            <a:endParaRPr lang="en-US" sz="2000" dirty="0">
              <a:solidFill>
                <a:schemeClr val="tx1"/>
              </a:solidFill>
            </a:endParaRPr>
          </a:p>
        </p:txBody>
      </p:sp>
      <p:sp>
        <p:nvSpPr>
          <p:cNvPr id="12" name="Rectangle 11"/>
          <p:cNvSpPr/>
          <p:nvPr/>
        </p:nvSpPr>
        <p:spPr>
          <a:xfrm>
            <a:off x="5943600" y="4800600"/>
            <a:ext cx="609600" cy="533400"/>
          </a:xfrm>
          <a:prstGeom prst="rect">
            <a:avLst/>
          </a:prstGeom>
          <a:solidFill>
            <a:schemeClr val="bg1">
              <a:lumMod val="95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a:t>
            </a:r>
            <a:endParaRPr lang="en-US" sz="2000" dirty="0">
              <a:solidFill>
                <a:schemeClr val="tx1"/>
              </a:solidFill>
            </a:endParaRPr>
          </a:p>
        </p:txBody>
      </p:sp>
      <p:sp>
        <p:nvSpPr>
          <p:cNvPr id="16" name="Oval 15"/>
          <p:cNvSpPr/>
          <p:nvPr/>
        </p:nvSpPr>
        <p:spPr>
          <a:xfrm>
            <a:off x="12192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1</a:t>
            </a:r>
            <a:endParaRPr lang="en-US" b="1" dirty="0">
              <a:solidFill>
                <a:srgbClr val="7030A0"/>
              </a:solidFill>
            </a:endParaRPr>
          </a:p>
        </p:txBody>
      </p:sp>
      <p:sp>
        <p:nvSpPr>
          <p:cNvPr id="17" name="Oval 16"/>
          <p:cNvSpPr/>
          <p:nvPr/>
        </p:nvSpPr>
        <p:spPr>
          <a:xfrm>
            <a:off x="18288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2</a:t>
            </a:r>
            <a:endParaRPr lang="en-US" b="1" dirty="0">
              <a:solidFill>
                <a:srgbClr val="7030A0"/>
              </a:solidFill>
            </a:endParaRPr>
          </a:p>
        </p:txBody>
      </p:sp>
      <p:sp>
        <p:nvSpPr>
          <p:cNvPr id="18" name="Oval 17"/>
          <p:cNvSpPr/>
          <p:nvPr/>
        </p:nvSpPr>
        <p:spPr>
          <a:xfrm>
            <a:off x="24384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3</a:t>
            </a:r>
            <a:endParaRPr lang="en-US" b="1" dirty="0">
              <a:solidFill>
                <a:srgbClr val="7030A0"/>
              </a:solidFill>
            </a:endParaRPr>
          </a:p>
        </p:txBody>
      </p:sp>
      <p:sp>
        <p:nvSpPr>
          <p:cNvPr id="19" name="Oval 18"/>
          <p:cNvSpPr/>
          <p:nvPr/>
        </p:nvSpPr>
        <p:spPr>
          <a:xfrm>
            <a:off x="30480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4</a:t>
            </a:r>
            <a:endParaRPr lang="en-US" b="1" dirty="0">
              <a:solidFill>
                <a:srgbClr val="7030A0"/>
              </a:solidFill>
            </a:endParaRPr>
          </a:p>
        </p:txBody>
      </p:sp>
      <p:sp>
        <p:nvSpPr>
          <p:cNvPr id="20" name="Oval 19"/>
          <p:cNvSpPr/>
          <p:nvPr/>
        </p:nvSpPr>
        <p:spPr>
          <a:xfrm>
            <a:off x="36576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5</a:t>
            </a:r>
            <a:endParaRPr lang="en-US" b="1" dirty="0">
              <a:solidFill>
                <a:srgbClr val="7030A0"/>
              </a:solidFill>
            </a:endParaRPr>
          </a:p>
        </p:txBody>
      </p:sp>
      <p:sp>
        <p:nvSpPr>
          <p:cNvPr id="21" name="Oval 20"/>
          <p:cNvSpPr/>
          <p:nvPr/>
        </p:nvSpPr>
        <p:spPr>
          <a:xfrm>
            <a:off x="42672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6</a:t>
            </a:r>
            <a:endParaRPr lang="en-US" b="1" dirty="0">
              <a:solidFill>
                <a:srgbClr val="7030A0"/>
              </a:solidFill>
            </a:endParaRPr>
          </a:p>
        </p:txBody>
      </p:sp>
      <p:sp>
        <p:nvSpPr>
          <p:cNvPr id="22" name="Oval 21"/>
          <p:cNvSpPr/>
          <p:nvPr/>
        </p:nvSpPr>
        <p:spPr>
          <a:xfrm>
            <a:off x="48768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7</a:t>
            </a:r>
            <a:endParaRPr lang="en-US" b="1" dirty="0">
              <a:solidFill>
                <a:srgbClr val="7030A0"/>
              </a:solidFill>
            </a:endParaRPr>
          </a:p>
        </p:txBody>
      </p:sp>
      <p:sp>
        <p:nvSpPr>
          <p:cNvPr id="23" name="Oval 22"/>
          <p:cNvSpPr/>
          <p:nvPr/>
        </p:nvSpPr>
        <p:spPr>
          <a:xfrm>
            <a:off x="54864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8</a:t>
            </a:r>
            <a:endParaRPr lang="en-US" b="1" dirty="0">
              <a:solidFill>
                <a:srgbClr val="7030A0"/>
              </a:solidFill>
            </a:endParaRPr>
          </a:p>
        </p:txBody>
      </p:sp>
      <p:sp>
        <p:nvSpPr>
          <p:cNvPr id="24" name="Oval 23"/>
          <p:cNvSpPr/>
          <p:nvPr/>
        </p:nvSpPr>
        <p:spPr>
          <a:xfrm>
            <a:off x="6096000" y="4572000"/>
            <a:ext cx="304800" cy="304800"/>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7030A0"/>
                </a:solidFill>
              </a:rPr>
              <a:t>9</a:t>
            </a:r>
            <a:endParaRPr lang="en-US" b="1" dirty="0">
              <a:solidFill>
                <a:srgbClr val="7030A0"/>
              </a:solidFill>
            </a:endParaRPr>
          </a:p>
        </p:txBody>
      </p:sp>
      <p:sp>
        <p:nvSpPr>
          <p:cNvPr id="26" name="Rounded Rectangle 25"/>
          <p:cNvSpPr/>
          <p:nvPr/>
        </p:nvSpPr>
        <p:spPr>
          <a:xfrm>
            <a:off x="12573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0</a:t>
            </a:r>
            <a:endParaRPr lang="en-US" sz="1600" b="1" dirty="0">
              <a:solidFill>
                <a:schemeClr val="bg2">
                  <a:lumMod val="10000"/>
                </a:schemeClr>
              </a:solidFill>
            </a:endParaRPr>
          </a:p>
        </p:txBody>
      </p:sp>
      <p:sp>
        <p:nvSpPr>
          <p:cNvPr id="27" name="Rounded Rectangle 26"/>
          <p:cNvSpPr/>
          <p:nvPr/>
        </p:nvSpPr>
        <p:spPr>
          <a:xfrm>
            <a:off x="1857375"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1</a:t>
            </a:r>
            <a:endParaRPr lang="en-US" sz="1600" b="1" dirty="0">
              <a:solidFill>
                <a:schemeClr val="bg2">
                  <a:lumMod val="10000"/>
                </a:schemeClr>
              </a:solidFill>
            </a:endParaRPr>
          </a:p>
        </p:txBody>
      </p:sp>
      <p:sp>
        <p:nvSpPr>
          <p:cNvPr id="28" name="Rounded Rectangle 27"/>
          <p:cNvSpPr/>
          <p:nvPr/>
        </p:nvSpPr>
        <p:spPr>
          <a:xfrm>
            <a:off x="24765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2</a:t>
            </a:r>
            <a:endParaRPr lang="en-US" sz="1600" b="1" dirty="0">
              <a:solidFill>
                <a:schemeClr val="bg2">
                  <a:lumMod val="10000"/>
                </a:schemeClr>
              </a:solidFill>
            </a:endParaRPr>
          </a:p>
        </p:txBody>
      </p:sp>
      <p:sp>
        <p:nvSpPr>
          <p:cNvPr id="29" name="Rounded Rectangle 28"/>
          <p:cNvSpPr/>
          <p:nvPr/>
        </p:nvSpPr>
        <p:spPr>
          <a:xfrm>
            <a:off x="30861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3</a:t>
            </a:r>
            <a:endParaRPr lang="en-US" sz="1600" b="1" dirty="0">
              <a:solidFill>
                <a:schemeClr val="bg2">
                  <a:lumMod val="10000"/>
                </a:schemeClr>
              </a:solidFill>
            </a:endParaRPr>
          </a:p>
        </p:txBody>
      </p:sp>
      <p:sp>
        <p:nvSpPr>
          <p:cNvPr id="30" name="Rounded Rectangle 29"/>
          <p:cNvSpPr/>
          <p:nvPr/>
        </p:nvSpPr>
        <p:spPr>
          <a:xfrm>
            <a:off x="36957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4</a:t>
            </a:r>
            <a:endParaRPr lang="en-US" sz="1600" b="1" dirty="0">
              <a:solidFill>
                <a:schemeClr val="bg2">
                  <a:lumMod val="10000"/>
                </a:schemeClr>
              </a:solidFill>
            </a:endParaRPr>
          </a:p>
        </p:txBody>
      </p:sp>
      <p:sp>
        <p:nvSpPr>
          <p:cNvPr id="31" name="Rounded Rectangle 30"/>
          <p:cNvSpPr/>
          <p:nvPr/>
        </p:nvSpPr>
        <p:spPr>
          <a:xfrm>
            <a:off x="43053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5</a:t>
            </a:r>
            <a:endParaRPr lang="en-US" sz="1600" b="1" dirty="0">
              <a:solidFill>
                <a:schemeClr val="bg2">
                  <a:lumMod val="10000"/>
                </a:schemeClr>
              </a:solidFill>
            </a:endParaRPr>
          </a:p>
        </p:txBody>
      </p:sp>
      <p:sp>
        <p:nvSpPr>
          <p:cNvPr id="32" name="Rounded Rectangle 31"/>
          <p:cNvSpPr/>
          <p:nvPr/>
        </p:nvSpPr>
        <p:spPr>
          <a:xfrm>
            <a:off x="4924425"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6</a:t>
            </a:r>
            <a:endParaRPr lang="en-US" sz="1600" b="1" dirty="0">
              <a:solidFill>
                <a:schemeClr val="bg2">
                  <a:lumMod val="10000"/>
                </a:schemeClr>
              </a:solidFill>
            </a:endParaRPr>
          </a:p>
        </p:txBody>
      </p:sp>
      <p:sp>
        <p:nvSpPr>
          <p:cNvPr id="33" name="Rounded Rectangle 32"/>
          <p:cNvSpPr/>
          <p:nvPr/>
        </p:nvSpPr>
        <p:spPr>
          <a:xfrm>
            <a:off x="55245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7</a:t>
            </a:r>
            <a:endParaRPr lang="en-US" sz="1600" b="1" dirty="0">
              <a:solidFill>
                <a:schemeClr val="bg2">
                  <a:lumMod val="10000"/>
                </a:schemeClr>
              </a:solidFill>
            </a:endParaRPr>
          </a:p>
        </p:txBody>
      </p:sp>
      <p:sp>
        <p:nvSpPr>
          <p:cNvPr id="34" name="Rounded Rectangle 33"/>
          <p:cNvSpPr/>
          <p:nvPr/>
        </p:nvSpPr>
        <p:spPr>
          <a:xfrm>
            <a:off x="6134100" y="5257800"/>
            <a:ext cx="228600" cy="22860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2">
                    <a:lumMod val="10000"/>
                  </a:schemeClr>
                </a:solidFill>
              </a:rPr>
              <a:t>8</a:t>
            </a:r>
            <a:endParaRPr lang="en-US" sz="1600" b="1" dirty="0">
              <a:solidFill>
                <a:schemeClr val="bg2">
                  <a:lumMod val="10000"/>
                </a:schemeClr>
              </a:solidFill>
            </a:endParaRPr>
          </a:p>
        </p:txBody>
      </p:sp>
      <p:cxnSp>
        <p:nvCxnSpPr>
          <p:cNvPr id="38" name="Straight Arrow Connector 37"/>
          <p:cNvCxnSpPr>
            <a:endCxn id="24" idx="7"/>
          </p:cNvCxnSpPr>
          <p:nvPr/>
        </p:nvCxnSpPr>
        <p:spPr>
          <a:xfrm rot="10800000" flipV="1">
            <a:off x="6356164" y="4190999"/>
            <a:ext cx="501837" cy="425637"/>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46" idx="1"/>
          </p:cNvCxnSpPr>
          <p:nvPr/>
        </p:nvCxnSpPr>
        <p:spPr>
          <a:xfrm>
            <a:off x="6334125" y="5467350"/>
            <a:ext cx="523875" cy="323850"/>
          </a:xfrm>
          <a:prstGeom prst="straightConnector1">
            <a:avLst/>
          </a:prstGeom>
          <a:ln>
            <a:solidFill>
              <a:schemeClr val="bg2">
                <a:lumMod val="25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6858000" y="3810000"/>
            <a:ext cx="1600200" cy="762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DO" sz="1200" b="1" dirty="0" smtClean="0">
                <a:solidFill>
                  <a:schemeClr val="bg2">
                    <a:lumMod val="10000"/>
                  </a:schemeClr>
                </a:solidFill>
              </a:rPr>
              <a:t>Posición en la cadena</a:t>
            </a:r>
          </a:p>
          <a:p>
            <a:pPr algn="ctr"/>
            <a:r>
              <a:rPr lang="es-DO" sz="1200" dirty="0" smtClean="0">
                <a:solidFill>
                  <a:schemeClr val="bg2">
                    <a:lumMod val="10000"/>
                  </a:schemeClr>
                </a:solidFill>
              </a:rPr>
              <a:t>Inicia en </a:t>
            </a:r>
            <a:r>
              <a:rPr lang="es-DO" sz="1200" b="1" dirty="0" smtClean="0">
                <a:solidFill>
                  <a:schemeClr val="bg2">
                    <a:lumMod val="10000"/>
                  </a:schemeClr>
                </a:solidFill>
              </a:rPr>
              <a:t>1</a:t>
            </a:r>
          </a:p>
          <a:p>
            <a:pPr algn="ctr"/>
            <a:r>
              <a:rPr lang="es-DO" sz="1200" dirty="0" smtClean="0">
                <a:solidFill>
                  <a:schemeClr val="bg2">
                    <a:lumMod val="10000"/>
                  </a:schemeClr>
                </a:solidFill>
              </a:rPr>
              <a:t>Termina en </a:t>
            </a:r>
            <a:r>
              <a:rPr lang="es-DO" sz="1200" b="1" dirty="0" smtClean="0">
                <a:solidFill>
                  <a:schemeClr val="bg2">
                    <a:lumMod val="10000"/>
                  </a:schemeClr>
                </a:solidFill>
              </a:rPr>
              <a:t>N</a:t>
            </a:r>
            <a:endParaRPr lang="es-DO" sz="1200" b="1" dirty="0">
              <a:solidFill>
                <a:schemeClr val="bg2">
                  <a:lumMod val="10000"/>
                </a:schemeClr>
              </a:solidFill>
            </a:endParaRPr>
          </a:p>
        </p:txBody>
      </p:sp>
      <p:sp>
        <p:nvSpPr>
          <p:cNvPr id="46" name="Rectangle 45"/>
          <p:cNvSpPr/>
          <p:nvPr/>
        </p:nvSpPr>
        <p:spPr>
          <a:xfrm>
            <a:off x="6858000" y="5410200"/>
            <a:ext cx="1600200" cy="762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DO" sz="1200" b="1" dirty="0" smtClean="0">
                <a:solidFill>
                  <a:schemeClr val="bg2">
                    <a:lumMod val="10000"/>
                  </a:schemeClr>
                </a:solidFill>
              </a:rPr>
              <a:t>Índice de la cadena</a:t>
            </a:r>
          </a:p>
          <a:p>
            <a:pPr algn="ctr"/>
            <a:r>
              <a:rPr lang="es-DO" sz="1200" dirty="0" smtClean="0">
                <a:solidFill>
                  <a:schemeClr val="bg2">
                    <a:lumMod val="10000"/>
                  </a:schemeClr>
                </a:solidFill>
              </a:rPr>
              <a:t>Inicia en </a:t>
            </a:r>
            <a:r>
              <a:rPr lang="es-DO" sz="1200" b="1" dirty="0" smtClean="0">
                <a:solidFill>
                  <a:schemeClr val="bg2">
                    <a:lumMod val="10000"/>
                  </a:schemeClr>
                </a:solidFill>
              </a:rPr>
              <a:t>0</a:t>
            </a:r>
          </a:p>
          <a:p>
            <a:pPr algn="ctr"/>
            <a:r>
              <a:rPr lang="es-DO" sz="1200" dirty="0" smtClean="0">
                <a:solidFill>
                  <a:schemeClr val="bg2">
                    <a:lumMod val="10000"/>
                  </a:schemeClr>
                </a:solidFill>
              </a:rPr>
              <a:t>Termina en </a:t>
            </a:r>
            <a:r>
              <a:rPr lang="es-DO" sz="1200" b="1" dirty="0" smtClean="0">
                <a:solidFill>
                  <a:schemeClr val="bg2">
                    <a:lumMod val="10000"/>
                  </a:schemeClr>
                </a:solidFill>
              </a:rPr>
              <a:t>N - 1</a:t>
            </a:r>
            <a:endParaRPr lang="es-DO" sz="1200" b="1" dirty="0">
              <a:solidFill>
                <a:schemeClr val="bg2">
                  <a:lumMod val="10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Strings: Concepto</a:t>
            </a:r>
            <a:endParaRPr lang="es-DO" dirty="0"/>
          </a:p>
        </p:txBody>
      </p:sp>
      <p:sp>
        <p:nvSpPr>
          <p:cNvPr id="3" name="Content Placeholder 2"/>
          <p:cNvSpPr>
            <a:spLocks noGrp="1"/>
          </p:cNvSpPr>
          <p:nvPr>
            <p:ph sz="quarter" idx="13"/>
          </p:nvPr>
        </p:nvSpPr>
        <p:spPr/>
        <p:txBody>
          <a:bodyPr>
            <a:normAutofit fontScale="92500"/>
          </a:bodyPr>
          <a:lstStyle/>
          <a:p>
            <a:r>
              <a:rPr lang="es-DO" sz="2400" dirty="0" smtClean="0"/>
              <a:t>Como vimos en el ejemplo de cadena anterior, quedaron expuestos dos elementos importantes que debemos explicar</a:t>
            </a:r>
          </a:p>
          <a:p>
            <a:endParaRPr lang="es-DO" sz="2400" dirty="0" smtClean="0"/>
          </a:p>
          <a:p>
            <a:r>
              <a:rPr lang="es-DO" sz="2400" b="1" dirty="0" smtClean="0"/>
              <a:t>Posición en la cadena</a:t>
            </a:r>
            <a:r>
              <a:rPr lang="es-DO" sz="2400" dirty="0" smtClean="0"/>
              <a:t>: valor numérico que apunta a una posición de un elemento en la cadena.  Los iteradores están basados en la posición, más adelante ampliaremos este concepto</a:t>
            </a:r>
          </a:p>
          <a:p>
            <a:r>
              <a:rPr lang="es-DO" sz="2400" b="1" dirty="0" smtClean="0"/>
              <a:t>Índice de la cadena</a:t>
            </a:r>
            <a:r>
              <a:rPr lang="es-DO" sz="2400" dirty="0" smtClean="0"/>
              <a:t>: valor numérico que apunta a una posición de un elemento en la cadena.  A diferencia de la posición, el índice inicia en cero y termina en el tamaño de la cadena menos uno (N – 1).  Varios recursos utilizan el índice como argumento para referir una posición dentro de la cadena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Strings: Declaración</a:t>
            </a:r>
            <a:endParaRPr lang="es-DO" dirty="0"/>
          </a:p>
        </p:txBody>
      </p:sp>
      <p:sp>
        <p:nvSpPr>
          <p:cNvPr id="3" name="Content Placeholder 2"/>
          <p:cNvSpPr>
            <a:spLocks noGrp="1"/>
          </p:cNvSpPr>
          <p:nvPr>
            <p:ph sz="quarter" idx="13"/>
          </p:nvPr>
        </p:nvSpPr>
        <p:spPr/>
        <p:txBody>
          <a:bodyPr>
            <a:normAutofit fontScale="92500" lnSpcReduction="10000"/>
          </a:bodyPr>
          <a:lstStyle/>
          <a:p>
            <a:r>
              <a:rPr lang="es-DO" sz="2400" dirty="0" smtClean="0"/>
              <a:t>Requiere el uso de la librería &lt;string&gt; aunque muchos compiladores no necesitan de esta declaración en los programas, se carga implícitamente</a:t>
            </a:r>
          </a:p>
          <a:p>
            <a:r>
              <a:rPr lang="es-DO" sz="2400" dirty="0" smtClean="0"/>
              <a:t>Declaración de una variable tipo string</a:t>
            </a:r>
          </a:p>
          <a:p>
            <a:pPr lvl="1"/>
            <a:r>
              <a:rPr lang="es-DO" sz="2100" dirty="0" smtClean="0"/>
              <a:t>string variable;</a:t>
            </a:r>
          </a:p>
          <a:p>
            <a:pPr lvl="1"/>
            <a:r>
              <a:rPr lang="es-DO" sz="2100" dirty="0" smtClean="0"/>
              <a:t>Ejemplo: </a:t>
            </a:r>
          </a:p>
          <a:p>
            <a:pPr lvl="2"/>
            <a:r>
              <a:rPr lang="es-DO" sz="1500" b="1" dirty="0" smtClean="0">
                <a:latin typeface="Courier New" pitchFamily="49" charset="0"/>
                <a:cs typeface="Courier New" pitchFamily="49" charset="0"/>
              </a:rPr>
              <a:t>string</a:t>
            </a:r>
            <a:r>
              <a:rPr lang="es-DO" sz="1500" dirty="0" smtClean="0">
                <a:latin typeface="Courier New" pitchFamily="49" charset="0"/>
                <a:cs typeface="Courier New" pitchFamily="49" charset="0"/>
              </a:rPr>
              <a:t> nombre;</a:t>
            </a:r>
          </a:p>
          <a:p>
            <a:pPr lvl="2"/>
            <a:r>
              <a:rPr lang="es-DO" sz="1500" b="1" dirty="0" smtClean="0">
                <a:latin typeface="Courier New" pitchFamily="49" charset="0"/>
                <a:cs typeface="Courier New" pitchFamily="49" charset="0"/>
              </a:rPr>
              <a:t>string</a:t>
            </a:r>
            <a:r>
              <a:rPr lang="es-DO" sz="1500" dirty="0" smtClean="0">
                <a:latin typeface="Courier New" pitchFamily="49" charset="0"/>
                <a:cs typeface="Courier New" pitchFamily="49" charset="0"/>
              </a:rPr>
              <a:t> descripcion;</a:t>
            </a:r>
          </a:p>
          <a:p>
            <a:r>
              <a:rPr lang="es-DO" sz="2400" dirty="0" smtClean="0"/>
              <a:t>Inicialización de una variable tipo string</a:t>
            </a:r>
          </a:p>
          <a:p>
            <a:pPr lvl="1"/>
            <a:r>
              <a:rPr lang="es-DO" sz="2100" dirty="0" smtClean="0"/>
              <a:t>string variable = valor;</a:t>
            </a:r>
          </a:p>
          <a:p>
            <a:pPr lvl="1"/>
            <a:r>
              <a:rPr lang="es-DO" sz="2100" dirty="0" smtClean="0"/>
              <a:t>string variable(valor);</a:t>
            </a:r>
          </a:p>
          <a:p>
            <a:pPr lvl="1"/>
            <a:r>
              <a:rPr lang="es-DO" sz="2100" dirty="0" smtClean="0"/>
              <a:t>Ejemplo:</a:t>
            </a:r>
          </a:p>
          <a:p>
            <a:pPr lvl="2"/>
            <a:r>
              <a:rPr lang="es-DO" sz="1500" b="1" dirty="0" smtClean="0">
                <a:latin typeface="Courier New" pitchFamily="49" charset="0"/>
                <a:cs typeface="Courier New" pitchFamily="49" charset="0"/>
              </a:rPr>
              <a:t>string</a:t>
            </a:r>
            <a:r>
              <a:rPr lang="es-DO" sz="1500" dirty="0" smtClean="0">
                <a:latin typeface="Courier New" pitchFamily="49" charset="0"/>
                <a:cs typeface="Courier New" pitchFamily="49" charset="0"/>
              </a:rPr>
              <a:t> mensaje = “El articulo seleccionado no está disponible”;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Strings: Declaración</a:t>
            </a:r>
            <a:endParaRPr lang="es-DO" dirty="0"/>
          </a:p>
        </p:txBody>
      </p:sp>
      <p:sp>
        <p:nvSpPr>
          <p:cNvPr id="3" name="Content Placeholder 2"/>
          <p:cNvSpPr>
            <a:spLocks noGrp="1"/>
          </p:cNvSpPr>
          <p:nvPr>
            <p:ph sz="quarter" idx="13"/>
          </p:nvPr>
        </p:nvSpPr>
        <p:spPr/>
        <p:txBody>
          <a:bodyPr>
            <a:normAutofit/>
          </a:bodyPr>
          <a:lstStyle/>
          <a:p>
            <a:r>
              <a:rPr lang="es-DO" sz="2400" dirty="0" smtClean="0"/>
              <a:t>Veamos un ejemplo de declaración de una variable string</a:t>
            </a:r>
          </a:p>
        </p:txBody>
      </p:sp>
      <p:pic>
        <p:nvPicPr>
          <p:cNvPr id="1026" name="Picture 2"/>
          <p:cNvPicPr>
            <a:picLocks noChangeAspect="1" noChangeArrowheads="1"/>
          </p:cNvPicPr>
          <p:nvPr/>
        </p:nvPicPr>
        <p:blipFill>
          <a:blip r:embed="rId2" cstate="print"/>
          <a:srcRect/>
          <a:stretch>
            <a:fillRect/>
          </a:stretch>
        </p:blipFill>
        <p:spPr bwMode="auto">
          <a:xfrm>
            <a:off x="1066800" y="2438400"/>
            <a:ext cx="5314950" cy="2447925"/>
          </a:xfrm>
          <a:prstGeom prst="rect">
            <a:avLst/>
          </a:prstGeom>
          <a:noFill/>
          <a:ln w="9525">
            <a:noFill/>
            <a:miter lim="800000"/>
            <a:headEnd/>
            <a:tailEnd/>
          </a:ln>
          <a:effectLst/>
        </p:spPr>
      </p:pic>
      <p:sp>
        <p:nvSpPr>
          <p:cNvPr id="5" name="Rectangle 4"/>
          <p:cNvSpPr/>
          <p:nvPr/>
        </p:nvSpPr>
        <p:spPr>
          <a:xfrm>
            <a:off x="5410200" y="2590800"/>
            <a:ext cx="2057400" cy="3810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bg2">
                    <a:lumMod val="10000"/>
                  </a:schemeClr>
                </a:solidFill>
              </a:rPr>
              <a:t>Caracter de retorno de carro </a:t>
            </a:r>
            <a:endParaRPr lang="en-US" sz="1200" dirty="0">
              <a:solidFill>
                <a:schemeClr val="bg2">
                  <a:lumMod val="10000"/>
                </a:schemeClr>
              </a:solidFill>
            </a:endParaRPr>
          </a:p>
        </p:txBody>
      </p:sp>
      <p:cxnSp>
        <p:nvCxnSpPr>
          <p:cNvPr id="7" name="Straight Arrow Connector 6"/>
          <p:cNvCxnSpPr>
            <a:stCxn id="5" idx="1"/>
          </p:cNvCxnSpPr>
          <p:nvPr/>
        </p:nvCxnSpPr>
        <p:spPr>
          <a:xfrm rot="10800000" flipV="1">
            <a:off x="4343400" y="2781300"/>
            <a:ext cx="1066800" cy="571500"/>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4162425" y="3352800"/>
            <a:ext cx="152400" cy="228600"/>
          </a:xfrm>
          <a:prstGeom prst="rect">
            <a:avLst/>
          </a:prstGeom>
          <a:solidFill>
            <a:srgbClr val="FFFF00">
              <a:alpha val="15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4114800" y="3810000"/>
            <a:ext cx="4526466" cy="26607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Uso de getline</a:t>
            </a:r>
            <a:endParaRPr lang="es-DO" dirty="0"/>
          </a:p>
        </p:txBody>
      </p:sp>
      <p:sp>
        <p:nvSpPr>
          <p:cNvPr id="3" name="Content Placeholder 2"/>
          <p:cNvSpPr>
            <a:spLocks noGrp="1"/>
          </p:cNvSpPr>
          <p:nvPr>
            <p:ph sz="quarter" idx="13"/>
          </p:nvPr>
        </p:nvSpPr>
        <p:spPr>
          <a:xfrm>
            <a:off x="609600" y="1803400"/>
            <a:ext cx="7772400" cy="4368800"/>
          </a:xfrm>
        </p:spPr>
        <p:txBody>
          <a:bodyPr>
            <a:normAutofit fontScale="92500"/>
          </a:bodyPr>
          <a:lstStyle/>
          <a:p>
            <a:r>
              <a:rPr lang="es-DO" sz="1800" b="1" noProof="1" smtClean="0">
                <a:solidFill>
                  <a:srgbClr val="0000FF"/>
                </a:solidFill>
                <a:latin typeface="Courier New" pitchFamily="49" charset="0"/>
                <a:cs typeface="Courier New" pitchFamily="49" charset="0"/>
              </a:rPr>
              <a:t>getline</a:t>
            </a:r>
            <a:r>
              <a:rPr lang="es-DO" sz="1800" noProof="1" smtClean="0">
                <a:cs typeface="Courier New" pitchFamily="49" charset="0"/>
              </a:rPr>
              <a:t> </a:t>
            </a:r>
            <a:r>
              <a:rPr lang="es-DO" sz="2100" noProof="1" smtClean="0">
                <a:cs typeface="Courier New" pitchFamily="49" charset="0"/>
              </a:rPr>
              <a:t>nos permite capturar un flujo de entrada estándar, incluyendo los caracteres de espacio en blanco; </a:t>
            </a:r>
            <a:r>
              <a:rPr lang="es-DO" sz="1700" noProof="1" smtClean="0">
                <a:latin typeface="Courier New" pitchFamily="49" charset="0"/>
                <a:cs typeface="Courier New" pitchFamily="49" charset="0"/>
              </a:rPr>
              <a:t>getline</a:t>
            </a:r>
            <a:r>
              <a:rPr lang="es-DO" sz="2100" noProof="1" smtClean="0">
                <a:cs typeface="Courier New" pitchFamily="49" charset="0"/>
              </a:rPr>
              <a:t> lo utilizamos exclusivamente con variables tipo </a:t>
            </a:r>
            <a:r>
              <a:rPr lang="es-DO" sz="1700" noProof="1" smtClean="0">
                <a:latin typeface="Courier New" pitchFamily="49" charset="0"/>
                <a:cs typeface="Courier New" pitchFamily="49" charset="0"/>
              </a:rPr>
              <a:t>string</a:t>
            </a:r>
            <a:r>
              <a:rPr lang="es-DO" sz="2100" noProof="1" smtClean="0">
                <a:cs typeface="Courier New" pitchFamily="49" charset="0"/>
              </a:rPr>
              <a:t>, no confundir con </a:t>
            </a:r>
            <a:r>
              <a:rPr lang="es-DO" sz="1700" noProof="1" smtClean="0">
                <a:latin typeface="Courier New" pitchFamily="49" charset="0"/>
                <a:cs typeface="Courier New" pitchFamily="49" charset="0"/>
              </a:rPr>
              <a:t>cin.getline</a:t>
            </a:r>
          </a:p>
          <a:p>
            <a:endParaRPr lang="es-DO" sz="400" noProof="1" smtClean="0">
              <a:cs typeface="Courier New" pitchFamily="49" charset="0"/>
            </a:endParaRPr>
          </a:p>
          <a:p>
            <a:pPr>
              <a:buNone/>
            </a:pPr>
            <a:r>
              <a:rPr lang="es-DO" sz="2100" noProof="1" smtClean="0">
                <a:cs typeface="Courier New" pitchFamily="49" charset="0"/>
              </a:rPr>
              <a:t>	</a:t>
            </a:r>
            <a:r>
              <a:rPr lang="es-DO" sz="1800" b="1" noProof="1" smtClean="0">
                <a:solidFill>
                  <a:srgbClr val="0000FF"/>
                </a:solidFill>
                <a:latin typeface="Courier New" pitchFamily="49" charset="0"/>
                <a:cs typeface="Courier New" pitchFamily="49" charset="0"/>
              </a:rPr>
              <a:t>getline(cin, str, [delimitador]);</a:t>
            </a:r>
          </a:p>
          <a:p>
            <a:pPr>
              <a:buNone/>
            </a:pPr>
            <a:endParaRPr lang="es-DO" sz="100" b="1" noProof="1" smtClean="0">
              <a:solidFill>
                <a:srgbClr val="0000FF"/>
              </a:solidFill>
              <a:latin typeface="Courier New" pitchFamily="49" charset="0"/>
              <a:cs typeface="Courier New" pitchFamily="49" charset="0"/>
            </a:endParaRPr>
          </a:p>
          <a:p>
            <a:pPr>
              <a:buNone/>
            </a:pPr>
            <a:endParaRPr lang="es-DO" sz="100" b="1" noProof="1" smtClean="0">
              <a:solidFill>
                <a:srgbClr val="0000FF"/>
              </a:solidFill>
              <a:latin typeface="Courier New" pitchFamily="49" charset="0"/>
              <a:cs typeface="Courier New" pitchFamily="49" charset="0"/>
            </a:endParaRPr>
          </a:p>
          <a:p>
            <a:pPr>
              <a:buNone/>
            </a:pPr>
            <a:r>
              <a:rPr lang="es-DO" sz="2100" noProof="1" smtClean="0">
                <a:cs typeface="Courier New" pitchFamily="49" charset="0"/>
              </a:rPr>
              <a:t>	Donde:</a:t>
            </a:r>
          </a:p>
          <a:p>
            <a:pPr>
              <a:buNone/>
            </a:pPr>
            <a:r>
              <a:rPr lang="es-DO" sz="2100" b="1" noProof="1" smtClean="0">
                <a:solidFill>
                  <a:srgbClr val="FF0000"/>
                </a:solidFill>
                <a:latin typeface="Courier New" pitchFamily="49" charset="0"/>
                <a:cs typeface="Courier New" pitchFamily="49" charset="0"/>
              </a:rPr>
              <a:t>	cin</a:t>
            </a:r>
            <a:r>
              <a:rPr lang="es-DO" sz="2100" noProof="1" smtClean="0">
                <a:cs typeface="Courier New" pitchFamily="49" charset="0"/>
              </a:rPr>
              <a:t> es el recurso para leer desde el flujo estándar de entrada (el teclado)</a:t>
            </a:r>
            <a:endParaRPr lang="es-DO" sz="2100" b="1" noProof="1" smtClean="0">
              <a:solidFill>
                <a:srgbClr val="FF0000"/>
              </a:solidFill>
              <a:latin typeface="Courier New" pitchFamily="49" charset="0"/>
              <a:cs typeface="Courier New" pitchFamily="49" charset="0"/>
            </a:endParaRPr>
          </a:p>
          <a:p>
            <a:pPr>
              <a:buNone/>
            </a:pPr>
            <a:r>
              <a:rPr lang="es-DO" sz="2100" b="1" noProof="1" smtClean="0">
                <a:solidFill>
                  <a:srgbClr val="FF0000"/>
                </a:solidFill>
                <a:latin typeface="Courier New" pitchFamily="49" charset="0"/>
                <a:cs typeface="Courier New" pitchFamily="49" charset="0"/>
              </a:rPr>
              <a:t>	str</a:t>
            </a:r>
            <a:r>
              <a:rPr lang="es-DO" sz="2100" noProof="1" smtClean="0">
                <a:cs typeface="Courier New" pitchFamily="49" charset="0"/>
              </a:rPr>
              <a:t> es una variable tipo string</a:t>
            </a:r>
            <a:endParaRPr lang="es-DO" sz="2100" b="1" noProof="1" smtClean="0">
              <a:solidFill>
                <a:srgbClr val="FF0000"/>
              </a:solidFill>
              <a:latin typeface="Courier New" pitchFamily="49" charset="0"/>
              <a:cs typeface="Courier New" pitchFamily="49" charset="0"/>
            </a:endParaRPr>
          </a:p>
          <a:p>
            <a:pPr>
              <a:buNone/>
            </a:pPr>
            <a:r>
              <a:rPr lang="es-DO" sz="2100" b="1" noProof="1" smtClean="0">
                <a:solidFill>
                  <a:srgbClr val="FF0000"/>
                </a:solidFill>
                <a:latin typeface="Courier New" pitchFamily="49" charset="0"/>
                <a:cs typeface="Courier New" pitchFamily="49" charset="0"/>
              </a:rPr>
              <a:t>	delimitador </a:t>
            </a:r>
            <a:r>
              <a:rPr lang="es-DO" sz="2100" noProof="1" smtClean="0">
                <a:cs typeface="Courier New" pitchFamily="49" charset="0"/>
              </a:rPr>
              <a:t>es un caracter ASCII cualquiera usado para indicarle a </a:t>
            </a:r>
            <a:r>
              <a:rPr lang="es-DO" sz="2100" b="1" i="1" noProof="1" smtClean="0">
                <a:cs typeface="Courier New" pitchFamily="49" charset="0"/>
              </a:rPr>
              <a:t>cin</a:t>
            </a:r>
            <a:r>
              <a:rPr lang="es-DO" sz="2100" noProof="1" smtClean="0">
                <a:cs typeface="Courier New" pitchFamily="49" charset="0"/>
              </a:rPr>
              <a:t> hasta donde debe leer el flujo de entrada estándar; si se omite el delimitador por defecto es el caracter de nueva línea o </a:t>
            </a:r>
            <a:r>
              <a:rPr lang="es-DO" sz="2100" i="1" noProof="1" smtClean="0">
                <a:cs typeface="Courier New" pitchFamily="49" charset="0"/>
              </a:rPr>
              <a:t>newline</a:t>
            </a:r>
            <a:r>
              <a:rPr lang="es-DO" sz="2100" noProof="1" smtClean="0">
                <a:cs typeface="Courier New" pitchFamily="49" charset="0"/>
              </a:rPr>
              <a:t> (‘\n’); el delimitador no es almacenado en la variable</a:t>
            </a:r>
            <a:endParaRPr lang="es-DO" sz="2100" b="1" noProof="1" smtClean="0">
              <a:solidFill>
                <a:srgbClr val="FF0000"/>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Uso de getline</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100" noProof="1" smtClean="0">
                <a:cs typeface="Courier New" pitchFamily="49" charset="0"/>
              </a:rPr>
              <a:t>Las variables tipo </a:t>
            </a:r>
            <a:r>
              <a:rPr lang="es-DO" sz="2100" b="1" i="1" noProof="1" smtClean="0">
                <a:cs typeface="Courier New" pitchFamily="49" charset="0"/>
              </a:rPr>
              <a:t>string</a:t>
            </a:r>
            <a:r>
              <a:rPr lang="es-DO" sz="2100" noProof="1" smtClean="0">
                <a:cs typeface="Courier New" pitchFamily="49" charset="0"/>
              </a:rPr>
              <a:t> nos permiten manipular cadenas de caracteres de una forma más cómoda además de proveer un conjunto de recursos asociados a este tipo de datos que le dan una gran versatilidad (más adelante veremos en detalle los </a:t>
            </a:r>
            <a:r>
              <a:rPr lang="es-DO" sz="2100" b="1" i="1" noProof="1" smtClean="0">
                <a:cs typeface="Courier New" pitchFamily="49" charset="0"/>
              </a:rPr>
              <a:t>strings</a:t>
            </a:r>
            <a:r>
              <a:rPr lang="es-DO" sz="2100" noProof="1" smtClean="0">
                <a:cs typeface="Courier New" pitchFamily="49" charset="0"/>
              </a:rPr>
              <a:t>)</a:t>
            </a:r>
          </a:p>
          <a:p>
            <a:r>
              <a:rPr lang="es-DO" sz="2100" noProof="1" smtClean="0">
                <a:cs typeface="Courier New" pitchFamily="49" charset="0"/>
              </a:rPr>
              <a:t>Lo explicado con </a:t>
            </a:r>
            <a:r>
              <a:rPr lang="es-DO" sz="2100" i="1" noProof="1" smtClean="0">
                <a:cs typeface="Courier New" pitchFamily="49" charset="0"/>
              </a:rPr>
              <a:t>cin.ignore</a:t>
            </a:r>
            <a:r>
              <a:rPr lang="es-DO" sz="2100" noProof="1" smtClean="0">
                <a:cs typeface="Courier New" pitchFamily="49" charset="0"/>
              </a:rPr>
              <a:t> aplica también para </a:t>
            </a:r>
            <a:r>
              <a:rPr lang="es-DO" sz="2100" b="1" i="1" noProof="1" smtClean="0">
                <a:cs typeface="Courier New" pitchFamily="49" charset="0"/>
              </a:rPr>
              <a:t>getline</a:t>
            </a:r>
            <a:r>
              <a:rPr lang="es-DO" sz="2100" noProof="1" smtClean="0">
                <a:cs typeface="Courier New" pitchFamily="49" charset="0"/>
              </a:rPr>
              <a:t> en los </a:t>
            </a:r>
            <a:r>
              <a:rPr lang="es-DO" sz="2100" b="1" i="1" noProof="1" smtClean="0">
                <a:cs typeface="Courier New" pitchFamily="49" charset="0"/>
              </a:rPr>
              <a:t>strings</a:t>
            </a:r>
          </a:p>
          <a:p>
            <a:pPr>
              <a:buNone/>
            </a:pPr>
            <a:endParaRPr lang="es-DO" sz="2100" b="1" noProof="1" smtClean="0">
              <a:solidFill>
                <a:srgbClr val="FF0000"/>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Ejemplo con getline</a:t>
            </a:r>
            <a:endParaRPr lang="es-DO" dirty="0"/>
          </a:p>
        </p:txBody>
      </p:sp>
      <p:pic>
        <p:nvPicPr>
          <p:cNvPr id="126978" name="Picture 2"/>
          <p:cNvPicPr>
            <a:picLocks noChangeAspect="1" noChangeArrowheads="1"/>
          </p:cNvPicPr>
          <p:nvPr/>
        </p:nvPicPr>
        <p:blipFill>
          <a:blip r:embed="rId2" cstate="print"/>
          <a:srcRect/>
          <a:stretch>
            <a:fillRect/>
          </a:stretch>
        </p:blipFill>
        <p:spPr bwMode="auto">
          <a:xfrm>
            <a:off x="628650" y="1981200"/>
            <a:ext cx="4095750" cy="2752725"/>
          </a:xfrm>
          <a:prstGeom prst="rect">
            <a:avLst/>
          </a:prstGeom>
          <a:noFill/>
          <a:ln w="9525">
            <a:noFill/>
            <a:miter lim="800000"/>
            <a:headEnd/>
            <a:tailEnd/>
          </a:ln>
          <a:effectLst/>
        </p:spPr>
      </p:pic>
      <p:pic>
        <p:nvPicPr>
          <p:cNvPr id="126979" name="Picture 3"/>
          <p:cNvPicPr>
            <a:picLocks noChangeAspect="1" noChangeArrowheads="1"/>
          </p:cNvPicPr>
          <p:nvPr/>
        </p:nvPicPr>
        <p:blipFill>
          <a:blip r:embed="rId3" cstate="print"/>
          <a:srcRect/>
          <a:stretch>
            <a:fillRect/>
          </a:stretch>
        </p:blipFill>
        <p:spPr bwMode="auto">
          <a:xfrm>
            <a:off x="5105400" y="1981200"/>
            <a:ext cx="3759355" cy="2209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DO" dirty="0" smtClean="0"/>
              <a:t>Combinando cin </a:t>
            </a:r>
            <a:r>
              <a:rPr lang="es-DO" sz="3600" dirty="0" smtClean="0"/>
              <a:t>&gt;&gt;</a:t>
            </a:r>
            <a:r>
              <a:rPr lang="es-DO" dirty="0" smtClean="0"/>
              <a:t> y getline</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000" noProof="1" smtClean="0">
                <a:cs typeface="Courier New" pitchFamily="49" charset="0"/>
              </a:rPr>
              <a:t>Debemos tener cuidado al combinar </a:t>
            </a:r>
            <a:r>
              <a:rPr lang="es-DO" sz="1800" noProof="1" smtClean="0">
                <a:latin typeface="Courier New" pitchFamily="49" charset="0"/>
                <a:cs typeface="Courier New" pitchFamily="49" charset="0"/>
              </a:rPr>
              <a:t>cin </a:t>
            </a:r>
            <a:r>
              <a:rPr lang="es-DO" sz="1600" noProof="1" smtClean="0">
                <a:latin typeface="Courier New" pitchFamily="49" charset="0"/>
                <a:cs typeface="Courier New" pitchFamily="49" charset="0"/>
              </a:rPr>
              <a:t>&gt;&gt; </a:t>
            </a:r>
            <a:r>
              <a:rPr lang="es-DO" sz="2000" noProof="1" smtClean="0">
                <a:cs typeface="Courier New" pitchFamily="49" charset="0"/>
              </a:rPr>
              <a:t>con </a:t>
            </a:r>
            <a:r>
              <a:rPr lang="es-DO" sz="1800" noProof="1" smtClean="0">
                <a:latin typeface="Courier New" pitchFamily="49" charset="0"/>
                <a:cs typeface="Courier New" pitchFamily="49" charset="0"/>
              </a:rPr>
              <a:t>getline</a:t>
            </a:r>
            <a:r>
              <a:rPr lang="es-DO" sz="2000" noProof="1" smtClean="0">
                <a:cs typeface="Courier New" pitchFamily="49" charset="0"/>
              </a:rPr>
              <a:t>.  Si utilizamos primero </a:t>
            </a:r>
            <a:r>
              <a:rPr lang="es-DO" sz="1800" noProof="1" smtClean="0">
                <a:latin typeface="Courier New" pitchFamily="49" charset="0"/>
                <a:cs typeface="Courier New" pitchFamily="49" charset="0"/>
              </a:rPr>
              <a:t>cin</a:t>
            </a:r>
            <a:r>
              <a:rPr lang="es-DO" sz="2000" noProof="1" smtClean="0">
                <a:cs typeface="Courier New" pitchFamily="49" charset="0"/>
              </a:rPr>
              <a:t>, </a:t>
            </a:r>
            <a:r>
              <a:rPr lang="es-DO" sz="1800" noProof="1" smtClean="0">
                <a:latin typeface="Courier New" pitchFamily="49" charset="0"/>
                <a:cs typeface="Courier New" pitchFamily="49" charset="0"/>
              </a:rPr>
              <a:t>getline</a:t>
            </a:r>
            <a:r>
              <a:rPr lang="es-DO" sz="2000" noProof="1" smtClean="0">
                <a:cs typeface="Courier New" pitchFamily="49" charset="0"/>
              </a:rPr>
              <a:t> no leerá ningún valor, esto es por que cuando </a:t>
            </a:r>
            <a:r>
              <a:rPr lang="es-DO" sz="1800" noProof="1" smtClean="0">
                <a:latin typeface="Courier New" pitchFamily="49" charset="0"/>
                <a:cs typeface="Courier New" pitchFamily="49" charset="0"/>
              </a:rPr>
              <a:t>cin</a:t>
            </a:r>
            <a:r>
              <a:rPr lang="es-DO" sz="1800" noProof="1" smtClean="0">
                <a:cs typeface="Courier New" pitchFamily="49" charset="0"/>
              </a:rPr>
              <a:t> </a:t>
            </a:r>
            <a:r>
              <a:rPr lang="es-DO" sz="2000" noProof="1" smtClean="0">
                <a:cs typeface="Courier New" pitchFamily="49" charset="0"/>
              </a:rPr>
              <a:t>detiene la lectura por que ya encontró el caracter de newline, este caracter permanece en el buffer del teclado y le proporciona a getline un valor para procesar, en resumen, el programa no se dentendrá a esperar que introduzcamos un valor</a:t>
            </a:r>
          </a:p>
          <a:p>
            <a:r>
              <a:rPr lang="es-DO" sz="2000" noProof="1" smtClean="0">
                <a:cs typeface="Courier New" pitchFamily="49" charset="0"/>
              </a:rPr>
              <a:t>Estos conceptos fueron explicados en la unidad 1</a:t>
            </a:r>
          </a:p>
          <a:p>
            <a:endParaRPr lang="es-DO" sz="2000" noProof="1" smtClean="0">
              <a:cs typeface="Courier New" pitchFamily="49" charset="0"/>
            </a:endParaRPr>
          </a:p>
          <a:p>
            <a:endParaRPr lang="es-DO" sz="2000" noProof="1" smtClean="0">
              <a:cs typeface="Courier New" pitchFamily="49" charset="0"/>
            </a:endParaRPr>
          </a:p>
          <a:p>
            <a:endParaRPr lang="es-DO" sz="2000" noProof="1" smtClean="0">
              <a:cs typeface="Courier New" pitchFamily="49" charset="0"/>
            </a:endParaRPr>
          </a:p>
          <a:p>
            <a:endParaRPr lang="es-DO" sz="2000" noProof="1" smtClean="0">
              <a:cs typeface="Courier New" pitchFamily="49" charset="0"/>
            </a:endParaRPr>
          </a:p>
          <a:p>
            <a:endParaRPr lang="es-DO" sz="2000" noProof="1" smtClean="0">
              <a:cs typeface="Courier New" pitchFamily="49" charset="0"/>
            </a:endParaRPr>
          </a:p>
          <a:p>
            <a:endParaRPr lang="es-DO" sz="2000" noProof="1" smtClean="0">
              <a:cs typeface="Courier New" pitchFamily="49"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solidFill>
                  <a:schemeClr val="bg1">
                    <a:lumMod val="50000"/>
                  </a:schemeClr>
                </a:solidFill>
              </a:rPr>
              <a:t>Strings: Concepto y declaración.</a:t>
            </a:r>
          </a:p>
          <a:p>
            <a:pPr marL="274320" lvl="1"/>
            <a:r>
              <a:rPr lang="es-DO" altLang="x-none" dirty="0" smtClean="0">
                <a:solidFill>
                  <a:schemeClr val="bg2">
                    <a:lumMod val="10000"/>
                  </a:schemeClr>
                </a:solidFill>
              </a:rPr>
              <a:t>Operadores de cadenas</a:t>
            </a:r>
            <a:r>
              <a:rPr lang="es-DO" dirty="0" smtClean="0">
                <a:solidFill>
                  <a:schemeClr val="bg2">
                    <a:lumMod val="10000"/>
                  </a:schemeClr>
                </a:solidFill>
              </a:rPr>
              <a:t>.</a:t>
            </a:r>
          </a:p>
          <a:p>
            <a:pPr marL="274320" lvl="1"/>
            <a:r>
              <a:rPr lang="es-DO" dirty="0" smtClean="0">
                <a:solidFill>
                  <a:schemeClr val="bg1">
                    <a:lumMod val="50000"/>
                  </a:schemeClr>
                </a:solidFill>
              </a:rPr>
              <a:t>Recursos de string.</a:t>
            </a:r>
          </a:p>
          <a:p>
            <a:pPr marL="274320" lvl="1"/>
            <a:r>
              <a:rPr lang="es-DO" dirty="0" smtClean="0">
                <a:solidFill>
                  <a:schemeClr val="bg1">
                    <a:lumMod val="50000"/>
                  </a:schemeClr>
                </a:solidFill>
              </a:rPr>
              <a:t>Iteradores.</a:t>
            </a:r>
          </a:p>
          <a:p>
            <a:pPr marL="274320" lvl="1"/>
            <a:r>
              <a:rPr lang="es-DO" dirty="0" smtClean="0">
                <a:solidFill>
                  <a:schemeClr val="bg1">
                    <a:lumMod val="50000"/>
                  </a:schemeClr>
                </a:solidFill>
              </a:rPr>
              <a:t>Recursos de ctype.</a:t>
            </a:r>
          </a:p>
          <a:p>
            <a:pPr marL="274320" lvl="1"/>
            <a:r>
              <a:rPr lang="es-DO" dirty="0" smtClean="0">
                <a:solidFill>
                  <a:schemeClr val="bg1">
                    <a:lumMod val="50000"/>
                  </a:schemeClr>
                </a:solidFill>
              </a:rPr>
              <a:t>Estructuras: concepto y declaración.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s-ES" dirty="0" smtClean="0"/>
              <a:t>Asignación, comparación, concatenación</a:t>
            </a:r>
            <a:endParaRPr lang="es-DO" dirty="0" smtClean="0"/>
          </a:p>
        </p:txBody>
      </p:sp>
      <p:sp>
        <p:nvSpPr>
          <p:cNvPr id="3" name="Title 2"/>
          <p:cNvSpPr>
            <a:spLocks noGrp="1"/>
          </p:cNvSpPr>
          <p:nvPr>
            <p:ph type="title"/>
          </p:nvPr>
        </p:nvSpPr>
        <p:spPr/>
        <p:txBody>
          <a:bodyPr>
            <a:normAutofit/>
          </a:bodyPr>
          <a:lstStyle/>
          <a:p>
            <a:r>
              <a:rPr lang="es-DO" dirty="0" smtClean="0"/>
              <a:t>Operadores de cadena</a:t>
            </a:r>
            <a:endParaRPr lang="es-DO"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Operadores de cadena</a:t>
            </a:r>
            <a:endParaRPr lang="es-DO" dirty="0"/>
          </a:p>
        </p:txBody>
      </p:sp>
      <p:graphicFrame>
        <p:nvGraphicFramePr>
          <p:cNvPr id="5" name="Content Placeholder 4"/>
          <p:cNvGraphicFramePr>
            <a:graphicFrameLocks noGrp="1"/>
          </p:cNvGraphicFramePr>
          <p:nvPr>
            <p:ph sz="quarter" idx="13"/>
          </p:nvPr>
        </p:nvGraphicFramePr>
        <p:xfrm>
          <a:off x="609600" y="2057400"/>
          <a:ext cx="7162800" cy="3337560"/>
        </p:xfrm>
        <a:graphic>
          <a:graphicData uri="http://schemas.openxmlformats.org/drawingml/2006/table">
            <a:tbl>
              <a:tblPr firstRow="1" bandRow="1">
                <a:tableStyleId>{00A15C55-8517-42AA-B614-E9B94910E393}</a:tableStyleId>
              </a:tblPr>
              <a:tblGrid>
                <a:gridCol w="1390835"/>
                <a:gridCol w="1182210"/>
                <a:gridCol w="4589755"/>
              </a:tblGrid>
              <a:tr h="370840">
                <a:tc>
                  <a:txBody>
                    <a:bodyPr/>
                    <a:lstStyle/>
                    <a:p>
                      <a:r>
                        <a:rPr lang="es-DO" noProof="0" dirty="0" smtClean="0"/>
                        <a:t>Clasificación</a:t>
                      </a:r>
                      <a:endParaRPr lang="es-DO" noProof="0" dirty="0"/>
                    </a:p>
                  </a:txBody>
                  <a:tcPr/>
                </a:tc>
                <a:tc>
                  <a:txBody>
                    <a:bodyPr/>
                    <a:lstStyle/>
                    <a:p>
                      <a:pPr algn="ctr"/>
                      <a:r>
                        <a:rPr lang="es-DO" noProof="0" dirty="0" smtClean="0"/>
                        <a:t>Operador</a:t>
                      </a:r>
                      <a:endParaRPr lang="es-DO" noProof="0" dirty="0"/>
                    </a:p>
                  </a:txBody>
                  <a:tcPr/>
                </a:tc>
                <a:tc>
                  <a:txBody>
                    <a:bodyPr/>
                    <a:lstStyle/>
                    <a:p>
                      <a:r>
                        <a:rPr lang="es-DO" noProof="0" dirty="0" smtClean="0"/>
                        <a:t>Comentarios</a:t>
                      </a:r>
                      <a:endParaRPr lang="es-DO" noProof="0" dirty="0"/>
                    </a:p>
                  </a:txBody>
                  <a:tcPr/>
                </a:tc>
              </a:tr>
              <a:tr h="370840">
                <a:tc>
                  <a:txBody>
                    <a:bodyPr/>
                    <a:lstStyle/>
                    <a:p>
                      <a:pPr marL="0" algn="l" rtl="0" eaLnBrk="1" latinLnBrk="0" hangingPunct="1"/>
                      <a:r>
                        <a:rPr kumimoji="0" lang="es-DO" sz="1600" kern="1200" noProof="0" dirty="0" smtClean="0">
                          <a:solidFill>
                            <a:schemeClr val="dk1"/>
                          </a:solidFill>
                          <a:latin typeface="+mn-lt"/>
                          <a:ea typeface="+mn-ea"/>
                          <a:cs typeface="+mn-cs"/>
                        </a:rPr>
                        <a:t>Asignación</a:t>
                      </a:r>
                    </a:p>
                  </a:txBody>
                  <a:tcPr anchor="ctr">
                    <a:solidFill>
                      <a:schemeClr val="bg1">
                        <a:lumMod val="85000"/>
                      </a:schemeClr>
                    </a:solidFill>
                  </a:tcPr>
                </a:tc>
                <a:tc>
                  <a:txBody>
                    <a:bodyPr/>
                    <a:lstStyle/>
                    <a:p>
                      <a:pPr algn="ctr"/>
                      <a:r>
                        <a:rPr lang="es-DO" sz="1200" b="1" noProof="1" smtClean="0">
                          <a:latin typeface="Courier New" pitchFamily="49" charset="0"/>
                          <a:cs typeface="Courier New" pitchFamily="49" charset="0"/>
                        </a:rPr>
                        <a:t>=</a:t>
                      </a:r>
                      <a:endParaRPr lang="es-DO" sz="1200" b="1" noProof="1">
                        <a:latin typeface="Courier New" pitchFamily="49" charset="0"/>
                        <a:cs typeface="Courier New" pitchFamily="49" charset="0"/>
                      </a:endParaRPr>
                    </a:p>
                  </a:txBody>
                  <a:tcPr anchor="ctr">
                    <a:solidFill>
                      <a:schemeClr val="bg1">
                        <a:lumMod val="85000"/>
                      </a:schemeClr>
                    </a:solidFill>
                  </a:tcPr>
                </a:tc>
                <a:tc>
                  <a:txBody>
                    <a:bodyPr/>
                    <a:lstStyle/>
                    <a:p>
                      <a:r>
                        <a:rPr lang="es-DO" sz="1400" noProof="0" dirty="0" smtClean="0"/>
                        <a:t>Asigna un</a:t>
                      </a:r>
                      <a:r>
                        <a:rPr lang="es-DO" sz="1400" baseline="0" noProof="0" dirty="0" smtClean="0"/>
                        <a:t> literal o variable a otra variable string</a:t>
                      </a:r>
                      <a:endParaRPr lang="es-DO" sz="1400" noProof="0" dirty="0"/>
                    </a:p>
                  </a:txBody>
                  <a:tcPr anchor="ctr">
                    <a:solidFill>
                      <a:schemeClr val="bg1">
                        <a:lumMod val="85000"/>
                      </a:schemeClr>
                    </a:solidFill>
                  </a:tcPr>
                </a:tc>
              </a:tr>
              <a:tr h="370840">
                <a:tc rowSpan="6">
                  <a:txBody>
                    <a:bodyPr/>
                    <a:lstStyle/>
                    <a:p>
                      <a:r>
                        <a:rPr lang="es-DO" sz="1600" noProof="0" dirty="0" smtClean="0"/>
                        <a:t>Comparación</a:t>
                      </a:r>
                      <a:endParaRPr lang="es-DO" sz="1600" noProof="0" dirty="0"/>
                    </a:p>
                  </a:txBody>
                  <a:tcPr anchor="ctr">
                    <a:solidFill>
                      <a:schemeClr val="bg1">
                        <a:lumMod val="95000"/>
                      </a:schemeClr>
                    </a:solidFill>
                  </a:tcPr>
                </a:tc>
                <a:tc>
                  <a:txBody>
                    <a:bodyPr/>
                    <a:lstStyle/>
                    <a:p>
                      <a:pPr algn="ctr"/>
                      <a:r>
                        <a:rPr lang="es-DO" sz="1200" b="1" noProof="1" smtClean="0">
                          <a:latin typeface="Courier New" pitchFamily="49" charset="0"/>
                          <a:cs typeface="Courier New" pitchFamily="49" charset="0"/>
                        </a:rPr>
                        <a:t>&gt;</a:t>
                      </a:r>
                      <a:endParaRPr lang="es-DO" sz="1200" b="1" noProof="1">
                        <a:latin typeface="Courier New" pitchFamily="49" charset="0"/>
                        <a:cs typeface="Courier New" pitchFamily="49" charset="0"/>
                      </a:endParaRPr>
                    </a:p>
                  </a:txBody>
                  <a:tcPr anchor="ctr">
                    <a:solidFill>
                      <a:schemeClr val="bg1">
                        <a:lumMod val="95000"/>
                      </a:schemeClr>
                    </a:solidFill>
                  </a:tcPr>
                </a:tc>
                <a:tc>
                  <a:txBody>
                    <a:bodyPr/>
                    <a:lstStyle/>
                    <a:p>
                      <a:r>
                        <a:rPr lang="es-DO" sz="1400" noProof="0" dirty="0" smtClean="0"/>
                        <a:t>Mayor</a:t>
                      </a:r>
                      <a:r>
                        <a:rPr lang="es-DO" sz="1400" baseline="0" noProof="0" dirty="0" smtClean="0"/>
                        <a:t> que</a:t>
                      </a:r>
                      <a:endParaRPr lang="es-DO" sz="1400" noProof="0" dirty="0"/>
                    </a:p>
                  </a:txBody>
                  <a:tcPr anchor="ctr">
                    <a:solidFill>
                      <a:schemeClr val="bg1">
                        <a:lumMod val="95000"/>
                      </a:schemeClr>
                    </a:solidFill>
                  </a:tcPr>
                </a:tc>
              </a:tr>
              <a:tr h="370840">
                <a:tc vMerge="1">
                  <a:txBody>
                    <a:bodyPr/>
                    <a:lstStyle/>
                    <a:p>
                      <a:endParaRPr lang="es-DO" noProof="0" dirty="0"/>
                    </a:p>
                  </a:txBody>
                  <a:tcPr/>
                </a:tc>
                <a:tc>
                  <a:txBody>
                    <a:bodyPr/>
                    <a:lstStyle/>
                    <a:p>
                      <a:pPr algn="ctr"/>
                      <a:r>
                        <a:rPr lang="es-DO" sz="1200" b="1" noProof="1" smtClean="0">
                          <a:latin typeface="Courier New" pitchFamily="49" charset="0"/>
                          <a:cs typeface="Courier New" pitchFamily="49" charset="0"/>
                        </a:rPr>
                        <a:t>&gt;=</a:t>
                      </a:r>
                      <a:endParaRPr lang="es-DO" sz="1200" b="1" noProof="1">
                        <a:latin typeface="Courier New" pitchFamily="49" charset="0"/>
                        <a:cs typeface="Courier New" pitchFamily="49" charset="0"/>
                      </a:endParaRPr>
                    </a:p>
                  </a:txBody>
                  <a:tcPr anchor="ctr">
                    <a:solidFill>
                      <a:schemeClr val="bg1">
                        <a:lumMod val="95000"/>
                      </a:schemeClr>
                    </a:solidFill>
                  </a:tcPr>
                </a:tc>
                <a:tc>
                  <a:txBody>
                    <a:bodyPr/>
                    <a:lstStyle/>
                    <a:p>
                      <a:r>
                        <a:rPr lang="es-DO" sz="1400" noProof="0" dirty="0" smtClean="0"/>
                        <a:t>Mayor o igual que</a:t>
                      </a:r>
                      <a:endParaRPr lang="es-DO" sz="1400" noProof="0" dirty="0"/>
                    </a:p>
                  </a:txBody>
                  <a:tcPr anchor="ctr">
                    <a:solidFill>
                      <a:schemeClr val="bg1">
                        <a:lumMod val="95000"/>
                      </a:schemeClr>
                    </a:solidFill>
                  </a:tcPr>
                </a:tc>
              </a:tr>
              <a:tr h="370840">
                <a:tc vMerge="1">
                  <a:txBody>
                    <a:bodyPr/>
                    <a:lstStyle/>
                    <a:p>
                      <a:endParaRPr lang="es-DO" noProof="0" dirty="0"/>
                    </a:p>
                  </a:txBody>
                  <a:tcPr/>
                </a:tc>
                <a:tc>
                  <a:txBody>
                    <a:bodyPr/>
                    <a:lstStyle/>
                    <a:p>
                      <a:pPr algn="ctr"/>
                      <a:r>
                        <a:rPr lang="es-DO" sz="1200" b="1" noProof="1" smtClean="0">
                          <a:latin typeface="Courier New" pitchFamily="49" charset="0"/>
                          <a:cs typeface="Courier New" pitchFamily="49" charset="0"/>
                        </a:rPr>
                        <a:t>&lt;</a:t>
                      </a:r>
                      <a:endParaRPr lang="es-DO" sz="1200" b="1" noProof="1">
                        <a:latin typeface="Courier New" pitchFamily="49" charset="0"/>
                        <a:cs typeface="Courier New" pitchFamily="49" charset="0"/>
                      </a:endParaRPr>
                    </a:p>
                  </a:txBody>
                  <a:tcPr anchor="ctr">
                    <a:solidFill>
                      <a:schemeClr val="bg1">
                        <a:lumMod val="95000"/>
                      </a:schemeClr>
                    </a:solidFill>
                  </a:tcPr>
                </a:tc>
                <a:tc>
                  <a:txBody>
                    <a:bodyPr/>
                    <a:lstStyle/>
                    <a:p>
                      <a:r>
                        <a:rPr lang="es-DO" sz="1400" noProof="0" dirty="0" smtClean="0"/>
                        <a:t>Menor que</a:t>
                      </a:r>
                      <a:endParaRPr lang="es-DO" sz="1400" noProof="0" dirty="0"/>
                    </a:p>
                  </a:txBody>
                  <a:tcPr anchor="ctr">
                    <a:solidFill>
                      <a:schemeClr val="bg1">
                        <a:lumMod val="95000"/>
                      </a:schemeClr>
                    </a:solidFill>
                  </a:tcPr>
                </a:tc>
              </a:tr>
              <a:tr h="370840">
                <a:tc vMerge="1">
                  <a:txBody>
                    <a:bodyPr/>
                    <a:lstStyle/>
                    <a:p>
                      <a:endParaRPr lang="es-DO" sz="1600" noProof="0" dirty="0"/>
                    </a:p>
                  </a:txBody>
                  <a:tcPr anchor="ctr">
                    <a:solidFill>
                      <a:schemeClr val="bg1">
                        <a:lumMod val="95000"/>
                      </a:schemeClr>
                    </a:solidFill>
                  </a:tcPr>
                </a:tc>
                <a:tc>
                  <a:txBody>
                    <a:bodyPr/>
                    <a:lstStyle/>
                    <a:p>
                      <a:pPr algn="ctr"/>
                      <a:r>
                        <a:rPr lang="es-DO" sz="1200" b="1" noProof="1" smtClean="0">
                          <a:latin typeface="Courier New" pitchFamily="49" charset="0"/>
                          <a:cs typeface="Courier New" pitchFamily="49" charset="0"/>
                        </a:rPr>
                        <a:t>&lt;=</a:t>
                      </a:r>
                      <a:endParaRPr lang="es-DO" sz="1200" b="1" noProof="1">
                        <a:latin typeface="Courier New" pitchFamily="49" charset="0"/>
                        <a:cs typeface="Courier New" pitchFamily="49" charset="0"/>
                      </a:endParaRPr>
                    </a:p>
                  </a:txBody>
                  <a:tcPr anchor="ctr">
                    <a:solidFill>
                      <a:schemeClr val="bg1">
                        <a:lumMod val="95000"/>
                      </a:schemeClr>
                    </a:solidFill>
                  </a:tcPr>
                </a:tc>
                <a:tc>
                  <a:txBody>
                    <a:bodyPr/>
                    <a:lstStyle/>
                    <a:p>
                      <a:r>
                        <a:rPr lang="es-DO" sz="1400" noProof="0" dirty="0" smtClean="0"/>
                        <a:t>Menor o igual que</a:t>
                      </a:r>
                      <a:endParaRPr lang="es-DO" sz="1400" noProof="0" dirty="0"/>
                    </a:p>
                  </a:txBody>
                  <a:tcPr anchor="ctr">
                    <a:solidFill>
                      <a:schemeClr val="bg1">
                        <a:lumMod val="95000"/>
                      </a:schemeClr>
                    </a:solidFill>
                  </a:tcPr>
                </a:tc>
              </a:tr>
              <a:tr h="370840">
                <a:tc vMerge="1">
                  <a:txBody>
                    <a:bodyPr/>
                    <a:lstStyle/>
                    <a:p>
                      <a:endParaRPr lang="es-DO" sz="1600" noProof="0" dirty="0"/>
                    </a:p>
                  </a:txBody>
                  <a:tcPr anchor="ctr">
                    <a:solidFill>
                      <a:schemeClr val="bg1">
                        <a:lumMod val="95000"/>
                      </a:schemeClr>
                    </a:solidFill>
                  </a:tcPr>
                </a:tc>
                <a:tc>
                  <a:txBody>
                    <a:bodyPr/>
                    <a:lstStyle/>
                    <a:p>
                      <a:pPr algn="ctr"/>
                      <a:r>
                        <a:rPr lang="es-DO" sz="1200" b="1" noProof="1" smtClean="0">
                          <a:latin typeface="Courier New" pitchFamily="49" charset="0"/>
                          <a:cs typeface="Courier New" pitchFamily="49" charset="0"/>
                        </a:rPr>
                        <a:t>==</a:t>
                      </a:r>
                      <a:endParaRPr lang="es-DO" sz="1200" b="1" noProof="1">
                        <a:latin typeface="Courier New" pitchFamily="49" charset="0"/>
                        <a:cs typeface="Courier New" pitchFamily="49" charset="0"/>
                      </a:endParaRPr>
                    </a:p>
                  </a:txBody>
                  <a:tcPr anchor="ctr">
                    <a:solidFill>
                      <a:schemeClr val="bg1">
                        <a:lumMod val="95000"/>
                      </a:schemeClr>
                    </a:solidFill>
                  </a:tcPr>
                </a:tc>
                <a:tc>
                  <a:txBody>
                    <a:bodyPr/>
                    <a:lstStyle/>
                    <a:p>
                      <a:r>
                        <a:rPr lang="es-DO" sz="1400" noProof="0" dirty="0" smtClean="0"/>
                        <a:t>Igual que</a:t>
                      </a:r>
                      <a:endParaRPr lang="es-DO" sz="1400" noProof="0" dirty="0"/>
                    </a:p>
                  </a:txBody>
                  <a:tcPr anchor="ctr">
                    <a:solidFill>
                      <a:schemeClr val="bg1">
                        <a:lumMod val="95000"/>
                      </a:schemeClr>
                    </a:solidFill>
                  </a:tcPr>
                </a:tc>
              </a:tr>
              <a:tr h="370840">
                <a:tc vMerge="1">
                  <a:txBody>
                    <a:bodyPr/>
                    <a:lstStyle/>
                    <a:p>
                      <a:endParaRPr lang="es-DO" sz="1600" noProof="0" dirty="0"/>
                    </a:p>
                  </a:txBody>
                  <a:tcPr anchor="ctr">
                    <a:solidFill>
                      <a:schemeClr val="bg1">
                        <a:lumMod val="95000"/>
                      </a:schemeClr>
                    </a:solidFill>
                  </a:tcPr>
                </a:tc>
                <a:tc>
                  <a:txBody>
                    <a:bodyPr/>
                    <a:lstStyle/>
                    <a:p>
                      <a:pPr algn="ctr"/>
                      <a:r>
                        <a:rPr lang="es-DO" sz="1200" b="1" noProof="1" smtClean="0">
                          <a:latin typeface="Courier New" pitchFamily="49" charset="0"/>
                          <a:cs typeface="Courier New" pitchFamily="49" charset="0"/>
                        </a:rPr>
                        <a:t>!=</a:t>
                      </a:r>
                      <a:endParaRPr lang="es-DO" sz="1200" b="1" noProof="1">
                        <a:latin typeface="Courier New" pitchFamily="49" charset="0"/>
                        <a:cs typeface="Courier New" pitchFamily="49" charset="0"/>
                      </a:endParaRPr>
                    </a:p>
                  </a:txBody>
                  <a:tcPr anchor="ctr">
                    <a:solidFill>
                      <a:schemeClr val="bg1">
                        <a:lumMod val="95000"/>
                      </a:schemeClr>
                    </a:solidFill>
                  </a:tcPr>
                </a:tc>
                <a:tc>
                  <a:txBody>
                    <a:bodyPr/>
                    <a:lstStyle/>
                    <a:p>
                      <a:r>
                        <a:rPr lang="es-DO" sz="1400" noProof="0" dirty="0" smtClean="0"/>
                        <a:t>Distinto</a:t>
                      </a:r>
                      <a:r>
                        <a:rPr lang="es-DO" sz="1400" baseline="0" noProof="0" dirty="0" smtClean="0"/>
                        <a:t> de</a:t>
                      </a:r>
                      <a:endParaRPr lang="es-DO" sz="1400" noProof="0" dirty="0"/>
                    </a:p>
                  </a:txBody>
                  <a:tcPr anchor="ctr">
                    <a:solidFill>
                      <a:schemeClr val="bg1">
                        <a:lumMod val="95000"/>
                      </a:schemeClr>
                    </a:solidFill>
                  </a:tcPr>
                </a:tc>
              </a:tr>
              <a:tr h="370840">
                <a:tc>
                  <a:txBody>
                    <a:bodyPr/>
                    <a:lstStyle/>
                    <a:p>
                      <a:r>
                        <a:rPr lang="es-DO" sz="1600" noProof="0" dirty="0" smtClean="0"/>
                        <a:t>Concatenación</a:t>
                      </a:r>
                      <a:endParaRPr lang="es-DO" sz="1600" noProof="0" dirty="0"/>
                    </a:p>
                  </a:txBody>
                  <a:tcPr anchor="ctr">
                    <a:solidFill>
                      <a:schemeClr val="bg1">
                        <a:lumMod val="85000"/>
                      </a:schemeClr>
                    </a:solidFill>
                  </a:tcPr>
                </a:tc>
                <a:tc>
                  <a:txBody>
                    <a:bodyPr/>
                    <a:lstStyle/>
                    <a:p>
                      <a:pPr algn="ctr"/>
                      <a:r>
                        <a:rPr lang="es-DO" sz="1200" b="1" noProof="1" smtClean="0">
                          <a:latin typeface="Courier New" pitchFamily="49" charset="0"/>
                          <a:cs typeface="Courier New" pitchFamily="49" charset="0"/>
                        </a:rPr>
                        <a:t>+=</a:t>
                      </a:r>
                      <a:endParaRPr lang="es-DO" sz="1200" b="1" noProof="1">
                        <a:latin typeface="Courier New" pitchFamily="49" charset="0"/>
                        <a:cs typeface="Courier New" pitchFamily="49" charset="0"/>
                      </a:endParaRPr>
                    </a:p>
                  </a:txBody>
                  <a:tcPr anchor="ctr">
                    <a:solidFill>
                      <a:schemeClr val="bg1">
                        <a:lumMod val="85000"/>
                      </a:schemeClr>
                    </a:solidFill>
                  </a:tcPr>
                </a:tc>
                <a:tc>
                  <a:txBody>
                    <a:bodyPr/>
                    <a:lstStyle/>
                    <a:p>
                      <a:r>
                        <a:rPr lang="es-DO" sz="1400" noProof="0" dirty="0" smtClean="0"/>
                        <a:t>Unión de literales de cadena o variables de cadena con otra</a:t>
                      </a:r>
                      <a:endParaRPr lang="es-DO" sz="1400" noProof="0" dirty="0"/>
                    </a:p>
                  </a:txBody>
                  <a:tcPr anchor="ctr">
                    <a:solidFill>
                      <a:schemeClr val="bg1">
                        <a:lumMod val="85000"/>
                      </a:schemeClr>
                    </a:solid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DO" dirty="0" smtClean="0"/>
              <a:t>Operador de asignación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400" b="1" noProof="1" smtClean="0">
                <a:cs typeface="Courier New" pitchFamily="49" charset="0"/>
              </a:rPr>
              <a:t>Operador de asignación con cadenas</a:t>
            </a:r>
          </a:p>
          <a:p>
            <a:pPr lvl="1"/>
            <a:r>
              <a:rPr lang="es-DO" sz="1800" noProof="1" smtClean="0">
                <a:latin typeface="Courier New" pitchFamily="49" charset="0"/>
                <a:cs typeface="Courier New" pitchFamily="49" charset="0"/>
              </a:rPr>
              <a:t>cadena1 = cadena2;</a:t>
            </a:r>
          </a:p>
          <a:p>
            <a:pPr lvl="1">
              <a:buNone/>
            </a:pPr>
            <a:endParaRPr lang="es-DO" sz="1600" noProof="1" smtClean="0">
              <a:latin typeface="Courier New" pitchFamily="49" charset="0"/>
              <a:cs typeface="Courier New" pitchFamily="49" charset="0"/>
            </a:endParaRPr>
          </a:p>
          <a:p>
            <a:r>
              <a:rPr lang="es-DO" sz="2400" noProof="1" smtClean="0">
                <a:cs typeface="Courier New" pitchFamily="49" charset="0"/>
              </a:rPr>
              <a:t>Asigna </a:t>
            </a:r>
            <a:r>
              <a:rPr lang="es-DO" sz="2400" i="1" noProof="1" smtClean="0">
                <a:cs typeface="Courier New" pitchFamily="49" charset="0"/>
              </a:rPr>
              <a:t>cadena2</a:t>
            </a:r>
            <a:r>
              <a:rPr lang="es-DO" sz="2400" noProof="1" smtClean="0">
                <a:cs typeface="Courier New" pitchFamily="49" charset="0"/>
              </a:rPr>
              <a:t> a </a:t>
            </a:r>
            <a:r>
              <a:rPr lang="es-DO" sz="2400" i="1" noProof="1" smtClean="0">
                <a:cs typeface="Courier New" pitchFamily="49" charset="0"/>
              </a:rPr>
              <a:t>cadena1</a:t>
            </a:r>
            <a:r>
              <a:rPr lang="es-DO" sz="2400" noProof="1" smtClean="0">
                <a:cs typeface="Courier New" pitchFamily="49" charset="0"/>
              </a:rPr>
              <a:t> borrando primero el contenido o los caracteres contenidos en </a:t>
            </a:r>
            <a:r>
              <a:rPr lang="es-DO" sz="2400" i="1" noProof="1" smtClean="0">
                <a:cs typeface="Courier New" pitchFamily="49" charset="0"/>
              </a:rPr>
              <a:t>cadena1</a:t>
            </a:r>
            <a:r>
              <a:rPr lang="es-DO" sz="2400" noProof="1" smtClean="0">
                <a:cs typeface="Courier New" pitchFamily="49" charset="0"/>
              </a:rPr>
              <a:t>; asigna dinámicamente el espacio de almacenamiento requerido para contener los caracteres de </a:t>
            </a:r>
            <a:r>
              <a:rPr lang="es-DO" sz="2400" i="1" noProof="1" smtClean="0">
                <a:cs typeface="Courier New" pitchFamily="49" charset="0"/>
              </a:rPr>
              <a:t>cadena2 </a:t>
            </a:r>
            <a:r>
              <a:rPr lang="es-DO" sz="2400" noProof="1" smtClean="0">
                <a:cs typeface="Courier New" pitchFamily="49" charset="0"/>
              </a:rPr>
              <a:t>y copia </a:t>
            </a:r>
            <a:r>
              <a:rPr lang="es-DO" sz="2400" i="1" noProof="1" smtClean="0">
                <a:cs typeface="Courier New" pitchFamily="49" charset="0"/>
              </a:rPr>
              <a:t>cadena2</a:t>
            </a:r>
            <a:r>
              <a:rPr lang="es-DO" sz="2400" noProof="1" smtClean="0">
                <a:cs typeface="Courier New" pitchFamily="49" charset="0"/>
              </a:rPr>
              <a:t> en este nuevo espacio</a:t>
            </a:r>
          </a:p>
          <a:p>
            <a:r>
              <a:rPr lang="es-DO" sz="2400" i="1" noProof="1" smtClean="0">
                <a:cs typeface="Courier New" pitchFamily="49" charset="0"/>
              </a:rPr>
              <a:t>cadena2 </a:t>
            </a:r>
            <a:r>
              <a:rPr lang="es-DO" sz="2400" noProof="1" smtClean="0">
                <a:cs typeface="Courier New" pitchFamily="49" charset="0"/>
              </a:rPr>
              <a:t>puede ser un &lt;string&gt; o una cadena tipo C-estilo</a:t>
            </a:r>
            <a:endParaRPr lang="es-DO" sz="2400" i="1"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DO" dirty="0" smtClean="0"/>
              <a:t>Operador de concatenación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400" b="1" noProof="1" smtClean="0">
                <a:cs typeface="Courier New" pitchFamily="49" charset="0"/>
              </a:rPr>
              <a:t>Operador de concatenación de cadenas</a:t>
            </a:r>
          </a:p>
          <a:p>
            <a:pPr lvl="1"/>
            <a:r>
              <a:rPr lang="es-DO" sz="1800" noProof="1" smtClean="0">
                <a:latin typeface="Courier New" pitchFamily="49" charset="0"/>
                <a:cs typeface="Courier New" pitchFamily="49" charset="0"/>
              </a:rPr>
              <a:t>cadena3 = cadena1 + cadena2;</a:t>
            </a:r>
          </a:p>
          <a:p>
            <a:pPr lvl="2"/>
            <a:r>
              <a:rPr lang="es-DO" sz="1500" noProof="1" smtClean="0">
                <a:cs typeface="Courier New" pitchFamily="49" charset="0"/>
              </a:rPr>
              <a:t>Concatena o une </a:t>
            </a:r>
            <a:r>
              <a:rPr lang="es-DO" sz="1500" i="1" noProof="1" smtClean="0">
                <a:cs typeface="Courier New" pitchFamily="49" charset="0"/>
              </a:rPr>
              <a:t>cadena1</a:t>
            </a:r>
            <a:r>
              <a:rPr lang="es-DO" sz="1500" noProof="1" smtClean="0">
                <a:cs typeface="Courier New" pitchFamily="49" charset="0"/>
              </a:rPr>
              <a:t> con </a:t>
            </a:r>
            <a:r>
              <a:rPr lang="es-DO" sz="1500" i="1" noProof="1" smtClean="0">
                <a:cs typeface="Courier New" pitchFamily="49" charset="0"/>
              </a:rPr>
              <a:t>cadena2</a:t>
            </a:r>
            <a:r>
              <a:rPr lang="es-DO" sz="1500" noProof="1" smtClean="0">
                <a:cs typeface="Courier New" pitchFamily="49" charset="0"/>
              </a:rPr>
              <a:t> produciendo una nueva cadena la cual será almacenada en </a:t>
            </a:r>
            <a:r>
              <a:rPr lang="es-DO" sz="1500" i="1" noProof="1" smtClean="0">
                <a:cs typeface="Courier New" pitchFamily="49" charset="0"/>
              </a:rPr>
              <a:t>cadena3</a:t>
            </a:r>
          </a:p>
          <a:p>
            <a:pPr lvl="1"/>
            <a:endParaRPr lang="es-DO" sz="1800" noProof="1" smtClean="0">
              <a:latin typeface="Courier New" pitchFamily="49" charset="0"/>
              <a:cs typeface="Courier New" pitchFamily="49" charset="0"/>
            </a:endParaRPr>
          </a:p>
          <a:p>
            <a:pPr lvl="1"/>
            <a:r>
              <a:rPr lang="es-DO" sz="1800" noProof="1" smtClean="0">
                <a:latin typeface="Courier New" pitchFamily="49" charset="0"/>
                <a:cs typeface="Courier New" pitchFamily="49" charset="0"/>
              </a:rPr>
              <a:t>cadena3 += cadena2; (cadena3 = cadena3 + cadena2)</a:t>
            </a:r>
          </a:p>
          <a:p>
            <a:pPr lvl="2"/>
            <a:r>
              <a:rPr lang="es-DO" sz="1500" noProof="1" smtClean="0">
                <a:cs typeface="Courier New" pitchFamily="49" charset="0"/>
              </a:rPr>
              <a:t>Concatena o une el valor contenido en </a:t>
            </a:r>
            <a:r>
              <a:rPr lang="es-DO" sz="1500" i="1" noProof="1" smtClean="0">
                <a:cs typeface="Courier New" pitchFamily="49" charset="0"/>
              </a:rPr>
              <a:t>cadena3</a:t>
            </a:r>
            <a:r>
              <a:rPr lang="es-DO" sz="1500" noProof="1" smtClean="0">
                <a:cs typeface="Courier New" pitchFamily="49" charset="0"/>
              </a:rPr>
              <a:t> con </a:t>
            </a:r>
            <a:r>
              <a:rPr lang="es-DO" sz="1500" i="1" noProof="1" smtClean="0">
                <a:cs typeface="Courier New" pitchFamily="49" charset="0"/>
              </a:rPr>
              <a:t>cadena2</a:t>
            </a:r>
            <a:r>
              <a:rPr lang="es-DO" sz="1500" noProof="1" smtClean="0">
                <a:cs typeface="Courier New" pitchFamily="49" charset="0"/>
              </a:rPr>
              <a:t> produciendo una nueva cadena la cual será almacenada en </a:t>
            </a:r>
            <a:r>
              <a:rPr lang="es-DO" sz="1500" i="1" noProof="1" smtClean="0">
                <a:cs typeface="Courier New" pitchFamily="49" charset="0"/>
              </a:rPr>
              <a:t>cadena3</a:t>
            </a:r>
          </a:p>
          <a:p>
            <a:pPr lvl="2">
              <a:buNone/>
            </a:pPr>
            <a:endParaRPr lang="es-DO" sz="1500" noProof="1" smtClean="0">
              <a:latin typeface="Courier New" pitchFamily="49" charset="0"/>
              <a:cs typeface="Courier New" pitchFamily="49" charset="0"/>
            </a:endParaRPr>
          </a:p>
          <a:p>
            <a:pPr>
              <a:buNone/>
            </a:pPr>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DO" dirty="0" smtClean="0"/>
              <a:t>Operador de concatenación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400" b="1" noProof="1" smtClean="0">
                <a:cs typeface="Courier New" pitchFamily="49" charset="0"/>
              </a:rPr>
              <a:t>Unión de literales de cadena con cadenas</a:t>
            </a:r>
          </a:p>
          <a:p>
            <a:r>
              <a:rPr lang="es-DO" sz="2400" noProof="1" smtClean="0">
                <a:cs typeface="Courier New" pitchFamily="49" charset="0"/>
              </a:rPr>
              <a:t>Cuando se mezclan cadenas </a:t>
            </a:r>
            <a:r>
              <a:rPr lang="es-DO" sz="1800" noProof="1" smtClean="0">
                <a:latin typeface="Courier New" pitchFamily="49" charset="0"/>
                <a:cs typeface="Courier New" pitchFamily="49" charset="0"/>
              </a:rPr>
              <a:t>&lt;string&gt; </a:t>
            </a:r>
            <a:r>
              <a:rPr lang="es-DO" sz="2400" noProof="1" smtClean="0">
                <a:cs typeface="Courier New" pitchFamily="49" charset="0"/>
              </a:rPr>
              <a:t>con literales de cadena, al menos uno de los operándoos del operador + debe ser del tipo </a:t>
            </a:r>
            <a:r>
              <a:rPr lang="es-DO" sz="1800" noProof="1" smtClean="0">
                <a:latin typeface="Courier New" pitchFamily="49" charset="0"/>
                <a:cs typeface="Courier New" pitchFamily="49" charset="0"/>
              </a:rPr>
              <a:t>&lt;string&gt;</a:t>
            </a:r>
            <a:endParaRPr lang="es-DO" sz="1500" noProof="1" smtClean="0">
              <a:latin typeface="Courier New" pitchFamily="49" charset="0"/>
              <a:cs typeface="Courier New" pitchFamily="49" charset="0"/>
            </a:endParaRPr>
          </a:p>
          <a:p>
            <a:pPr>
              <a:buNone/>
            </a:pPr>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1047750" y="3657600"/>
            <a:ext cx="4076700" cy="2266950"/>
          </a:xfrm>
          <a:prstGeom prst="rect">
            <a:avLst/>
          </a:prstGeom>
          <a:noFill/>
          <a:ln w="9525">
            <a:noFill/>
            <a:miter lim="800000"/>
            <a:headEnd/>
            <a:tailEnd/>
          </a:ln>
          <a:effectLst/>
        </p:spPr>
      </p:pic>
      <p:sp>
        <p:nvSpPr>
          <p:cNvPr id="5" name="Rectangle 4"/>
          <p:cNvSpPr/>
          <p:nvPr/>
        </p:nvSpPr>
        <p:spPr>
          <a:xfrm>
            <a:off x="1028700" y="5238749"/>
            <a:ext cx="4133850" cy="219075"/>
          </a:xfrm>
          <a:prstGeom prst="rect">
            <a:avLst/>
          </a:prstGeom>
          <a:solidFill>
            <a:srgbClr val="EBFC4A">
              <a:alpha val="15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019175" y="4914900"/>
            <a:ext cx="3095625" cy="200025"/>
          </a:xfrm>
          <a:prstGeom prst="rect">
            <a:avLst/>
          </a:prstGeom>
          <a:solidFill>
            <a:srgbClr val="EBFC4A">
              <a:alpha val="15000"/>
            </a:srgb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867400" y="4114800"/>
            <a:ext cx="2362200" cy="685800"/>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DO" sz="1100" dirty="0" smtClean="0">
                <a:solidFill>
                  <a:schemeClr val="bg2">
                    <a:lumMod val="10000"/>
                  </a:schemeClr>
                </a:solidFill>
              </a:rPr>
              <a:t>Esta línea no genera error pues en la expresión se encuentran un literal y una variable string</a:t>
            </a:r>
            <a:endParaRPr lang="es-DO" sz="1100" dirty="0">
              <a:solidFill>
                <a:schemeClr val="bg2">
                  <a:lumMod val="10000"/>
                </a:schemeClr>
              </a:solidFill>
            </a:endParaRPr>
          </a:p>
        </p:txBody>
      </p:sp>
      <p:cxnSp>
        <p:nvCxnSpPr>
          <p:cNvPr id="9" name="Straight Arrow Connector 8"/>
          <p:cNvCxnSpPr>
            <a:stCxn id="7" idx="1"/>
          </p:cNvCxnSpPr>
          <p:nvPr/>
        </p:nvCxnSpPr>
        <p:spPr>
          <a:xfrm rot="10800000" flipV="1">
            <a:off x="4114800" y="4457700"/>
            <a:ext cx="1752600" cy="571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867400" y="5486400"/>
            <a:ext cx="2362200" cy="685800"/>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DO" sz="1100" dirty="0" smtClean="0">
                <a:solidFill>
                  <a:schemeClr val="bg2">
                    <a:lumMod val="10000"/>
                  </a:schemeClr>
                </a:solidFill>
              </a:rPr>
              <a:t>Esta línea genera un error de compilación pues todos los operándoos son literales de cadena</a:t>
            </a:r>
            <a:endParaRPr lang="es-DO" sz="1100" dirty="0">
              <a:solidFill>
                <a:schemeClr val="bg2">
                  <a:lumMod val="10000"/>
                </a:schemeClr>
              </a:solidFill>
            </a:endParaRPr>
          </a:p>
        </p:txBody>
      </p:sp>
      <p:cxnSp>
        <p:nvCxnSpPr>
          <p:cNvPr id="13" name="Straight Arrow Connector 12"/>
          <p:cNvCxnSpPr>
            <a:stCxn id="11" idx="1"/>
            <a:endCxn id="5" idx="3"/>
          </p:cNvCxnSpPr>
          <p:nvPr/>
        </p:nvCxnSpPr>
        <p:spPr>
          <a:xfrm rot="10800000">
            <a:off x="5162550" y="5348288"/>
            <a:ext cx="704850" cy="481013"/>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DO" dirty="0" smtClean="0"/>
              <a:t>Operadores de relación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400" noProof="1" smtClean="0">
                <a:cs typeface="Courier New" pitchFamily="49" charset="0"/>
              </a:rPr>
              <a:t>Estos operadores siempre retornan true o false al ser evaluados</a:t>
            </a:r>
          </a:p>
          <a:p>
            <a:r>
              <a:rPr lang="es-DO" sz="1800" noProof="1" smtClean="0">
                <a:latin typeface="Courier New" pitchFamily="49" charset="0"/>
                <a:cs typeface="Courier New" pitchFamily="49" charset="0"/>
              </a:rPr>
              <a:t>&lt;string&gt;</a:t>
            </a:r>
            <a:r>
              <a:rPr lang="es-DO" sz="2400" noProof="1" smtClean="0">
                <a:cs typeface="Courier New" pitchFamily="49" charset="0"/>
              </a:rPr>
              <a:t> contiene operadores de relación que toman como operándoos dos cadenas</a:t>
            </a:r>
          </a:p>
          <a:p>
            <a:r>
              <a:rPr lang="es-DO" sz="2400" noProof="1" smtClean="0">
                <a:cs typeface="Courier New" pitchFamily="49" charset="0"/>
              </a:rPr>
              <a:t>Los operadores trabajan comparando lexicográficamente los caracteres de cada una de las dos cadenas</a:t>
            </a:r>
            <a:endParaRPr lang="es-DO" sz="1500" noProof="1" smtClean="0">
              <a:latin typeface="Courier New" pitchFamily="49" charset="0"/>
              <a:cs typeface="Courier New" pitchFamily="49" charset="0"/>
            </a:endParaRPr>
          </a:p>
          <a:p>
            <a:pPr>
              <a:buNone/>
            </a:pPr>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DO" dirty="0" smtClean="0"/>
              <a:t>Operadores de relación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400" noProof="1" smtClean="0">
                <a:cs typeface="Courier New" pitchFamily="49" charset="0"/>
              </a:rPr>
              <a:t>Veamos este interesante ejemplo:</a:t>
            </a:r>
          </a:p>
          <a:p>
            <a:pPr>
              <a:buNone/>
            </a:pPr>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a:p>
            <a:endParaRPr lang="es-DO" sz="2400" noProof="1" smtClean="0">
              <a:cs typeface="Courier New"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1066800" y="2362200"/>
            <a:ext cx="3843717" cy="2895600"/>
          </a:xfrm>
          <a:prstGeom prst="rect">
            <a:avLst/>
          </a:prstGeom>
          <a:noFill/>
          <a:ln w="9525">
            <a:noFill/>
            <a:miter lim="800000"/>
            <a:headEnd/>
            <a:tailEnd/>
          </a:ln>
          <a:effectLst/>
        </p:spPr>
      </p:pic>
      <p:sp>
        <p:nvSpPr>
          <p:cNvPr id="6" name="Rectangle 5"/>
          <p:cNvSpPr/>
          <p:nvPr/>
        </p:nvSpPr>
        <p:spPr>
          <a:xfrm>
            <a:off x="5105400" y="2362200"/>
            <a:ext cx="3581400" cy="3581400"/>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r>
              <a:rPr lang="es-DO" sz="1200" b="1" dirty="0" smtClean="0">
                <a:solidFill>
                  <a:schemeClr val="bg1"/>
                </a:solidFill>
              </a:rPr>
              <a:t>IMPORTANTE</a:t>
            </a:r>
          </a:p>
          <a:p>
            <a:endParaRPr lang="es-DO" sz="1200" b="1" dirty="0" smtClean="0">
              <a:solidFill>
                <a:schemeClr val="bg1"/>
              </a:solidFill>
            </a:endParaRPr>
          </a:p>
          <a:p>
            <a:r>
              <a:rPr lang="es-DO" sz="1200" dirty="0" smtClean="0">
                <a:solidFill>
                  <a:schemeClr val="bg1"/>
                </a:solidFill>
              </a:rPr>
              <a:t>En este ejemplo, cad2 resulta ser mayor que cad1, por lo que la salida del programa será: “cad1 es menor que cad2”. </a:t>
            </a:r>
          </a:p>
          <a:p>
            <a:endParaRPr lang="es-DO" sz="1200" dirty="0" smtClean="0">
              <a:solidFill>
                <a:schemeClr val="bg1"/>
              </a:solidFill>
            </a:endParaRPr>
          </a:p>
          <a:p>
            <a:r>
              <a:rPr lang="es-DO" sz="1200" dirty="0" smtClean="0">
                <a:solidFill>
                  <a:schemeClr val="bg1"/>
                </a:solidFill>
              </a:rPr>
              <a:t>Esto es debido a que la comparación se realiza caracter por caracter de una variable a la otra, cuando se encuentran dos caracteres distintos, entonces se realiza una comparación basada en el conjunto de caracteres de la plataforma para la cual se haya compilado el programa (tabla ASCII en nuestro caso).  La comparación sería, ¿el valor decimal de i es mayor o igual que el valor decimal de r?</a:t>
            </a:r>
          </a:p>
          <a:p>
            <a:endParaRPr lang="es-DO" sz="1200" dirty="0" smtClean="0">
              <a:solidFill>
                <a:schemeClr val="bg1"/>
              </a:solidFill>
            </a:endParaRPr>
          </a:p>
          <a:p>
            <a:r>
              <a:rPr lang="es-DO" sz="1200" dirty="0" smtClean="0">
                <a:solidFill>
                  <a:schemeClr val="bg1"/>
                </a:solidFill>
              </a:rPr>
              <a:t>Esto se traduce a: 69 &gt;= 72</a:t>
            </a:r>
          </a:p>
          <a:p>
            <a:endParaRPr lang="es-DO" sz="1200" dirty="0" smtClean="0">
              <a:solidFill>
                <a:schemeClr val="bg1"/>
              </a:solidFill>
            </a:endParaRPr>
          </a:p>
          <a:p>
            <a:r>
              <a:rPr lang="es-DO" sz="1200" dirty="0" smtClean="0">
                <a:solidFill>
                  <a:schemeClr val="bg1"/>
                </a:solidFill>
              </a:rPr>
              <a:t>Lo cual da como resultado: false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solidFill>
                  <a:schemeClr val="bg1">
                    <a:lumMod val="50000"/>
                  </a:schemeClr>
                </a:solidFill>
              </a:rPr>
              <a:t>Strings: Concepto y declaración.</a:t>
            </a:r>
          </a:p>
          <a:p>
            <a:pPr marL="274320" lvl="1"/>
            <a:r>
              <a:rPr lang="es-DO" altLang="x-none" dirty="0" smtClean="0">
                <a:solidFill>
                  <a:schemeClr val="bg1">
                    <a:lumMod val="50000"/>
                  </a:schemeClr>
                </a:solidFill>
              </a:rPr>
              <a:t>Operadores de cadenas.</a:t>
            </a:r>
          </a:p>
          <a:p>
            <a:pPr marL="274320" lvl="1"/>
            <a:r>
              <a:rPr lang="es-DO" dirty="0" smtClean="0"/>
              <a:t>Recursos de string.</a:t>
            </a:r>
          </a:p>
          <a:p>
            <a:pPr marL="274320" lvl="1"/>
            <a:r>
              <a:rPr lang="es-DO" dirty="0" smtClean="0">
                <a:solidFill>
                  <a:schemeClr val="bg1">
                    <a:lumMod val="50000"/>
                  </a:schemeClr>
                </a:solidFill>
              </a:rPr>
              <a:t>Iteradores.</a:t>
            </a:r>
          </a:p>
          <a:p>
            <a:pPr marL="274320" lvl="1"/>
            <a:r>
              <a:rPr lang="es-DO" dirty="0" smtClean="0">
                <a:solidFill>
                  <a:schemeClr val="bg1">
                    <a:lumMod val="50000"/>
                  </a:schemeClr>
                </a:solidFill>
              </a:rPr>
              <a:t>Recursos de ctype.</a:t>
            </a:r>
          </a:p>
          <a:p>
            <a:pPr marL="274320" lvl="1"/>
            <a:r>
              <a:rPr lang="es-DO" dirty="0" smtClean="0">
                <a:solidFill>
                  <a:schemeClr val="bg1">
                    <a:lumMod val="50000"/>
                  </a:schemeClr>
                </a:solidFill>
              </a:rPr>
              <a:t>Estructuras: concepto y declaración.</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s-ES" dirty="0" smtClean="0"/>
              <a:t>Funciones de string</a:t>
            </a:r>
            <a:endParaRPr lang="es-DO" dirty="0" smtClean="0"/>
          </a:p>
        </p:txBody>
      </p:sp>
      <p:sp>
        <p:nvSpPr>
          <p:cNvPr id="3" name="Title 2"/>
          <p:cNvSpPr>
            <a:spLocks noGrp="1"/>
          </p:cNvSpPr>
          <p:nvPr>
            <p:ph type="title"/>
          </p:nvPr>
        </p:nvSpPr>
        <p:spPr/>
        <p:txBody>
          <a:bodyPr>
            <a:normAutofit/>
          </a:bodyPr>
          <a:lstStyle/>
          <a:p>
            <a:r>
              <a:rPr lang="es-DO" dirty="0" smtClean="0"/>
              <a:t>Recursos de string</a:t>
            </a:r>
            <a:endParaRPr lang="es-DO"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de string</a:t>
            </a:r>
            <a:endParaRPr lang="es-DO" dirty="0"/>
          </a:p>
        </p:txBody>
      </p:sp>
      <p:sp>
        <p:nvSpPr>
          <p:cNvPr id="3" name="Content Placeholder 2"/>
          <p:cNvSpPr>
            <a:spLocks noGrp="1"/>
          </p:cNvSpPr>
          <p:nvPr>
            <p:ph sz="quarter" idx="13"/>
          </p:nvPr>
        </p:nvSpPr>
        <p:spPr/>
        <p:txBody>
          <a:bodyPr>
            <a:normAutofit/>
          </a:bodyPr>
          <a:lstStyle/>
          <a:p>
            <a:r>
              <a:rPr lang="es-DO" sz="2400" dirty="0" smtClean="0"/>
              <a:t>Los recursos de string le brindan a las variables declaradas como tal, diversas funcionalidades que fortalecen su utilización en los programas</a:t>
            </a:r>
          </a:p>
          <a:p>
            <a:r>
              <a:rPr lang="es-DO" sz="2400" dirty="0" smtClean="0"/>
              <a:t>Existen diferentes tipos de recursos o funciones de string, es importante conocer algunos detalles sobre su forma de uso o invocación:</a:t>
            </a:r>
          </a:p>
        </p:txBody>
      </p:sp>
      <p:sp>
        <p:nvSpPr>
          <p:cNvPr id="4" name="Left Brace 3"/>
          <p:cNvSpPr/>
          <p:nvPr/>
        </p:nvSpPr>
        <p:spPr>
          <a:xfrm>
            <a:off x="1600200" y="4572000"/>
            <a:ext cx="381000" cy="1828800"/>
          </a:xfrm>
          <a:prstGeom prst="leftBrace">
            <a:avLst/>
          </a:prstGeom>
          <a:noFill/>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ounded Rectangle 5"/>
          <p:cNvSpPr/>
          <p:nvPr/>
        </p:nvSpPr>
        <p:spPr>
          <a:xfrm>
            <a:off x="1981200" y="4612575"/>
            <a:ext cx="990600" cy="381000"/>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bg1"/>
                </a:solidFill>
              </a:rPr>
              <a:t>Retorna valor</a:t>
            </a:r>
            <a:endParaRPr lang="en-US" sz="1000" dirty="0">
              <a:solidFill>
                <a:schemeClr val="bg1"/>
              </a:solidFill>
            </a:endParaRPr>
          </a:p>
        </p:txBody>
      </p:sp>
      <p:sp>
        <p:nvSpPr>
          <p:cNvPr id="7" name="Rounded Rectangle 6"/>
          <p:cNvSpPr/>
          <p:nvPr/>
        </p:nvSpPr>
        <p:spPr>
          <a:xfrm>
            <a:off x="1981200" y="5950525"/>
            <a:ext cx="990600" cy="381000"/>
          </a:xfrm>
          <a:prstGeom prst="round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100" dirty="0" smtClean="0">
                <a:solidFill>
                  <a:schemeClr val="bg1"/>
                </a:solidFill>
              </a:rPr>
              <a:t>No retorna valor</a:t>
            </a:r>
            <a:endParaRPr lang="en-US" sz="1100" dirty="0">
              <a:solidFill>
                <a:schemeClr val="bg1"/>
              </a:solidFill>
            </a:endParaRPr>
          </a:p>
        </p:txBody>
      </p:sp>
      <p:sp>
        <p:nvSpPr>
          <p:cNvPr id="8" name="Rectangle 7"/>
          <p:cNvSpPr/>
          <p:nvPr/>
        </p:nvSpPr>
        <p:spPr>
          <a:xfrm>
            <a:off x="3581400" y="4343400"/>
            <a:ext cx="4648200" cy="990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1200" dirty="0" smtClean="0"/>
              <a:t>Esta forma de invocación amerita que el recurso sea utilizado dentro de una expresión o sentencia de forma que el valor retornado se vea involucrado en alguna operación (artimética, de relación, concatenación, como argumento en alguna sentencia, como argumento en la invocación de una función, etc.</a:t>
            </a:r>
            <a:endParaRPr lang="en-US" sz="1200" dirty="0"/>
          </a:p>
        </p:txBody>
      </p:sp>
      <p:sp>
        <p:nvSpPr>
          <p:cNvPr id="9" name="Rectangle 8"/>
          <p:cNvSpPr/>
          <p:nvPr/>
        </p:nvSpPr>
        <p:spPr>
          <a:xfrm>
            <a:off x="3581400" y="5562600"/>
            <a:ext cx="4648200" cy="990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200" dirty="0" smtClean="0"/>
              <a:t>Esta forma de invocación no requiere que el recurso sea utilizado dentro de una expresión, sino que por el contrario debe ser usado de forma independiente, como si fuese una sentencia del lenguaje la cual es colocada en una línea y finaliza con punto y coma (;)</a:t>
            </a:r>
            <a:endParaRPr lang="en-US" sz="1200" dirty="0"/>
          </a:p>
        </p:txBody>
      </p:sp>
      <p:sp>
        <p:nvSpPr>
          <p:cNvPr id="10" name="Not Equal 9"/>
          <p:cNvSpPr/>
          <p:nvPr/>
        </p:nvSpPr>
        <p:spPr>
          <a:xfrm>
            <a:off x="3048000" y="5991100"/>
            <a:ext cx="457200" cy="304800"/>
          </a:xfrm>
          <a:prstGeom prst="mathNotEqual">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Left Arrow 11"/>
          <p:cNvSpPr/>
          <p:nvPr/>
        </p:nvSpPr>
        <p:spPr>
          <a:xfrm>
            <a:off x="3088575" y="4700650"/>
            <a:ext cx="304800" cy="228600"/>
          </a:xfrm>
          <a:prstGeom prst="left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de string</a:t>
            </a:r>
            <a:endParaRPr lang="es-DO" dirty="0"/>
          </a:p>
        </p:txBody>
      </p:sp>
      <p:graphicFrame>
        <p:nvGraphicFramePr>
          <p:cNvPr id="11" name="Table 10"/>
          <p:cNvGraphicFramePr>
            <a:graphicFrameLocks noGrp="1"/>
          </p:cNvGraphicFramePr>
          <p:nvPr/>
        </p:nvGraphicFramePr>
        <p:xfrm>
          <a:off x="650175" y="2057400"/>
          <a:ext cx="7924800" cy="4178532"/>
        </p:xfrm>
        <a:graphic>
          <a:graphicData uri="http://schemas.openxmlformats.org/drawingml/2006/table">
            <a:tbl>
              <a:tblPr firstRow="1" bandRow="1">
                <a:tableStyleId>{5C22544A-7EE6-4342-B048-85BDC9FD1C3A}</a:tableStyleId>
              </a:tblPr>
              <a:tblGrid>
                <a:gridCol w="2093025"/>
                <a:gridCol w="5831775"/>
              </a:tblGrid>
              <a:tr h="315422">
                <a:tc>
                  <a:txBody>
                    <a:bodyPr/>
                    <a:lstStyle/>
                    <a:p>
                      <a:r>
                        <a:rPr lang="en-US" sz="1400" dirty="0" smtClean="0"/>
                        <a:t>Recurso</a:t>
                      </a:r>
                      <a:endParaRPr lang="en-US" sz="1400" dirty="0"/>
                    </a:p>
                  </a:txBody>
                  <a:tcPr/>
                </a:tc>
                <a:tc>
                  <a:txBody>
                    <a:bodyPr/>
                    <a:lstStyle/>
                    <a:p>
                      <a:r>
                        <a:rPr lang="en-US" sz="1400" dirty="0" smtClean="0"/>
                        <a:t>Descripción</a:t>
                      </a:r>
                      <a:endParaRPr lang="en-US" sz="1400" dirty="0"/>
                    </a:p>
                  </a:txBody>
                  <a:tcPr/>
                </a:tc>
              </a:tr>
              <a:tr h="315422">
                <a:tc>
                  <a:txBody>
                    <a:bodyPr/>
                    <a:lstStyle/>
                    <a:p>
                      <a:r>
                        <a:rPr lang="en-US" sz="1100" b="1" dirty="0" smtClean="0">
                          <a:latin typeface="Courier New" pitchFamily="49" charset="0"/>
                          <a:cs typeface="Courier New" pitchFamily="49" charset="0"/>
                        </a:rPr>
                        <a:t>at(i)</a:t>
                      </a:r>
                      <a:endParaRPr lang="en-US" sz="1100" b="1" dirty="0">
                        <a:latin typeface="Courier New" pitchFamily="49" charset="0"/>
                        <a:cs typeface="Courier New" pitchFamily="49" charset="0"/>
                      </a:endParaRPr>
                    </a:p>
                  </a:txBody>
                  <a:tcPr anchor="ctr"/>
                </a:tc>
                <a:tc>
                  <a:txBody>
                    <a:bodyPr/>
                    <a:lstStyle/>
                    <a:p>
                      <a:r>
                        <a:rPr lang="en-US" sz="1400" dirty="0" smtClean="0"/>
                        <a:t>Permite acceder al caracter ubicado en el índice </a:t>
                      </a:r>
                      <a:r>
                        <a:rPr lang="en-US" sz="1400" i="1" dirty="0" smtClean="0"/>
                        <a:t>i</a:t>
                      </a:r>
                      <a:endParaRPr lang="en-US" sz="1400" dirty="0"/>
                    </a:p>
                  </a:txBody>
                  <a:tcPr anchor="ctr"/>
                </a:tc>
              </a:tr>
              <a:tr h="315422">
                <a:tc>
                  <a:txBody>
                    <a:bodyPr/>
                    <a:lstStyle/>
                    <a:p>
                      <a:r>
                        <a:rPr lang="en-US" sz="1100" b="1" dirty="0" smtClean="0">
                          <a:latin typeface="Courier New" pitchFamily="49" charset="0"/>
                          <a:cs typeface="Courier New" pitchFamily="49" charset="0"/>
                        </a:rPr>
                        <a:t>size()</a:t>
                      </a:r>
                      <a:endParaRPr lang="en-US" sz="1100" b="1" dirty="0">
                        <a:latin typeface="Courier New" pitchFamily="49" charset="0"/>
                        <a:cs typeface="Courier New" pitchFamily="49" charset="0"/>
                      </a:endParaRPr>
                    </a:p>
                  </a:txBody>
                  <a:tcPr anchor="ctr"/>
                </a:tc>
                <a:tc>
                  <a:txBody>
                    <a:bodyPr/>
                    <a:lstStyle/>
                    <a:p>
                      <a:r>
                        <a:rPr lang="en-US" sz="1400" dirty="0" smtClean="0"/>
                        <a:t>Retorna el número de caracteres</a:t>
                      </a:r>
                      <a:r>
                        <a:rPr lang="en-US" sz="1400" baseline="0" dirty="0" smtClean="0"/>
                        <a:t> de la cadena</a:t>
                      </a:r>
                      <a:endParaRPr lang="en-US" sz="1400" dirty="0"/>
                    </a:p>
                  </a:txBody>
                  <a:tcPr anchor="ctr"/>
                </a:tc>
              </a:tr>
              <a:tr h="315422">
                <a:tc>
                  <a:txBody>
                    <a:bodyPr/>
                    <a:lstStyle/>
                    <a:p>
                      <a:r>
                        <a:rPr lang="en-US" sz="1100" b="1" dirty="0" smtClean="0">
                          <a:latin typeface="Courier New" pitchFamily="49" charset="0"/>
                          <a:cs typeface="Courier New" pitchFamily="49" charset="0"/>
                        </a:rPr>
                        <a:t>length()</a:t>
                      </a:r>
                      <a:endParaRPr lang="en-US" sz="1100" b="1" dirty="0">
                        <a:latin typeface="Courier New" pitchFamily="49" charset="0"/>
                        <a:cs typeface="Courier New" pitchFamily="49" charset="0"/>
                      </a:endParaRPr>
                    </a:p>
                  </a:txBody>
                  <a:tcPr anchor="ctr"/>
                </a:tc>
                <a:tc>
                  <a:txBody>
                    <a:bodyPr/>
                    <a:lstStyle/>
                    <a:p>
                      <a:r>
                        <a:rPr lang="en-US" sz="1400" dirty="0" smtClean="0"/>
                        <a:t>Retorna el número de caracteres de la cadena.</a:t>
                      </a:r>
                      <a:r>
                        <a:rPr lang="en-US" sz="1400" baseline="0" dirty="0" smtClean="0"/>
                        <a:t>  Sinónimo de size()</a:t>
                      </a:r>
                      <a:endParaRPr lang="en-US" sz="1400" dirty="0"/>
                    </a:p>
                  </a:txBody>
                  <a:tcPr anchor="ctr"/>
                </a:tc>
              </a:tr>
              <a:tr h="315422">
                <a:tc>
                  <a:txBody>
                    <a:bodyPr/>
                    <a:lstStyle/>
                    <a:p>
                      <a:r>
                        <a:rPr lang="en-US" sz="1100" b="1" dirty="0" smtClean="0">
                          <a:latin typeface="Courier New" pitchFamily="49" charset="0"/>
                          <a:cs typeface="Courier New" pitchFamily="49" charset="0"/>
                        </a:rPr>
                        <a:t>c_str()</a:t>
                      </a:r>
                      <a:endParaRPr lang="en-US" sz="1100" b="1" dirty="0">
                        <a:latin typeface="Courier New" pitchFamily="49" charset="0"/>
                        <a:cs typeface="Courier New" pitchFamily="49" charset="0"/>
                      </a:endParaRPr>
                    </a:p>
                  </a:txBody>
                  <a:tcPr anchor="ctr"/>
                </a:tc>
                <a:tc>
                  <a:txBody>
                    <a:bodyPr/>
                    <a:lstStyle/>
                    <a:p>
                      <a:r>
                        <a:rPr lang="en-US" sz="1400" dirty="0" smtClean="0"/>
                        <a:t>Retorna una cadena C-estilo (agrega un caracter nulo al final ‘\0’) de la cadena</a:t>
                      </a:r>
                      <a:r>
                        <a:rPr lang="en-US" sz="1400" baseline="0" dirty="0" smtClean="0"/>
                        <a:t> que invoca el recurso</a:t>
                      </a:r>
                      <a:endParaRPr lang="en-US" sz="1400" dirty="0"/>
                    </a:p>
                  </a:txBody>
                  <a:tcPr anchor="ctr"/>
                </a:tc>
              </a:tr>
              <a:tr h="315422">
                <a:tc>
                  <a:txBody>
                    <a:bodyPr/>
                    <a:lstStyle/>
                    <a:p>
                      <a:r>
                        <a:rPr lang="en-US" sz="1100" b="1" dirty="0" smtClean="0">
                          <a:latin typeface="Courier New" pitchFamily="49" charset="0"/>
                          <a:cs typeface="Courier New" pitchFamily="49" charset="0"/>
                        </a:rPr>
                        <a:t>empty()</a:t>
                      </a:r>
                      <a:endParaRPr lang="en-US" sz="1100" b="1" dirty="0">
                        <a:latin typeface="Courier New" pitchFamily="49" charset="0"/>
                        <a:cs typeface="Courier New" pitchFamily="49" charset="0"/>
                      </a:endParaRPr>
                    </a:p>
                  </a:txBody>
                  <a:tcPr anchor="ctr"/>
                </a:tc>
                <a:tc>
                  <a:txBody>
                    <a:bodyPr/>
                    <a:lstStyle/>
                    <a:p>
                      <a:r>
                        <a:rPr lang="en-US" sz="1400" dirty="0" smtClean="0"/>
                        <a:t>Retorna </a:t>
                      </a:r>
                      <a:r>
                        <a:rPr lang="en-US" sz="1400" i="1" dirty="0" smtClean="0"/>
                        <a:t>1 (true) </a:t>
                      </a:r>
                      <a:r>
                        <a:rPr lang="en-US" sz="1400" i="0" baseline="0" dirty="0" smtClean="0"/>
                        <a:t>si la cadena que invoca el recurso está vacía, de lo contrario, si tiene caracteres, retorna </a:t>
                      </a:r>
                      <a:r>
                        <a:rPr lang="en-US" sz="1400" i="1" baseline="0" dirty="0" smtClean="0"/>
                        <a:t>cero (false)</a:t>
                      </a:r>
                      <a:endParaRPr lang="en-US" sz="1400" i="1" dirty="0"/>
                    </a:p>
                  </a:txBody>
                  <a:tcPr anchor="ctr"/>
                </a:tc>
              </a:tr>
              <a:tr h="315422">
                <a:tc>
                  <a:txBody>
                    <a:bodyPr/>
                    <a:lstStyle/>
                    <a:p>
                      <a:r>
                        <a:rPr lang="en-US" sz="1100" b="1" dirty="0" smtClean="0">
                          <a:latin typeface="Courier New" pitchFamily="49" charset="0"/>
                          <a:cs typeface="Courier New" pitchFamily="49" charset="0"/>
                        </a:rPr>
                        <a:t>erase(i, n)</a:t>
                      </a:r>
                      <a:endParaRPr lang="en-US" sz="1100" b="1" dirty="0">
                        <a:latin typeface="Courier New" pitchFamily="49" charset="0"/>
                        <a:cs typeface="Courier New" pitchFamily="49" charset="0"/>
                      </a:endParaRPr>
                    </a:p>
                  </a:txBody>
                  <a:tcPr anchor="ctr"/>
                </a:tc>
                <a:tc>
                  <a:txBody>
                    <a:bodyPr/>
                    <a:lstStyle/>
                    <a:p>
                      <a:r>
                        <a:rPr lang="en-US" sz="1400" dirty="0" smtClean="0"/>
                        <a:t>Remueve</a:t>
                      </a:r>
                      <a:r>
                        <a:rPr lang="en-US" sz="1400" baseline="0" dirty="0" smtClean="0"/>
                        <a:t> </a:t>
                      </a:r>
                      <a:r>
                        <a:rPr lang="en-US" sz="1400" i="1" baseline="0" dirty="0" smtClean="0"/>
                        <a:t>n</a:t>
                      </a:r>
                      <a:r>
                        <a:rPr lang="en-US" sz="1400" i="0" baseline="0" dirty="0" smtClean="0"/>
                        <a:t> caracteres de la cadena iniciando en el índice </a:t>
                      </a:r>
                      <a:r>
                        <a:rPr lang="en-US" sz="1400" i="1" baseline="0" dirty="0" smtClean="0"/>
                        <a:t>i</a:t>
                      </a:r>
                      <a:endParaRPr lang="en-US" sz="1400" dirty="0"/>
                    </a:p>
                  </a:txBody>
                  <a:tcPr anchor="ctr"/>
                </a:tc>
              </a:tr>
              <a:tr h="315422">
                <a:tc>
                  <a:txBody>
                    <a:bodyPr/>
                    <a:lstStyle/>
                    <a:p>
                      <a:r>
                        <a:rPr lang="en-US" sz="1100" b="1" dirty="0" smtClean="0">
                          <a:latin typeface="Courier New" pitchFamily="49" charset="0"/>
                          <a:cs typeface="Courier New" pitchFamily="49" charset="0"/>
                        </a:rPr>
                        <a:t>substr(i, n)</a:t>
                      </a:r>
                      <a:endParaRPr lang="en-US" sz="1100" b="1" dirty="0">
                        <a:latin typeface="Courier New" pitchFamily="49" charset="0"/>
                        <a:cs typeface="Courier New" pitchFamily="49" charset="0"/>
                      </a:endParaRPr>
                    </a:p>
                  </a:txBody>
                  <a:tcPr anchor="ctr"/>
                </a:tc>
                <a:tc>
                  <a:txBody>
                    <a:bodyPr/>
                    <a:lstStyle/>
                    <a:p>
                      <a:r>
                        <a:rPr lang="en-US" sz="1400" dirty="0" smtClean="0"/>
                        <a:t>Retorna</a:t>
                      </a:r>
                      <a:r>
                        <a:rPr lang="en-US" sz="1400" baseline="0" dirty="0" smtClean="0"/>
                        <a:t> una copia de una subcadena formada por </a:t>
                      </a:r>
                      <a:r>
                        <a:rPr lang="en-US" sz="1400" i="1" baseline="0" dirty="0" smtClean="0"/>
                        <a:t>n </a:t>
                      </a:r>
                      <a:r>
                        <a:rPr lang="en-US" sz="1400" i="0" baseline="0" dirty="0" smtClean="0"/>
                        <a:t>caracteres tomados de la </a:t>
                      </a:r>
                      <a:r>
                        <a:rPr lang="en-US" sz="1400" i="1" baseline="0" dirty="0" smtClean="0"/>
                        <a:t>cadena que invoca el recurso,</a:t>
                      </a:r>
                      <a:r>
                        <a:rPr lang="en-US" sz="1400" i="0" baseline="0" dirty="0" smtClean="0"/>
                        <a:t> iniciando en el índice </a:t>
                      </a:r>
                      <a:r>
                        <a:rPr lang="en-US" sz="1400" i="1" baseline="0" dirty="0" smtClean="0"/>
                        <a:t>i</a:t>
                      </a:r>
                      <a:r>
                        <a:rPr lang="en-US" sz="1400" i="0" baseline="0" dirty="0" smtClean="0"/>
                        <a:t>; si </a:t>
                      </a:r>
                      <a:r>
                        <a:rPr lang="en-US" sz="1400" i="1" baseline="0" dirty="0" smtClean="0"/>
                        <a:t>n </a:t>
                      </a:r>
                      <a:r>
                        <a:rPr lang="en-US" sz="1400" i="0" baseline="0" dirty="0" smtClean="0"/>
                        <a:t>es muy grande o es omitido, los caracteres son copiados hasta el final de la </a:t>
                      </a:r>
                      <a:r>
                        <a:rPr lang="en-US" sz="1400" i="1" baseline="0" dirty="0" smtClean="0"/>
                        <a:t>cadena</a:t>
                      </a:r>
                      <a:endParaRPr lang="en-US" sz="1400" dirty="0"/>
                    </a:p>
                  </a:txBody>
                  <a:tcPr anchor="ctr"/>
                </a:tc>
              </a:tr>
              <a:tr h="315422">
                <a:tc>
                  <a:txBody>
                    <a:bodyPr/>
                    <a:lstStyle/>
                    <a:p>
                      <a:r>
                        <a:rPr lang="en-US" sz="1100" b="1" dirty="0" smtClean="0">
                          <a:latin typeface="Courier New" pitchFamily="49" charset="0"/>
                          <a:cs typeface="Courier New" pitchFamily="49" charset="0"/>
                        </a:rPr>
                        <a:t>clear()</a:t>
                      </a:r>
                      <a:endParaRPr lang="en-US" sz="1100" b="1" dirty="0">
                        <a:latin typeface="Courier New" pitchFamily="49" charset="0"/>
                        <a:cs typeface="Courier New" pitchFamily="49" charset="0"/>
                      </a:endParaRPr>
                    </a:p>
                  </a:txBody>
                  <a:tcPr anchor="ctr"/>
                </a:tc>
                <a:tc>
                  <a:txBody>
                    <a:bodyPr/>
                    <a:lstStyle/>
                    <a:p>
                      <a:r>
                        <a:rPr lang="en-US" sz="1400" dirty="0" smtClean="0"/>
                        <a:t>Remueve todos los caracteres de la cadena dejándola vacía</a:t>
                      </a:r>
                      <a:endParaRPr lang="en-US" sz="1400" dirty="0"/>
                    </a:p>
                  </a:txBody>
                  <a:tcPr anchor="ctr"/>
                </a:tc>
              </a:tr>
              <a:tr h="315422">
                <a:tc>
                  <a:txBody>
                    <a:bodyPr/>
                    <a:lstStyle/>
                    <a:p>
                      <a:r>
                        <a:rPr lang="en-US" sz="1100" b="1" dirty="0" smtClean="0">
                          <a:latin typeface="Courier New" pitchFamily="49" charset="0"/>
                          <a:cs typeface="Courier New" pitchFamily="49" charset="0"/>
                        </a:rPr>
                        <a:t>insert(i, str)</a:t>
                      </a:r>
                    </a:p>
                    <a:p>
                      <a:r>
                        <a:rPr lang="en-US" sz="1100" b="1" dirty="0" smtClean="0">
                          <a:latin typeface="Courier New" pitchFamily="49" charset="0"/>
                          <a:cs typeface="Courier New" pitchFamily="49" charset="0"/>
                        </a:rPr>
                        <a:t>insert(iter, c)</a:t>
                      </a:r>
                      <a:endParaRPr lang="en-US" sz="1100" b="1" dirty="0">
                        <a:latin typeface="Courier New" pitchFamily="49" charset="0"/>
                        <a:cs typeface="Courier New" pitchFamily="49" charset="0"/>
                      </a:endParaRPr>
                    </a:p>
                  </a:txBody>
                  <a:tcPr anchor="ctr"/>
                </a:tc>
                <a:tc>
                  <a:txBody>
                    <a:bodyPr/>
                    <a:lstStyle/>
                    <a:p>
                      <a:r>
                        <a:rPr lang="en-US" sz="1400" dirty="0" smtClean="0"/>
                        <a:t>Inserta la cadena </a:t>
                      </a:r>
                      <a:r>
                        <a:rPr lang="en-US" sz="1400" i="1" dirty="0" smtClean="0"/>
                        <a:t>str</a:t>
                      </a:r>
                      <a:r>
                        <a:rPr lang="en-US" sz="1400" i="0" dirty="0" smtClean="0"/>
                        <a:t> a partir de la posición indicada</a:t>
                      </a:r>
                      <a:r>
                        <a:rPr lang="en-US" sz="1400" i="0" baseline="0" dirty="0" smtClean="0"/>
                        <a:t> en el índice I</a:t>
                      </a:r>
                    </a:p>
                    <a:p>
                      <a:r>
                        <a:rPr lang="en-US" sz="1400" i="0" baseline="0" dirty="0" smtClean="0"/>
                        <a:t>Inserta el caracter </a:t>
                      </a:r>
                      <a:r>
                        <a:rPr lang="en-US" sz="1400" i="1" baseline="0" dirty="0" smtClean="0"/>
                        <a:t>c </a:t>
                      </a:r>
                      <a:r>
                        <a:rPr lang="en-US" sz="1400" i="0" baseline="0" dirty="0" smtClean="0"/>
                        <a:t>a partir de la posición indicada por el iterador </a:t>
                      </a:r>
                      <a:r>
                        <a:rPr lang="en-US" sz="1400" i="1" baseline="0" dirty="0" smtClean="0"/>
                        <a:t>iter</a:t>
                      </a:r>
                      <a:endParaRPr lang="en-US" sz="1400" dirty="0"/>
                    </a:p>
                  </a:txBody>
                  <a:tcPr anchor="ct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de string</a:t>
            </a:r>
            <a:endParaRPr lang="es-DO" dirty="0"/>
          </a:p>
        </p:txBody>
      </p:sp>
      <p:graphicFrame>
        <p:nvGraphicFramePr>
          <p:cNvPr id="11" name="Table 10"/>
          <p:cNvGraphicFramePr>
            <a:graphicFrameLocks noGrp="1"/>
          </p:cNvGraphicFramePr>
          <p:nvPr/>
        </p:nvGraphicFramePr>
        <p:xfrm>
          <a:off x="650175" y="2063864"/>
          <a:ext cx="7924800" cy="3221644"/>
        </p:xfrm>
        <a:graphic>
          <a:graphicData uri="http://schemas.openxmlformats.org/drawingml/2006/table">
            <a:tbl>
              <a:tblPr firstRow="1" bandRow="1">
                <a:tableStyleId>{5C22544A-7EE6-4342-B048-85BDC9FD1C3A}</a:tableStyleId>
              </a:tblPr>
              <a:tblGrid>
                <a:gridCol w="2093025"/>
                <a:gridCol w="5831775"/>
              </a:tblGrid>
              <a:tr h="315422">
                <a:tc>
                  <a:txBody>
                    <a:bodyPr/>
                    <a:lstStyle/>
                    <a:p>
                      <a:r>
                        <a:rPr lang="en-US" sz="1400" dirty="0" smtClean="0"/>
                        <a:t>Recurso</a:t>
                      </a:r>
                      <a:endParaRPr lang="en-US" sz="1400" dirty="0"/>
                    </a:p>
                  </a:txBody>
                  <a:tcPr/>
                </a:tc>
                <a:tc>
                  <a:txBody>
                    <a:bodyPr/>
                    <a:lstStyle/>
                    <a:p>
                      <a:r>
                        <a:rPr lang="en-US" sz="1400" dirty="0" smtClean="0"/>
                        <a:t>Descripción</a:t>
                      </a:r>
                      <a:endParaRPr lang="en-US" sz="1400" dirty="0"/>
                    </a:p>
                  </a:txBody>
                  <a:tcPr/>
                </a:tc>
              </a:tr>
              <a:tr h="315422">
                <a:tc>
                  <a:txBody>
                    <a:bodyPr/>
                    <a:lstStyle/>
                    <a:p>
                      <a:r>
                        <a:rPr lang="en-US" sz="1100" b="1" dirty="0" smtClean="0">
                          <a:latin typeface="Courier New" pitchFamily="49" charset="0"/>
                          <a:cs typeface="Courier New" pitchFamily="49" charset="0"/>
                        </a:rPr>
                        <a:t>begin()</a:t>
                      </a:r>
                      <a:endParaRPr lang="en-US" sz="1100" b="1" dirty="0">
                        <a:latin typeface="Courier New" pitchFamily="49" charset="0"/>
                        <a:cs typeface="Courier New" pitchFamily="49" charset="0"/>
                      </a:endParaRPr>
                    </a:p>
                  </a:txBody>
                  <a:tcPr anchor="ctr"/>
                </a:tc>
                <a:tc>
                  <a:txBody>
                    <a:bodyPr/>
                    <a:lstStyle/>
                    <a:p>
                      <a:r>
                        <a:rPr lang="en-US" sz="1400" dirty="0" smtClean="0"/>
                        <a:t>Retorna</a:t>
                      </a:r>
                      <a:r>
                        <a:rPr lang="en-US" sz="1400" baseline="0" dirty="0" smtClean="0"/>
                        <a:t> un iterador apuntando al primer caracter de la cadena</a:t>
                      </a:r>
                      <a:endParaRPr lang="en-US" sz="1400" dirty="0"/>
                    </a:p>
                  </a:txBody>
                  <a:tcPr anchor="ctr"/>
                </a:tc>
              </a:tr>
              <a:tr h="315422">
                <a:tc>
                  <a:txBody>
                    <a:bodyPr/>
                    <a:lstStyle/>
                    <a:p>
                      <a:r>
                        <a:rPr lang="en-US" sz="1100" b="1" dirty="0" smtClean="0">
                          <a:latin typeface="Courier New" pitchFamily="49" charset="0"/>
                          <a:cs typeface="Courier New" pitchFamily="49" charset="0"/>
                        </a:rPr>
                        <a:t>end()</a:t>
                      </a:r>
                      <a:endParaRPr lang="en-US" sz="1100" b="1" dirty="0">
                        <a:latin typeface="Courier New" pitchFamily="49" charset="0"/>
                        <a:cs typeface="Courier New" pitchFamily="49" charset="0"/>
                      </a:endParaRPr>
                    </a:p>
                  </a:txBody>
                  <a:tcPr anchor="ctr"/>
                </a:tc>
                <a:tc>
                  <a:txBody>
                    <a:bodyPr/>
                    <a:lstStyle/>
                    <a:p>
                      <a:r>
                        <a:rPr lang="en-US" sz="1400" dirty="0" smtClean="0"/>
                        <a:t>Retorna un iterador apuntando a</a:t>
                      </a:r>
                      <a:r>
                        <a:rPr lang="en-US" sz="1400" baseline="0" dirty="0" smtClean="0"/>
                        <a:t> la posición después del fin de la cadena (posición N + 1)</a:t>
                      </a:r>
                      <a:endParaRPr lang="en-US" sz="1400" dirty="0"/>
                    </a:p>
                  </a:txBody>
                  <a:tcPr anchor="ctr"/>
                </a:tc>
              </a:tr>
              <a:tr h="315422">
                <a:tc>
                  <a:txBody>
                    <a:bodyPr/>
                    <a:lstStyle/>
                    <a:p>
                      <a:r>
                        <a:rPr lang="en-US" sz="1100" b="1" dirty="0" smtClean="0">
                          <a:latin typeface="Courier New" pitchFamily="49" charset="0"/>
                          <a:cs typeface="Courier New" pitchFamily="49" charset="0"/>
                        </a:rPr>
                        <a:t>replace(it1, it2, str)</a:t>
                      </a:r>
                      <a:endParaRPr lang="en-US" sz="1100" b="1" dirty="0">
                        <a:latin typeface="Courier New" pitchFamily="49" charset="0"/>
                        <a:cs typeface="Courier New" pitchFamily="49" charset="0"/>
                      </a:endParaRPr>
                    </a:p>
                  </a:txBody>
                  <a:tcPr anchor="ctr"/>
                </a:tc>
                <a:tc>
                  <a:txBody>
                    <a:bodyPr/>
                    <a:lstStyle/>
                    <a:p>
                      <a:r>
                        <a:rPr lang="en-US" sz="1400" dirty="0" smtClean="0"/>
                        <a:t>Reemplaza la porción de la</a:t>
                      </a:r>
                      <a:r>
                        <a:rPr lang="en-US" sz="1400" baseline="0" dirty="0" smtClean="0"/>
                        <a:t> cadena en el rango especificado por los iteradores </a:t>
                      </a:r>
                      <a:r>
                        <a:rPr lang="en-US" sz="1400" i="1" baseline="0" dirty="0" smtClean="0"/>
                        <a:t>it1 </a:t>
                      </a:r>
                      <a:r>
                        <a:rPr lang="en-US" sz="1400" i="0" baseline="0" dirty="0" smtClean="0"/>
                        <a:t>e </a:t>
                      </a:r>
                      <a:r>
                        <a:rPr lang="en-US" sz="1400" i="1" baseline="0" dirty="0" smtClean="0"/>
                        <a:t>it2</a:t>
                      </a:r>
                      <a:r>
                        <a:rPr lang="en-US" sz="1400" i="0" baseline="0" dirty="0" smtClean="0"/>
                        <a:t>, por la cadena contenida en </a:t>
                      </a:r>
                      <a:r>
                        <a:rPr lang="en-US" sz="1400" i="1" baseline="0" dirty="0" smtClean="0"/>
                        <a:t>str</a:t>
                      </a:r>
                      <a:endParaRPr lang="en-US" sz="1400" dirty="0"/>
                    </a:p>
                  </a:txBody>
                  <a:tcPr anchor="ctr"/>
                </a:tc>
              </a:tr>
              <a:tr h="315422">
                <a:tc>
                  <a:txBody>
                    <a:bodyPr/>
                    <a:lstStyle/>
                    <a:p>
                      <a:r>
                        <a:rPr lang="en-US" sz="1100" b="1" dirty="0" smtClean="0">
                          <a:latin typeface="Courier New" pitchFamily="49" charset="0"/>
                          <a:cs typeface="Courier New" pitchFamily="49" charset="0"/>
                        </a:rPr>
                        <a:t>append(str)</a:t>
                      </a:r>
                      <a:endParaRPr lang="en-US" sz="1100" b="1" dirty="0">
                        <a:latin typeface="Courier New" pitchFamily="49" charset="0"/>
                        <a:cs typeface="Courier New" pitchFamily="49" charset="0"/>
                      </a:endParaRPr>
                    </a:p>
                  </a:txBody>
                  <a:tcPr anchor="ctr"/>
                </a:tc>
                <a:tc>
                  <a:txBody>
                    <a:bodyPr/>
                    <a:lstStyle/>
                    <a:p>
                      <a:r>
                        <a:rPr lang="en-US" sz="1400" dirty="0" smtClean="0"/>
                        <a:t>Extiende la cadena mediante la adición</a:t>
                      </a:r>
                      <a:r>
                        <a:rPr lang="en-US" sz="1400" baseline="0" dirty="0" smtClean="0"/>
                        <a:t> de nuevos caracteres especificados en </a:t>
                      </a:r>
                      <a:r>
                        <a:rPr lang="en-US" sz="1400" i="1" baseline="0" dirty="0" smtClean="0"/>
                        <a:t>str</a:t>
                      </a:r>
                      <a:r>
                        <a:rPr lang="en-US" sz="1400" i="0" baseline="0" dirty="0" smtClean="0"/>
                        <a:t> (agrega una cadena al final de la cadena que invoca el recurso)</a:t>
                      </a:r>
                      <a:endParaRPr lang="en-US" sz="1400" dirty="0"/>
                    </a:p>
                  </a:txBody>
                  <a:tcPr anchor="ctr"/>
                </a:tc>
              </a:tr>
              <a:tr h="315422">
                <a:tc>
                  <a:txBody>
                    <a:bodyPr/>
                    <a:lstStyle/>
                    <a:p>
                      <a:r>
                        <a:rPr lang="en-US" sz="1100" b="1" dirty="0" smtClean="0">
                          <a:latin typeface="Courier New" pitchFamily="49" charset="0"/>
                          <a:cs typeface="Courier New" pitchFamily="49" charset="0"/>
                        </a:rPr>
                        <a:t>swap(str)</a:t>
                      </a:r>
                      <a:endParaRPr lang="en-US" sz="1100" b="1" dirty="0">
                        <a:latin typeface="Courier New" pitchFamily="49" charset="0"/>
                        <a:cs typeface="Courier New" pitchFamily="49" charset="0"/>
                      </a:endParaRPr>
                    </a:p>
                  </a:txBody>
                  <a:tcPr anchor="ctr"/>
                </a:tc>
                <a:tc>
                  <a:txBody>
                    <a:bodyPr/>
                    <a:lstStyle/>
                    <a:p>
                      <a:r>
                        <a:rPr lang="en-US" sz="1400" dirty="0" smtClean="0"/>
                        <a:t>Intercambia el valor de la cadena especificada en </a:t>
                      </a:r>
                      <a:r>
                        <a:rPr lang="en-US" sz="1400" i="1" dirty="0" smtClean="0"/>
                        <a:t>str </a:t>
                      </a:r>
                      <a:r>
                        <a:rPr lang="en-US" sz="1400" i="0" dirty="0" smtClean="0"/>
                        <a:t>por el valor de la cadena que invoca la función</a:t>
                      </a:r>
                      <a:endParaRPr lang="en-US" sz="1400" dirty="0"/>
                    </a:p>
                  </a:txBody>
                  <a:tcPr anchor="ctr"/>
                </a:tc>
              </a:tr>
              <a:tr h="315422">
                <a:tc>
                  <a:txBody>
                    <a:bodyPr/>
                    <a:lstStyle/>
                    <a:p>
                      <a:r>
                        <a:rPr lang="en-US" sz="1100" b="1" dirty="0" smtClean="0">
                          <a:latin typeface="Courier New" pitchFamily="49" charset="0"/>
                          <a:cs typeface="Courier New" pitchFamily="49" charset="0"/>
                        </a:rPr>
                        <a:t>find(str)</a:t>
                      </a:r>
                      <a:endParaRPr lang="en-US" sz="1100" b="1" dirty="0">
                        <a:latin typeface="Courier New" pitchFamily="49" charset="0"/>
                        <a:cs typeface="Courier New" pitchFamily="49" charset="0"/>
                      </a:endParaRPr>
                    </a:p>
                  </a:txBody>
                  <a:tcPr anchor="ctr"/>
                </a:tc>
                <a:tc>
                  <a:txBody>
                    <a:bodyPr/>
                    <a:lstStyle/>
                    <a:p>
                      <a:r>
                        <a:rPr lang="en-US" sz="1400" dirty="0" smtClean="0"/>
                        <a:t>Retorna el</a:t>
                      </a:r>
                      <a:r>
                        <a:rPr lang="en-US" sz="1400" baseline="0" dirty="0" smtClean="0"/>
                        <a:t> indice (posicion) de la primera ocurrencia del string </a:t>
                      </a:r>
                      <a:r>
                        <a:rPr lang="en-US" sz="1400" i="1" baseline="0" dirty="0" smtClean="0"/>
                        <a:t>str</a:t>
                      </a:r>
                      <a:r>
                        <a:rPr lang="en-US" sz="1400" i="0" baseline="0" dirty="0" smtClean="0"/>
                        <a:t>.  Si no existe coincidencia, entonces </a:t>
                      </a:r>
                      <a:r>
                        <a:rPr lang="en-US" sz="1400" i="1" baseline="0" dirty="0" smtClean="0"/>
                        <a:t>find</a:t>
                      </a:r>
                      <a:r>
                        <a:rPr lang="en-US" sz="1400" i="0" baseline="0" dirty="0" smtClean="0"/>
                        <a:t> retorna el valor </a:t>
                      </a:r>
                      <a:r>
                        <a:rPr lang="en-US" sz="1400" i="1" baseline="0" dirty="0" smtClean="0"/>
                        <a:t>string::npos</a:t>
                      </a:r>
                      <a:endParaRPr lang="en-US" sz="1400" i="1" dirty="0"/>
                    </a:p>
                  </a:txBody>
                  <a:tcPr anchor="ctr"/>
                </a:tc>
              </a:tr>
            </a:tbl>
          </a:graphicData>
        </a:graphic>
      </p:graphicFrame>
      <p:sp>
        <p:nvSpPr>
          <p:cNvPr id="4" name="Content Placeholder 2"/>
          <p:cNvSpPr>
            <a:spLocks noGrp="1"/>
          </p:cNvSpPr>
          <p:nvPr>
            <p:ph sz="quarter" idx="13"/>
          </p:nvPr>
        </p:nvSpPr>
        <p:spPr>
          <a:xfrm>
            <a:off x="609600" y="5410200"/>
            <a:ext cx="8153400" cy="1219200"/>
          </a:xfrm>
        </p:spPr>
        <p:txBody>
          <a:bodyPr>
            <a:noAutofit/>
          </a:bodyPr>
          <a:lstStyle/>
          <a:p>
            <a:r>
              <a:rPr lang="es-DO" sz="1600" dirty="0" smtClean="0"/>
              <a:t>Es importante notar que existen más funciones o recursos de string y que los aquí mencionados tienen implementaciones adicionales las cuales agregan otras formas de uso.  A continuación veremos varios ejemplos con estos recursos, le invitamos a visitar </a:t>
            </a:r>
            <a:r>
              <a:rPr lang="es-DO" sz="1600" dirty="0" smtClean="0">
                <a:hlinkClick r:id="rId2"/>
              </a:rPr>
              <a:t>http://cplusplus.com</a:t>
            </a:r>
            <a:r>
              <a:rPr lang="es-DO" sz="1600" dirty="0" smtClean="0"/>
              <a:t> donde podrá encontrar una rica referencia sobre la librería string y sus funciones</a:t>
            </a:r>
            <a:endParaRPr lang="es-DO" sz="14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¿Cómo invocamos un recurso?</a:t>
            </a:r>
            <a:endParaRPr lang="es-DO" dirty="0"/>
          </a:p>
        </p:txBody>
      </p:sp>
      <p:sp>
        <p:nvSpPr>
          <p:cNvPr id="3" name="Content Placeholder 2"/>
          <p:cNvSpPr>
            <a:spLocks noGrp="1"/>
          </p:cNvSpPr>
          <p:nvPr>
            <p:ph sz="quarter" idx="13"/>
          </p:nvPr>
        </p:nvSpPr>
        <p:spPr/>
        <p:txBody>
          <a:bodyPr>
            <a:normAutofit/>
          </a:bodyPr>
          <a:lstStyle/>
          <a:p>
            <a:r>
              <a:rPr lang="es-DO" sz="2400" dirty="0" smtClean="0"/>
              <a:t>Para invocar una función o recurso de string utilizamos el punto para separar la variable string de la función</a:t>
            </a:r>
          </a:p>
          <a:p>
            <a:endParaRPr lang="es-DO" sz="2400" dirty="0" smtClean="0"/>
          </a:p>
          <a:p>
            <a:endParaRPr lang="es-DO" sz="1800" dirty="0" smtClean="0"/>
          </a:p>
          <a:p>
            <a:endParaRPr lang="es-DO" sz="1600" dirty="0" smtClean="0"/>
          </a:p>
          <a:p>
            <a:endParaRPr lang="es-DO" sz="2400" dirty="0" smtClean="0"/>
          </a:p>
          <a:p>
            <a:pPr>
              <a:buNone/>
            </a:pPr>
            <a:r>
              <a:rPr lang="es-DO" sz="2400" dirty="0" smtClean="0"/>
              <a:t>			</a:t>
            </a:r>
            <a:r>
              <a:rPr lang="es-DO" sz="2400" b="1" dirty="0" smtClean="0">
                <a:latin typeface="Courier New" pitchFamily="49" charset="0"/>
                <a:cs typeface="Courier New" pitchFamily="49" charset="0"/>
              </a:rPr>
              <a:t>id_cadena.recurso(</a:t>
            </a:r>
            <a:r>
              <a:rPr lang="es-DO" sz="2400" b="1" noProof="1" smtClean="0">
                <a:latin typeface="Courier New" pitchFamily="49" charset="0"/>
                <a:cs typeface="Courier New" pitchFamily="49" charset="0"/>
              </a:rPr>
              <a:t>args</a:t>
            </a:r>
            <a:r>
              <a:rPr lang="es-DO" sz="2400" b="1" dirty="0" smtClean="0">
                <a:latin typeface="Courier New" pitchFamily="49" charset="0"/>
                <a:cs typeface="Courier New" pitchFamily="49" charset="0"/>
              </a:rPr>
              <a:t>);</a:t>
            </a:r>
          </a:p>
        </p:txBody>
      </p:sp>
      <p:sp>
        <p:nvSpPr>
          <p:cNvPr id="11" name="Rounded Rectangular Callout 10"/>
          <p:cNvSpPr/>
          <p:nvPr/>
        </p:nvSpPr>
        <p:spPr>
          <a:xfrm>
            <a:off x="1600200" y="4953000"/>
            <a:ext cx="1828800" cy="609600"/>
          </a:xfrm>
          <a:prstGeom prst="wedgeRoundRectCallout">
            <a:avLst>
              <a:gd name="adj1" fmla="val 33163"/>
              <a:gd name="adj2" fmla="val -90617"/>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Nombre de la variable tipo string</a:t>
            </a:r>
            <a:endParaRPr lang="en-US" sz="1600" dirty="0"/>
          </a:p>
        </p:txBody>
      </p:sp>
      <p:sp>
        <p:nvSpPr>
          <p:cNvPr id="13" name="Rounded Rectangular Callout 12"/>
          <p:cNvSpPr/>
          <p:nvPr/>
        </p:nvSpPr>
        <p:spPr>
          <a:xfrm>
            <a:off x="4876800" y="4953000"/>
            <a:ext cx="1828800" cy="609600"/>
          </a:xfrm>
          <a:prstGeom prst="wedgeRoundRectCallout">
            <a:avLst>
              <a:gd name="adj1" fmla="val -34370"/>
              <a:gd name="adj2" fmla="val -9256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Nombre del recurso o función</a:t>
            </a:r>
            <a:endParaRPr lang="en-US" sz="1600" dirty="0"/>
          </a:p>
        </p:txBody>
      </p:sp>
      <p:sp>
        <p:nvSpPr>
          <p:cNvPr id="15" name="Rounded Rectangular Callout 14"/>
          <p:cNvSpPr/>
          <p:nvPr/>
        </p:nvSpPr>
        <p:spPr>
          <a:xfrm>
            <a:off x="3733800" y="3124200"/>
            <a:ext cx="1371600" cy="914400"/>
          </a:xfrm>
          <a:prstGeom prst="wedgeRoundRectCallout">
            <a:avLst>
              <a:gd name="adj1" fmla="val -13041"/>
              <a:gd name="adj2" fmla="val 85877"/>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smtClean="0"/>
              <a:t>Operador de acceso al recurso</a:t>
            </a:r>
            <a:endParaRPr lang="en-US" sz="1600" dirty="0"/>
          </a:p>
        </p:txBody>
      </p:sp>
      <p:sp>
        <p:nvSpPr>
          <p:cNvPr id="16" name="Rounded Rectangular Callout 15"/>
          <p:cNvSpPr/>
          <p:nvPr/>
        </p:nvSpPr>
        <p:spPr>
          <a:xfrm>
            <a:off x="5791200" y="3064825"/>
            <a:ext cx="2286000" cy="914400"/>
          </a:xfrm>
          <a:prstGeom prst="wedgeRoundRectCallout">
            <a:avLst>
              <a:gd name="adj1" fmla="val -31772"/>
              <a:gd name="adj2" fmla="val 85807"/>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smtClean="0"/>
              <a:t>Listado de argumentos de la función si son requeridos</a:t>
            </a:r>
            <a:endParaRPr lang="en-US" sz="16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Ejemplos de recursos de string</a:t>
            </a:r>
            <a:endParaRPr lang="es-DO" dirty="0"/>
          </a:p>
        </p:txBody>
      </p:sp>
      <p:pic>
        <p:nvPicPr>
          <p:cNvPr id="1026" name="Picture 2"/>
          <p:cNvPicPr>
            <a:picLocks noChangeAspect="1" noChangeArrowheads="1"/>
          </p:cNvPicPr>
          <p:nvPr/>
        </p:nvPicPr>
        <p:blipFill>
          <a:blip r:embed="rId2" cstate="print"/>
          <a:srcRect/>
          <a:stretch>
            <a:fillRect/>
          </a:stretch>
        </p:blipFill>
        <p:spPr bwMode="auto">
          <a:xfrm>
            <a:off x="609600" y="1905000"/>
            <a:ext cx="5819775" cy="4371975"/>
          </a:xfrm>
          <a:prstGeom prst="rect">
            <a:avLst/>
          </a:prstGeom>
          <a:noFill/>
          <a:ln w="9525">
            <a:noFill/>
            <a:miter lim="800000"/>
            <a:headEnd/>
            <a:tailEnd/>
          </a:ln>
          <a:effectLst/>
        </p:spPr>
      </p:pic>
      <p:sp>
        <p:nvSpPr>
          <p:cNvPr id="5" name="Rectangle 4"/>
          <p:cNvSpPr/>
          <p:nvPr/>
        </p:nvSpPr>
        <p:spPr>
          <a:xfrm>
            <a:off x="6553200" y="1981200"/>
            <a:ext cx="2209800" cy="2057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100" dirty="0" smtClean="0"/>
              <a:t>En este ejemplo vemos el uso de algunas funciones de string así como también de funciones </a:t>
            </a:r>
            <a:r>
              <a:rPr lang="es-DO" sz="1100" i="1" dirty="0" smtClean="0"/>
              <a:t>ctype</a:t>
            </a:r>
            <a:r>
              <a:rPr lang="es-DO" sz="1100" dirty="0" smtClean="0"/>
              <a:t> como es el caso de </a:t>
            </a:r>
            <a:r>
              <a:rPr lang="es-DO" sz="1100" i="1" dirty="0" smtClean="0"/>
              <a:t>toupper</a:t>
            </a:r>
            <a:r>
              <a:rPr lang="es-DO" sz="1100" dirty="0" smtClean="0"/>
              <a:t> para retornar el equivalente de la letra en mayúscula, este tipo de funciones la veremos en detalle mas adelante.  Examine este código, le invitamos a utilizar los archivos fuentes provistos en este material, cámbielo y experimente con el programa.</a:t>
            </a:r>
            <a:endParaRPr lang="es-DO" sz="1100" dirty="0"/>
          </a:p>
        </p:txBody>
      </p:sp>
      <p:pic>
        <p:nvPicPr>
          <p:cNvPr id="1027" name="Picture 3"/>
          <p:cNvPicPr>
            <a:picLocks noChangeAspect="1" noChangeArrowheads="1"/>
          </p:cNvPicPr>
          <p:nvPr/>
        </p:nvPicPr>
        <p:blipFill>
          <a:blip r:embed="rId3" cstate="print"/>
          <a:srcRect/>
          <a:stretch>
            <a:fillRect/>
          </a:stretch>
        </p:blipFill>
        <p:spPr bwMode="auto">
          <a:xfrm>
            <a:off x="4953000" y="4343400"/>
            <a:ext cx="3810000" cy="22395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Ejemplos de recursos de string</a:t>
            </a:r>
            <a:endParaRPr lang="es-DO" dirty="0"/>
          </a:p>
        </p:txBody>
      </p:sp>
      <p:sp>
        <p:nvSpPr>
          <p:cNvPr id="5" name="Rectangle 4"/>
          <p:cNvSpPr/>
          <p:nvPr/>
        </p:nvSpPr>
        <p:spPr>
          <a:xfrm>
            <a:off x="6324600" y="1981200"/>
            <a:ext cx="2438400" cy="4495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100" dirty="0" smtClean="0"/>
              <a:t>El recurso o función </a:t>
            </a:r>
            <a:r>
              <a:rPr lang="es-DO" sz="1100" b="1" i="1" dirty="0" smtClean="0"/>
              <a:t>find</a:t>
            </a:r>
          </a:p>
          <a:p>
            <a:endParaRPr lang="es-DO" sz="1100" b="1" i="1" dirty="0" smtClean="0"/>
          </a:p>
          <a:p>
            <a:r>
              <a:rPr lang="es-DO" sz="1100" dirty="0" smtClean="0"/>
              <a:t>En este ejemplo hacemos uso de la función </a:t>
            </a:r>
            <a:r>
              <a:rPr lang="es-DO" sz="1100" i="1" dirty="0" smtClean="0"/>
              <a:t>find</a:t>
            </a:r>
            <a:r>
              <a:rPr lang="es-DO" sz="1100" dirty="0" smtClean="0"/>
              <a:t> para buscar la cantidad de ocurrencias de un caracter leído por teclado en la cadena </a:t>
            </a:r>
            <a:r>
              <a:rPr lang="es-DO" sz="1100" i="1" dirty="0" smtClean="0"/>
              <a:t>msj</a:t>
            </a:r>
            <a:r>
              <a:rPr lang="es-DO" sz="1100" dirty="0" smtClean="0"/>
              <a:t>.</a:t>
            </a:r>
          </a:p>
          <a:p>
            <a:endParaRPr lang="es-DO" sz="1100" dirty="0" smtClean="0"/>
          </a:p>
          <a:p>
            <a:r>
              <a:rPr lang="es-DO" sz="1100" dirty="0" smtClean="0"/>
              <a:t>Observe que hacemos uso de un ciclo </a:t>
            </a:r>
            <a:r>
              <a:rPr lang="es-DO" sz="1100" i="1" dirty="0" smtClean="0"/>
              <a:t>while </a:t>
            </a:r>
            <a:r>
              <a:rPr lang="es-DO" sz="1100" dirty="0" smtClean="0"/>
              <a:t>para evaluar si todavía existen mas ocurrencias del caracter buscado (cuando </a:t>
            </a:r>
            <a:r>
              <a:rPr lang="es-DO" sz="1100" i="1" dirty="0" smtClean="0"/>
              <a:t>find </a:t>
            </a:r>
            <a:r>
              <a:rPr lang="es-DO" sz="1100" dirty="0" smtClean="0"/>
              <a:t>no retorna </a:t>
            </a:r>
            <a:r>
              <a:rPr lang="es-DO" sz="1100" i="1" dirty="0" smtClean="0"/>
              <a:t>string::npos</a:t>
            </a:r>
            <a:r>
              <a:rPr lang="es-DO" sz="1100" dirty="0" smtClean="0"/>
              <a:t>) y que la posición mas uno sea menor que el tamaño de la cadena evaluada.</a:t>
            </a:r>
          </a:p>
          <a:p>
            <a:endParaRPr lang="es-DO" sz="1100" dirty="0" smtClean="0"/>
          </a:p>
          <a:p>
            <a:r>
              <a:rPr lang="es-DO" sz="1100" dirty="0" smtClean="0"/>
              <a:t>Cada vez que el ciclo itera o ejecuta las sentencias que componen su cuerpo, sumamos uno al contador </a:t>
            </a:r>
            <a:r>
              <a:rPr lang="es-DO" sz="1100" i="1" dirty="0" smtClean="0"/>
              <a:t>cnt</a:t>
            </a:r>
            <a:r>
              <a:rPr lang="es-DO" sz="1100" dirty="0" smtClean="0"/>
              <a:t> y ejecutamos nuevamente la función </a:t>
            </a:r>
            <a:r>
              <a:rPr lang="es-DO" sz="1100" i="1" dirty="0" smtClean="0"/>
              <a:t>find</a:t>
            </a:r>
            <a:r>
              <a:rPr lang="es-DO" sz="1100" dirty="0" smtClean="0"/>
              <a:t> para determinar si existe otro caracter en la cadena </a:t>
            </a:r>
            <a:r>
              <a:rPr lang="es-DO" sz="1100" i="1" dirty="0" smtClean="0"/>
              <a:t>msj.</a:t>
            </a:r>
          </a:p>
          <a:p>
            <a:endParaRPr lang="es-DO" sz="1100" i="1" dirty="0" smtClean="0"/>
          </a:p>
          <a:p>
            <a:r>
              <a:rPr lang="es-DO" sz="1100" dirty="0" smtClean="0"/>
              <a:t>Anímese a compilar el código de este programa, ejecútelo y realice diversas pruebas, trate de hacer sus propios cambios, uno que busque por palabras por ejemplo.</a:t>
            </a:r>
            <a:endParaRPr lang="es-DO" sz="1100" dirty="0"/>
          </a:p>
        </p:txBody>
      </p:sp>
      <p:pic>
        <p:nvPicPr>
          <p:cNvPr id="2050" name="Picture 2"/>
          <p:cNvPicPr>
            <a:picLocks noChangeAspect="1" noChangeArrowheads="1"/>
          </p:cNvPicPr>
          <p:nvPr/>
        </p:nvPicPr>
        <p:blipFill>
          <a:blip r:embed="rId2" cstate="print"/>
          <a:srcRect/>
          <a:stretch>
            <a:fillRect/>
          </a:stretch>
        </p:blipFill>
        <p:spPr bwMode="auto">
          <a:xfrm>
            <a:off x="582304" y="1905000"/>
            <a:ext cx="5667375" cy="4371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solidFill>
                  <a:schemeClr val="bg1">
                    <a:lumMod val="50000"/>
                  </a:schemeClr>
                </a:solidFill>
              </a:rPr>
              <a:t>Strings: Concepto y declaración.</a:t>
            </a:r>
          </a:p>
          <a:p>
            <a:pPr marL="274320" lvl="1"/>
            <a:r>
              <a:rPr lang="es-DO" altLang="x-none" dirty="0" smtClean="0">
                <a:solidFill>
                  <a:schemeClr val="bg1">
                    <a:lumMod val="50000"/>
                  </a:schemeClr>
                </a:solidFill>
              </a:rPr>
              <a:t>Operadores de cadenas.</a:t>
            </a:r>
          </a:p>
          <a:p>
            <a:pPr marL="274320" lvl="1"/>
            <a:r>
              <a:rPr lang="es-DO" altLang="x-none" dirty="0" smtClean="0">
                <a:solidFill>
                  <a:schemeClr val="bg1">
                    <a:lumMod val="50000"/>
                  </a:schemeClr>
                </a:solidFill>
              </a:rPr>
              <a:t>Recursos de string.</a:t>
            </a:r>
          </a:p>
          <a:p>
            <a:pPr marL="274320" lvl="1"/>
            <a:r>
              <a:rPr lang="es-DO" dirty="0" smtClean="0"/>
              <a:t>Iteradores.</a:t>
            </a:r>
          </a:p>
          <a:p>
            <a:pPr marL="274320" lvl="1"/>
            <a:r>
              <a:rPr lang="es-DO" dirty="0" smtClean="0">
                <a:solidFill>
                  <a:schemeClr val="bg1">
                    <a:lumMod val="50000"/>
                  </a:schemeClr>
                </a:solidFill>
              </a:rPr>
              <a:t>Recursos de ctype.</a:t>
            </a:r>
          </a:p>
          <a:p>
            <a:pPr marL="274320" lvl="1"/>
            <a:r>
              <a:rPr lang="es-DO" dirty="0" smtClean="0">
                <a:solidFill>
                  <a:schemeClr val="bg1">
                    <a:lumMod val="50000"/>
                  </a:schemeClr>
                </a:solidFill>
              </a:rPr>
              <a:t>Estructuras: concepto y declaración.</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s-ES" dirty="0" smtClean="0"/>
              <a:t>Posiciones en un </a:t>
            </a:r>
            <a:r>
              <a:rPr lang="es-ES" dirty="0" err="1" smtClean="0"/>
              <a:t>string</a:t>
            </a:r>
            <a:endParaRPr lang="es-DO" dirty="0" smtClean="0"/>
          </a:p>
        </p:txBody>
      </p:sp>
      <p:sp>
        <p:nvSpPr>
          <p:cNvPr id="3" name="Title 2"/>
          <p:cNvSpPr>
            <a:spLocks noGrp="1"/>
          </p:cNvSpPr>
          <p:nvPr>
            <p:ph type="title"/>
          </p:nvPr>
        </p:nvSpPr>
        <p:spPr/>
        <p:txBody>
          <a:bodyPr>
            <a:normAutofit/>
          </a:bodyPr>
          <a:lstStyle/>
          <a:p>
            <a:r>
              <a:rPr lang="es-DO" dirty="0" smtClean="0"/>
              <a:t>Iteradores</a:t>
            </a:r>
            <a:endParaRPr lang="es-DO"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a:t>
            </a:r>
            <a:endParaRPr lang="es-DO" dirty="0"/>
          </a:p>
        </p:txBody>
      </p:sp>
      <p:sp>
        <p:nvSpPr>
          <p:cNvPr id="3" name="Content Placeholder 2"/>
          <p:cNvSpPr>
            <a:spLocks noGrp="1"/>
          </p:cNvSpPr>
          <p:nvPr>
            <p:ph sz="quarter" idx="13"/>
          </p:nvPr>
        </p:nvSpPr>
        <p:spPr/>
        <p:txBody>
          <a:bodyPr>
            <a:normAutofit/>
          </a:bodyPr>
          <a:lstStyle/>
          <a:p>
            <a:r>
              <a:rPr lang="es-DO" sz="2400" dirty="0" smtClean="0"/>
              <a:t>Un iterador es un medio que apunta a los elementos de una colección, uno a la vez, que permite el recorrido de esta, sin tener en cuenta su implementación especifica</a:t>
            </a:r>
          </a:p>
          <a:p>
            <a:r>
              <a:rPr lang="es-DO" sz="2400" dirty="0" smtClean="0"/>
              <a:t>Un iterador nos permite navegar a través de los caracteres que componen una cadena (string) usando un tipo especial de variable (string::iterator) para referir una posición especifica de la misma</a:t>
            </a:r>
          </a:p>
          <a:p>
            <a:r>
              <a:rPr lang="es-DO" sz="2400" dirty="0" smtClean="0"/>
              <a:t>En la librería de C++ existen muchas funciones que requieren el uso de iteradores ya sea como argumentos para invocar la función o por que la función misma retorna algún tipo de iterador, es importante conocer como operarlos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a:t>
            </a:r>
            <a:endParaRPr lang="es-DO" dirty="0"/>
          </a:p>
        </p:txBody>
      </p:sp>
      <p:sp>
        <p:nvSpPr>
          <p:cNvPr id="3" name="Content Placeholder 2"/>
          <p:cNvSpPr>
            <a:spLocks noGrp="1"/>
          </p:cNvSpPr>
          <p:nvPr>
            <p:ph sz="quarter" idx="13"/>
          </p:nvPr>
        </p:nvSpPr>
        <p:spPr/>
        <p:txBody>
          <a:bodyPr>
            <a:normAutofit/>
          </a:bodyPr>
          <a:lstStyle/>
          <a:p>
            <a:r>
              <a:rPr lang="es-DO" sz="2400" dirty="0" smtClean="0"/>
              <a:t>En C++, un iterador de un </a:t>
            </a:r>
            <a:r>
              <a:rPr lang="es-DO" sz="1800" b="1" dirty="0" smtClean="0">
                <a:latin typeface="Courier New" pitchFamily="49" charset="0"/>
                <a:cs typeface="Courier New" pitchFamily="49" charset="0"/>
              </a:rPr>
              <a:t>&lt;string&gt; </a:t>
            </a:r>
            <a:r>
              <a:rPr lang="es-DO" sz="2400" dirty="0" smtClean="0"/>
              <a:t>es un medio para acceder a los elementos de la cadena, uno a la vez</a:t>
            </a:r>
          </a:p>
          <a:p>
            <a:r>
              <a:rPr lang="es-DO" sz="2400" dirty="0" smtClean="0"/>
              <a:t>Para declarar un iterador de </a:t>
            </a:r>
            <a:r>
              <a:rPr lang="es-DO" sz="1800" b="1" dirty="0" smtClean="0">
                <a:latin typeface="Courier New" pitchFamily="49" charset="0"/>
                <a:cs typeface="Courier New" pitchFamily="49" charset="0"/>
              </a:rPr>
              <a:t>&lt;string&gt; </a:t>
            </a:r>
            <a:r>
              <a:rPr lang="es-DO" sz="2400" dirty="0" smtClean="0"/>
              <a:t>la sintaxis es:</a:t>
            </a:r>
          </a:p>
          <a:p>
            <a:pPr>
              <a:buNone/>
            </a:pPr>
            <a:endParaRPr lang="es-DO" sz="2400" dirty="0" smtClean="0"/>
          </a:p>
          <a:p>
            <a:pPr>
              <a:buNone/>
            </a:pPr>
            <a:r>
              <a:rPr lang="es-DO" sz="2400" dirty="0" smtClean="0"/>
              <a:t>	</a:t>
            </a:r>
            <a:r>
              <a:rPr lang="es-DO" sz="2000" b="1" dirty="0" smtClean="0">
                <a:latin typeface="Courier New" pitchFamily="49" charset="0"/>
                <a:cs typeface="Courier New" pitchFamily="49" charset="0"/>
              </a:rPr>
              <a:t>string</a:t>
            </a:r>
            <a:r>
              <a:rPr lang="es-DO" sz="2000" dirty="0" smtClean="0">
                <a:latin typeface="Courier New" pitchFamily="49" charset="0"/>
                <a:cs typeface="Courier New" pitchFamily="49" charset="0"/>
              </a:rPr>
              <a:t>::</a:t>
            </a:r>
            <a:r>
              <a:rPr lang="es-DO" sz="2000" b="1" dirty="0" smtClean="0">
                <a:latin typeface="Courier New" pitchFamily="49" charset="0"/>
                <a:cs typeface="Courier New" pitchFamily="49" charset="0"/>
              </a:rPr>
              <a:t>iterator</a:t>
            </a:r>
            <a:r>
              <a:rPr lang="es-DO" sz="2000" dirty="0" smtClean="0">
                <a:latin typeface="Courier New" pitchFamily="49" charset="0"/>
                <a:cs typeface="Courier New" pitchFamily="49" charset="0"/>
              </a:rPr>
              <a:t> id;</a:t>
            </a:r>
            <a:endParaRPr lang="es-DO" sz="2400" dirty="0" smtClean="0">
              <a:latin typeface="Courier New" pitchFamily="49" charset="0"/>
              <a:cs typeface="Courier New" pitchFamily="49" charset="0"/>
            </a:endParaRPr>
          </a:p>
          <a:p>
            <a:pPr>
              <a:buNone/>
            </a:pPr>
            <a:endParaRPr lang="es-DO" sz="2400" dirty="0" smtClean="0"/>
          </a:p>
          <a:p>
            <a:r>
              <a:rPr lang="es-DO" sz="2400" b="1" i="1" dirty="0" smtClean="0"/>
              <a:t>id</a:t>
            </a:r>
            <a:r>
              <a:rPr lang="es-DO" sz="2400" dirty="0" smtClean="0"/>
              <a:t> es un identificador cualquiera (el nombre del iterador)</a:t>
            </a:r>
          </a:p>
          <a:p>
            <a:r>
              <a:rPr lang="es-DO" sz="2400" dirty="0" smtClean="0"/>
              <a:t>Al momento de hacer la declaración de un iterador lo podemos poner a apuntar al </a:t>
            </a:r>
            <a:r>
              <a:rPr lang="es-DO" sz="2400" dirty="0" smtClean="0">
                <a:solidFill>
                  <a:srgbClr val="0000FF"/>
                </a:solidFill>
              </a:rPr>
              <a:t>primer elemento </a:t>
            </a:r>
            <a:r>
              <a:rPr lang="es-DO" sz="2400" dirty="0" smtClean="0"/>
              <a:t>o a la posición que esta </a:t>
            </a:r>
            <a:r>
              <a:rPr lang="es-DO" sz="2400" dirty="0" smtClean="0">
                <a:solidFill>
                  <a:srgbClr val="0000FF"/>
                </a:solidFill>
              </a:rPr>
              <a:t>un elemento mas después del ultimo </a:t>
            </a:r>
            <a:r>
              <a:rPr lang="es-DO" sz="2400" dirty="0" smtClean="0"/>
              <a:t>en la cadena</a:t>
            </a:r>
          </a:p>
          <a:p>
            <a:pPr>
              <a:buNone/>
            </a:pPr>
            <a:endParaRPr lang="es-DO" sz="2400"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a:t>
            </a:r>
            <a:endParaRPr lang="es-DO" dirty="0"/>
          </a:p>
        </p:txBody>
      </p:sp>
      <p:sp>
        <p:nvSpPr>
          <p:cNvPr id="5" name="Rectangle 4"/>
          <p:cNvSpPr/>
          <p:nvPr/>
        </p:nvSpPr>
        <p:spPr>
          <a:xfrm>
            <a:off x="20574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V</a:t>
            </a:r>
            <a:endParaRPr lang="en-US" sz="2800" b="1" dirty="0">
              <a:solidFill>
                <a:schemeClr val="tx1">
                  <a:lumMod val="75000"/>
                  <a:lumOff val="25000"/>
                </a:schemeClr>
              </a:solidFill>
            </a:endParaRPr>
          </a:p>
        </p:txBody>
      </p:sp>
      <p:sp>
        <p:nvSpPr>
          <p:cNvPr id="6" name="Rectangle 5"/>
          <p:cNvSpPr/>
          <p:nvPr/>
        </p:nvSpPr>
        <p:spPr>
          <a:xfrm>
            <a:off x="27432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I</a:t>
            </a:r>
            <a:endParaRPr lang="en-US" sz="2800" b="1" dirty="0">
              <a:solidFill>
                <a:schemeClr val="tx1">
                  <a:lumMod val="75000"/>
                  <a:lumOff val="25000"/>
                </a:schemeClr>
              </a:solidFill>
            </a:endParaRPr>
          </a:p>
        </p:txBody>
      </p:sp>
      <p:sp>
        <p:nvSpPr>
          <p:cNvPr id="7" name="Rectangle 6"/>
          <p:cNvSpPr/>
          <p:nvPr/>
        </p:nvSpPr>
        <p:spPr>
          <a:xfrm>
            <a:off x="34290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S</a:t>
            </a:r>
            <a:endParaRPr lang="en-US" sz="2800" b="1" dirty="0">
              <a:solidFill>
                <a:schemeClr val="tx1">
                  <a:lumMod val="75000"/>
                  <a:lumOff val="25000"/>
                </a:schemeClr>
              </a:solidFill>
            </a:endParaRPr>
          </a:p>
        </p:txBody>
      </p:sp>
      <p:sp>
        <p:nvSpPr>
          <p:cNvPr id="8" name="Rectangle 7"/>
          <p:cNvSpPr/>
          <p:nvPr/>
        </p:nvSpPr>
        <p:spPr>
          <a:xfrm>
            <a:off x="41148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P</a:t>
            </a:r>
            <a:endParaRPr lang="en-US" sz="2800" b="1" dirty="0">
              <a:solidFill>
                <a:schemeClr val="tx1">
                  <a:lumMod val="75000"/>
                  <a:lumOff val="25000"/>
                </a:schemeClr>
              </a:solidFill>
            </a:endParaRPr>
          </a:p>
        </p:txBody>
      </p:sp>
      <p:sp>
        <p:nvSpPr>
          <p:cNvPr id="9" name="Rectangle 8"/>
          <p:cNvSpPr/>
          <p:nvPr/>
        </p:nvSpPr>
        <p:spPr>
          <a:xfrm>
            <a:off x="48006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E</a:t>
            </a:r>
            <a:endParaRPr lang="en-US" sz="2800" b="1" dirty="0">
              <a:solidFill>
                <a:schemeClr val="tx1">
                  <a:lumMod val="75000"/>
                  <a:lumOff val="25000"/>
                </a:schemeClr>
              </a:solidFill>
            </a:endParaRPr>
          </a:p>
        </p:txBody>
      </p:sp>
      <p:sp>
        <p:nvSpPr>
          <p:cNvPr id="10" name="Rectangle 9"/>
          <p:cNvSpPr/>
          <p:nvPr/>
        </p:nvSpPr>
        <p:spPr>
          <a:xfrm>
            <a:off x="54864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R</a:t>
            </a:r>
            <a:endParaRPr lang="en-US" sz="2800" b="1" dirty="0">
              <a:solidFill>
                <a:schemeClr val="tx1">
                  <a:lumMod val="75000"/>
                  <a:lumOff val="25000"/>
                </a:schemeClr>
              </a:solidFill>
            </a:endParaRPr>
          </a:p>
        </p:txBody>
      </p:sp>
      <p:sp>
        <p:nvSpPr>
          <p:cNvPr id="11" name="Rectangle 10"/>
          <p:cNvSpPr/>
          <p:nvPr/>
        </p:nvSpPr>
        <p:spPr>
          <a:xfrm>
            <a:off x="6172200" y="4267200"/>
            <a:ext cx="609600" cy="533400"/>
          </a:xfrm>
          <a:prstGeom prst="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lumMod val="75000"/>
                    <a:lumOff val="25000"/>
                  </a:schemeClr>
                </a:solidFill>
              </a:rPr>
              <a:t>A</a:t>
            </a:r>
            <a:endParaRPr lang="en-US" sz="2800" b="1" dirty="0">
              <a:solidFill>
                <a:schemeClr val="tx1">
                  <a:lumMod val="75000"/>
                  <a:lumOff val="25000"/>
                </a:schemeClr>
              </a:solidFill>
            </a:endParaRPr>
          </a:p>
        </p:txBody>
      </p:sp>
      <p:sp>
        <p:nvSpPr>
          <p:cNvPr id="12" name="Rectangle 11"/>
          <p:cNvSpPr/>
          <p:nvPr/>
        </p:nvSpPr>
        <p:spPr>
          <a:xfrm>
            <a:off x="1860699" y="2057400"/>
            <a:ext cx="990600" cy="45720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400" b="1" dirty="0" smtClean="0">
                <a:latin typeface="Courier New" pitchFamily="49" charset="0"/>
                <a:cs typeface="Courier New" pitchFamily="49" charset="0"/>
              </a:rPr>
              <a:t>begin()</a:t>
            </a:r>
            <a:endParaRPr lang="en-US" sz="1400" b="1" dirty="0">
              <a:latin typeface="Courier New" pitchFamily="49" charset="0"/>
              <a:cs typeface="Courier New" pitchFamily="49" charset="0"/>
            </a:endParaRPr>
          </a:p>
        </p:txBody>
      </p:sp>
      <p:sp>
        <p:nvSpPr>
          <p:cNvPr id="13" name="Rectangle 12"/>
          <p:cNvSpPr/>
          <p:nvPr/>
        </p:nvSpPr>
        <p:spPr>
          <a:xfrm>
            <a:off x="6498266" y="2057400"/>
            <a:ext cx="990600" cy="457200"/>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400" b="1" dirty="0" smtClean="0">
                <a:latin typeface="Courier New" pitchFamily="49" charset="0"/>
                <a:cs typeface="Courier New" pitchFamily="49" charset="0"/>
              </a:rPr>
              <a:t>end()</a:t>
            </a:r>
            <a:endParaRPr lang="en-US" sz="1400" b="1" dirty="0">
              <a:latin typeface="Courier New" pitchFamily="49" charset="0"/>
              <a:cs typeface="Courier New" pitchFamily="49" charset="0"/>
            </a:endParaRPr>
          </a:p>
        </p:txBody>
      </p:sp>
      <p:cxnSp>
        <p:nvCxnSpPr>
          <p:cNvPr id="15" name="Straight Arrow Connector 14"/>
          <p:cNvCxnSpPr>
            <a:stCxn id="12" idx="2"/>
            <a:endCxn id="5" idx="0"/>
          </p:cNvCxnSpPr>
          <p:nvPr/>
        </p:nvCxnSpPr>
        <p:spPr>
          <a:xfrm rot="16200000" flipH="1">
            <a:off x="1482799" y="3387799"/>
            <a:ext cx="1752600" cy="6201"/>
          </a:xfrm>
          <a:prstGeom prst="straightConnector1">
            <a:avLst/>
          </a:prstGeom>
          <a:ln w="2222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3" idx="2"/>
          </p:cNvCxnSpPr>
          <p:nvPr/>
        </p:nvCxnSpPr>
        <p:spPr>
          <a:xfrm rot="16200000" flipH="1">
            <a:off x="6049483" y="3458683"/>
            <a:ext cx="1905000" cy="16834"/>
          </a:xfrm>
          <a:prstGeom prst="straightConnector1">
            <a:avLst/>
          </a:prstGeom>
          <a:ln w="190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4" name="Right Arrow 23"/>
          <p:cNvSpPr/>
          <p:nvPr/>
        </p:nvSpPr>
        <p:spPr>
          <a:xfrm>
            <a:off x="2677633" y="3352800"/>
            <a:ext cx="3505200" cy="533400"/>
          </a:xfrm>
          <a:prstGeom prst="rightArrow">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75000"/>
                    <a:lumOff val="25000"/>
                  </a:schemeClr>
                </a:solidFill>
              </a:rPr>
              <a:t>--                                   ++</a:t>
            </a:r>
            <a:endParaRPr lang="en-US" dirty="0">
              <a:solidFill>
                <a:schemeClr val="tx1">
                  <a:lumMod val="75000"/>
                  <a:lumOff val="25000"/>
                </a:schemeClr>
              </a:solidFill>
            </a:endParaRPr>
          </a:p>
        </p:txBody>
      </p:sp>
      <p:sp>
        <p:nvSpPr>
          <p:cNvPr id="25" name="Rectangle 24"/>
          <p:cNvSpPr/>
          <p:nvPr/>
        </p:nvSpPr>
        <p:spPr>
          <a:xfrm>
            <a:off x="3886200" y="2743200"/>
            <a:ext cx="1066800" cy="4572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s-DO" sz="1400" b="1" dirty="0" smtClean="0">
                <a:latin typeface="Courier New" pitchFamily="49" charset="0"/>
                <a:cs typeface="Courier New" pitchFamily="49" charset="0"/>
              </a:rPr>
              <a:t>pos = 4</a:t>
            </a:r>
          </a:p>
        </p:txBody>
      </p:sp>
      <p:cxnSp>
        <p:nvCxnSpPr>
          <p:cNvPr id="27" name="Straight Arrow Connector 26"/>
          <p:cNvCxnSpPr>
            <a:stCxn id="25" idx="2"/>
            <a:endCxn id="8" idx="0"/>
          </p:cNvCxnSpPr>
          <p:nvPr/>
        </p:nvCxnSpPr>
        <p:spPr>
          <a:xfrm rot="5400000">
            <a:off x="3886200" y="3733800"/>
            <a:ext cx="1066800" cy="158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2068033" y="5029200"/>
            <a:ext cx="4724400" cy="304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b="1" dirty="0" smtClean="0">
                <a:latin typeface="Courier New" pitchFamily="49" charset="0"/>
                <a:ea typeface="Tahoma" pitchFamily="34" charset="0"/>
                <a:cs typeface="Courier New" pitchFamily="49" charset="0"/>
              </a:rPr>
              <a:t>string </a:t>
            </a:r>
            <a:r>
              <a:rPr lang="en-US" sz="1600" dirty="0" smtClean="0">
                <a:latin typeface="Courier New" pitchFamily="49" charset="0"/>
                <a:ea typeface="Tahoma" pitchFamily="34" charset="0"/>
                <a:cs typeface="Courier New" pitchFamily="49" charset="0"/>
              </a:rPr>
              <a:t>cadena</a:t>
            </a:r>
            <a:r>
              <a:rPr lang="en-US" sz="1600" b="1" dirty="0" smtClean="0">
                <a:latin typeface="Courier New" pitchFamily="49" charset="0"/>
                <a:ea typeface="Tahoma" pitchFamily="34" charset="0"/>
                <a:cs typeface="Courier New" pitchFamily="49" charset="0"/>
              </a:rPr>
              <a:t> = </a:t>
            </a:r>
            <a:r>
              <a:rPr lang="en-US" sz="1600" dirty="0" smtClean="0">
                <a:latin typeface="Courier New" pitchFamily="49" charset="0"/>
                <a:ea typeface="Tahoma" pitchFamily="34" charset="0"/>
                <a:cs typeface="Courier New" pitchFamily="49" charset="0"/>
              </a:rPr>
              <a:t>“VISPERA”</a:t>
            </a:r>
            <a:endParaRPr lang="en-US" sz="1600" dirty="0">
              <a:latin typeface="Courier New" pitchFamily="49" charset="0"/>
              <a:ea typeface="Tahoma" pitchFamily="34" charset="0"/>
              <a:cs typeface="Courier New" pitchFamily="49" charset="0"/>
            </a:endParaRPr>
          </a:p>
        </p:txBody>
      </p:sp>
      <p:sp>
        <p:nvSpPr>
          <p:cNvPr id="30" name="Rectangle 29"/>
          <p:cNvSpPr/>
          <p:nvPr/>
        </p:nvSpPr>
        <p:spPr>
          <a:xfrm>
            <a:off x="685800" y="5791200"/>
            <a:ext cx="2057400" cy="609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r>
              <a:rPr lang="es-DO" sz="1200" dirty="0" smtClean="0"/>
              <a:t>La función </a:t>
            </a:r>
            <a:r>
              <a:rPr lang="es-DO" sz="1200" b="1" i="1" dirty="0" smtClean="0"/>
              <a:t>begin() </a:t>
            </a:r>
            <a:r>
              <a:rPr lang="es-DO" sz="1200" dirty="0" smtClean="0"/>
              <a:t>retorna un iterador apuntando a la primera posición de la cadena</a:t>
            </a:r>
            <a:endParaRPr lang="es-DO" sz="1200" dirty="0"/>
          </a:p>
        </p:txBody>
      </p:sp>
      <p:sp>
        <p:nvSpPr>
          <p:cNvPr id="31" name="Flowchart: Connector 30"/>
          <p:cNvSpPr/>
          <p:nvPr/>
        </p:nvSpPr>
        <p:spPr>
          <a:xfrm>
            <a:off x="2264734"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1</a:t>
            </a:r>
            <a:endParaRPr lang="en-US" sz="1400" b="1" dirty="0"/>
          </a:p>
        </p:txBody>
      </p:sp>
      <p:sp>
        <p:nvSpPr>
          <p:cNvPr id="32" name="Flowchart: Connector 31"/>
          <p:cNvSpPr/>
          <p:nvPr/>
        </p:nvSpPr>
        <p:spPr>
          <a:xfrm>
            <a:off x="2938132"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2</a:t>
            </a:r>
            <a:endParaRPr lang="en-US" sz="1400" b="1" dirty="0"/>
          </a:p>
        </p:txBody>
      </p:sp>
      <p:sp>
        <p:nvSpPr>
          <p:cNvPr id="33" name="Flowchart: Connector 32"/>
          <p:cNvSpPr/>
          <p:nvPr/>
        </p:nvSpPr>
        <p:spPr>
          <a:xfrm>
            <a:off x="3636334"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3</a:t>
            </a:r>
            <a:endParaRPr lang="en-US" sz="1400" b="1" dirty="0"/>
          </a:p>
        </p:txBody>
      </p:sp>
      <p:sp>
        <p:nvSpPr>
          <p:cNvPr id="34" name="Flowchart: Connector 33"/>
          <p:cNvSpPr/>
          <p:nvPr/>
        </p:nvSpPr>
        <p:spPr>
          <a:xfrm>
            <a:off x="4311501"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4</a:t>
            </a:r>
            <a:endParaRPr lang="en-US" sz="1400" b="1" dirty="0"/>
          </a:p>
        </p:txBody>
      </p:sp>
      <p:sp>
        <p:nvSpPr>
          <p:cNvPr id="35" name="Flowchart: Connector 34"/>
          <p:cNvSpPr/>
          <p:nvPr/>
        </p:nvSpPr>
        <p:spPr>
          <a:xfrm>
            <a:off x="5018567"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5</a:t>
            </a:r>
            <a:endParaRPr lang="en-US" sz="1400" b="1" dirty="0"/>
          </a:p>
        </p:txBody>
      </p:sp>
      <p:sp>
        <p:nvSpPr>
          <p:cNvPr id="36" name="Flowchart: Connector 35"/>
          <p:cNvSpPr/>
          <p:nvPr/>
        </p:nvSpPr>
        <p:spPr>
          <a:xfrm>
            <a:off x="5693734"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6</a:t>
            </a:r>
            <a:endParaRPr lang="en-US" sz="1400" b="1" dirty="0"/>
          </a:p>
        </p:txBody>
      </p:sp>
      <p:sp>
        <p:nvSpPr>
          <p:cNvPr id="37" name="Flowchart: Connector 36"/>
          <p:cNvSpPr/>
          <p:nvPr/>
        </p:nvSpPr>
        <p:spPr>
          <a:xfrm>
            <a:off x="6390167" y="4724400"/>
            <a:ext cx="228600" cy="228600"/>
          </a:xfrm>
          <a:prstGeom prst="flowChartConnec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7</a:t>
            </a:r>
            <a:endParaRPr lang="en-US" sz="1400" b="1" dirty="0"/>
          </a:p>
        </p:txBody>
      </p:sp>
      <p:sp>
        <p:nvSpPr>
          <p:cNvPr id="38" name="Rectangle 37"/>
          <p:cNvSpPr/>
          <p:nvPr/>
        </p:nvSpPr>
        <p:spPr>
          <a:xfrm>
            <a:off x="6248400" y="5791200"/>
            <a:ext cx="2209800" cy="609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r>
              <a:rPr lang="es-DO" sz="1200" dirty="0" smtClean="0"/>
              <a:t>La función </a:t>
            </a:r>
            <a:r>
              <a:rPr lang="es-DO" sz="1200" b="1" i="1" dirty="0" smtClean="0"/>
              <a:t>end() </a:t>
            </a:r>
            <a:r>
              <a:rPr lang="es-DO" sz="1200" dirty="0" smtClean="0"/>
              <a:t>retorna un iterador apuntando a la posición luego de la ultima en la cadena</a:t>
            </a:r>
            <a:endParaRPr lang="es-DO" sz="1200" dirty="0"/>
          </a:p>
        </p:txBody>
      </p:sp>
      <p:cxnSp>
        <p:nvCxnSpPr>
          <p:cNvPr id="42" name="Straight Arrow Connector 41"/>
          <p:cNvCxnSpPr/>
          <p:nvPr/>
        </p:nvCxnSpPr>
        <p:spPr>
          <a:xfrm rot="5400000" flipH="1" flipV="1">
            <a:off x="1104900" y="4914900"/>
            <a:ext cx="914400" cy="838200"/>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8" idx="0"/>
          </p:cNvCxnSpPr>
          <p:nvPr/>
        </p:nvCxnSpPr>
        <p:spPr>
          <a:xfrm rot="16200000" flipV="1">
            <a:off x="6610350" y="5048250"/>
            <a:ext cx="1143000" cy="34290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Como declarar e inicializar un iterador</a:t>
            </a:r>
          </a:p>
          <a:p>
            <a:endParaRPr lang="es-DO" sz="2400" dirty="0" smtClean="0"/>
          </a:p>
          <a:p>
            <a:pPr>
              <a:buNone/>
            </a:pPr>
            <a:r>
              <a:rPr lang="es-DO" sz="2000" dirty="0" smtClean="0">
                <a:latin typeface="Courier New" pitchFamily="49" charset="0"/>
                <a:cs typeface="Courier New" pitchFamily="49" charset="0"/>
              </a:rPr>
              <a:t>	</a:t>
            </a:r>
            <a:r>
              <a:rPr lang="es-DO" sz="2000" b="1" dirty="0" smtClean="0">
                <a:latin typeface="Courier New" pitchFamily="49" charset="0"/>
                <a:cs typeface="Courier New" pitchFamily="49" charset="0"/>
              </a:rPr>
              <a:t>string</a:t>
            </a:r>
            <a:r>
              <a:rPr lang="es-DO" sz="2000" dirty="0" smtClean="0">
                <a:latin typeface="Courier New" pitchFamily="49" charset="0"/>
                <a:cs typeface="Courier New" pitchFamily="49" charset="0"/>
              </a:rPr>
              <a:t> cad = </a:t>
            </a:r>
            <a:r>
              <a:rPr lang="es-DO" sz="2000" dirty="0" smtClean="0">
                <a:solidFill>
                  <a:schemeClr val="tx1">
                    <a:lumMod val="75000"/>
                    <a:lumOff val="25000"/>
                  </a:schemeClr>
                </a:solidFill>
                <a:latin typeface="Courier New" pitchFamily="49" charset="0"/>
                <a:cs typeface="Courier New" pitchFamily="49" charset="0"/>
              </a:rPr>
              <a:t>“Esto es un ejemplo”</a:t>
            </a:r>
            <a:r>
              <a:rPr lang="es-DO" sz="2000" dirty="0" smtClean="0">
                <a:latin typeface="Courier New" pitchFamily="49" charset="0"/>
                <a:cs typeface="Courier New" pitchFamily="49" charset="0"/>
              </a:rPr>
              <a:t>;</a:t>
            </a:r>
          </a:p>
          <a:p>
            <a:pPr>
              <a:buNone/>
            </a:pPr>
            <a:r>
              <a:rPr lang="es-DO" sz="2400" dirty="0" smtClean="0"/>
              <a:t>	</a:t>
            </a:r>
          </a:p>
          <a:p>
            <a:pPr>
              <a:buNone/>
            </a:pPr>
            <a:r>
              <a:rPr lang="es-DO" sz="2400" b="1" dirty="0" smtClean="0">
                <a:latin typeface="Courier New" pitchFamily="49" charset="0"/>
                <a:cs typeface="Courier New" pitchFamily="49" charset="0"/>
              </a:rPr>
              <a:t>	</a:t>
            </a:r>
            <a:r>
              <a:rPr lang="es-DO" sz="2000" b="1" dirty="0" smtClean="0">
                <a:latin typeface="Courier New" pitchFamily="49" charset="0"/>
                <a:cs typeface="Courier New" pitchFamily="49" charset="0"/>
              </a:rPr>
              <a:t>string</a:t>
            </a:r>
            <a:r>
              <a:rPr lang="es-DO" sz="2000" dirty="0" smtClean="0">
                <a:latin typeface="Courier New" pitchFamily="49" charset="0"/>
                <a:cs typeface="Courier New" pitchFamily="49" charset="0"/>
              </a:rPr>
              <a:t>::</a:t>
            </a:r>
            <a:r>
              <a:rPr lang="es-DO" sz="2000" b="1" dirty="0" smtClean="0">
                <a:latin typeface="Courier New" pitchFamily="49" charset="0"/>
                <a:cs typeface="Courier New" pitchFamily="49" charset="0"/>
              </a:rPr>
              <a:t>iterator</a:t>
            </a:r>
            <a:r>
              <a:rPr lang="es-DO" sz="2000" dirty="0" smtClean="0">
                <a:latin typeface="Courier New" pitchFamily="49" charset="0"/>
                <a:cs typeface="Courier New" pitchFamily="49" charset="0"/>
              </a:rPr>
              <a:t> varIter;</a:t>
            </a:r>
          </a:p>
          <a:p>
            <a:pPr>
              <a:buNone/>
            </a:pPr>
            <a:r>
              <a:rPr lang="es-DO" sz="2000" dirty="0" smtClean="0">
                <a:latin typeface="Courier New" pitchFamily="49" charset="0"/>
                <a:cs typeface="Courier New" pitchFamily="49" charset="0"/>
              </a:rPr>
              <a:t>	varIter = cad.</a:t>
            </a:r>
            <a:r>
              <a:rPr lang="es-DO" sz="2000" b="1" dirty="0" smtClean="0">
                <a:latin typeface="Courier New" pitchFamily="49" charset="0"/>
                <a:cs typeface="Courier New" pitchFamily="49" charset="0"/>
              </a:rPr>
              <a:t>begin()</a:t>
            </a:r>
            <a:r>
              <a:rPr lang="es-DO" sz="2000" dirty="0" smtClean="0">
                <a:latin typeface="Courier New" pitchFamily="49" charset="0"/>
                <a:cs typeface="Courier New" pitchFamily="49" charset="0"/>
              </a:rPr>
              <a:t>;</a:t>
            </a:r>
          </a:p>
          <a:p>
            <a:pPr>
              <a:buNone/>
            </a:pPr>
            <a:endParaRPr lang="es-DO" sz="2000" dirty="0" smtClean="0">
              <a:latin typeface="Courier New" pitchFamily="49" charset="0"/>
              <a:cs typeface="Courier New" pitchFamily="49" charset="0"/>
            </a:endParaRPr>
          </a:p>
          <a:p>
            <a:pPr>
              <a:buNone/>
            </a:pPr>
            <a:endParaRPr lang="es-DO" sz="2000" dirty="0" smtClean="0">
              <a:latin typeface="Courier New" pitchFamily="49" charset="0"/>
              <a:cs typeface="Courier New" pitchFamily="49" charset="0"/>
            </a:endParaRPr>
          </a:p>
          <a:p>
            <a:pPr>
              <a:buNone/>
            </a:pPr>
            <a:endParaRPr lang="es-DO" sz="2000" dirty="0" smtClean="0">
              <a:latin typeface="Courier New" pitchFamily="49" charset="0"/>
              <a:cs typeface="Courier New" pitchFamily="49" charset="0"/>
            </a:endParaRPr>
          </a:p>
          <a:p>
            <a:pPr>
              <a:buNone/>
            </a:pPr>
            <a:r>
              <a:rPr lang="es-DO" sz="2000" dirty="0" smtClean="0">
                <a:latin typeface="Courier New" pitchFamily="49" charset="0"/>
                <a:cs typeface="Courier New" pitchFamily="49" charset="0"/>
              </a:rPr>
              <a:t>	</a:t>
            </a:r>
            <a:r>
              <a:rPr lang="es-DO" sz="2000" b="1" dirty="0" smtClean="0">
                <a:latin typeface="Courier New" pitchFamily="49" charset="0"/>
                <a:cs typeface="Courier New" pitchFamily="49" charset="0"/>
              </a:rPr>
              <a:t>string</a:t>
            </a:r>
            <a:r>
              <a:rPr lang="es-DO" sz="2000" dirty="0" smtClean="0">
                <a:latin typeface="Courier New" pitchFamily="49" charset="0"/>
                <a:cs typeface="Courier New" pitchFamily="49" charset="0"/>
              </a:rPr>
              <a:t>::</a:t>
            </a:r>
            <a:r>
              <a:rPr lang="es-DO" sz="2000" b="1" dirty="0" smtClean="0">
                <a:latin typeface="Courier New" pitchFamily="49" charset="0"/>
                <a:cs typeface="Courier New" pitchFamily="49" charset="0"/>
              </a:rPr>
              <a:t>iterator</a:t>
            </a:r>
            <a:r>
              <a:rPr lang="es-DO" sz="2000" dirty="0" smtClean="0">
                <a:latin typeface="Courier New" pitchFamily="49" charset="0"/>
                <a:cs typeface="Courier New" pitchFamily="49" charset="0"/>
              </a:rPr>
              <a:t> varIter = cad.</a:t>
            </a:r>
            <a:r>
              <a:rPr lang="es-DO" sz="2000" b="1" dirty="0" smtClean="0">
                <a:latin typeface="Courier New" pitchFamily="49" charset="0"/>
                <a:cs typeface="Courier New" pitchFamily="49" charset="0"/>
              </a:rPr>
              <a:t>begin()</a:t>
            </a:r>
            <a:r>
              <a:rPr lang="es-DO" sz="2000" dirty="0" smtClean="0">
                <a:latin typeface="Courier New" pitchFamily="49" charset="0"/>
                <a:cs typeface="Courier New" pitchFamily="49" charset="0"/>
              </a:rPr>
              <a:t>;</a:t>
            </a:r>
            <a:endParaRPr lang="es-DO" sz="2000" dirty="0">
              <a:latin typeface="Courier New" pitchFamily="49" charset="0"/>
              <a:cs typeface="Courier New" pitchFamily="49" charset="0"/>
            </a:endParaRPr>
          </a:p>
        </p:txBody>
      </p:sp>
      <p:sp>
        <p:nvSpPr>
          <p:cNvPr id="13" name="Rectangle 12"/>
          <p:cNvSpPr/>
          <p:nvPr/>
        </p:nvSpPr>
        <p:spPr>
          <a:xfrm>
            <a:off x="6705600" y="2438400"/>
            <a:ext cx="19050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Tomemos el string </a:t>
            </a:r>
            <a:r>
              <a:rPr lang="es-DO" sz="1200" b="1" i="1" dirty="0" smtClean="0"/>
              <a:t>cad</a:t>
            </a:r>
            <a:r>
              <a:rPr lang="es-DO" sz="1200" dirty="0" smtClean="0"/>
              <a:t> con el cual queremos utilizar un iterador para apuntar una posición dentro de la cadena</a:t>
            </a:r>
            <a:endParaRPr lang="es-DO" sz="1200" dirty="0"/>
          </a:p>
        </p:txBody>
      </p:sp>
      <p:sp>
        <p:nvSpPr>
          <p:cNvPr id="15" name="Rectangle 14"/>
          <p:cNvSpPr/>
          <p:nvPr/>
        </p:nvSpPr>
        <p:spPr>
          <a:xfrm>
            <a:off x="4953000" y="3505200"/>
            <a:ext cx="3657600" cy="16764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s-DO" sz="1200" dirty="0" smtClean="0"/>
              <a:t>Con la primera línea declaramos un iterador llamado </a:t>
            </a:r>
            <a:r>
              <a:rPr lang="es-DO" sz="1200" b="1" i="1" dirty="0" smtClean="0"/>
              <a:t>varIter</a:t>
            </a:r>
            <a:r>
              <a:rPr lang="es-DO" sz="1200" dirty="0" smtClean="0"/>
              <a:t> y con la segunda línea le damos el valor de la posición uno de la cadena </a:t>
            </a:r>
            <a:r>
              <a:rPr lang="es-DO" sz="1200" b="1" i="1" dirty="0" smtClean="0"/>
              <a:t>cad</a:t>
            </a:r>
            <a:r>
              <a:rPr lang="es-DO" sz="1200" i="1" dirty="0" smtClean="0"/>
              <a:t>.  </a:t>
            </a:r>
            <a:r>
              <a:rPr lang="es-DO" sz="1200" dirty="0" smtClean="0"/>
              <a:t>Note que debe existir previamente una variable </a:t>
            </a:r>
            <a:r>
              <a:rPr lang="es-DO" sz="1200" b="1" i="1" dirty="0" smtClean="0"/>
              <a:t>string</a:t>
            </a:r>
            <a:r>
              <a:rPr lang="es-DO" sz="1200" dirty="0" smtClean="0"/>
              <a:t> con algún valor para que nuestro iterador pueda ser utilizado como queremos.  Si la cadena solo fue declarada pero no tiene valor alguno, entonces nuestro iterador no tendrá una posición correcta.  Recuerde que la función </a:t>
            </a:r>
            <a:r>
              <a:rPr lang="es-DO" sz="1200" b="1" i="1" dirty="0" smtClean="0"/>
              <a:t>begin</a:t>
            </a:r>
            <a:r>
              <a:rPr lang="es-DO" sz="1200" dirty="0" smtClean="0"/>
              <a:t> retorna un iterador con la primera posición del </a:t>
            </a:r>
            <a:r>
              <a:rPr lang="es-DO" sz="1200" b="1" i="1" dirty="0" smtClean="0"/>
              <a:t>string</a:t>
            </a:r>
            <a:r>
              <a:rPr lang="es-DO" sz="1200" i="1" dirty="0" smtClean="0"/>
              <a:t>.</a:t>
            </a:r>
            <a:endParaRPr lang="es-DO" sz="1200" dirty="0"/>
          </a:p>
        </p:txBody>
      </p:sp>
      <p:sp>
        <p:nvSpPr>
          <p:cNvPr id="16" name="Rectangle 15"/>
          <p:cNvSpPr/>
          <p:nvPr/>
        </p:nvSpPr>
        <p:spPr>
          <a:xfrm>
            <a:off x="4953000" y="6096000"/>
            <a:ext cx="3657600" cy="609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s-DO" sz="1200" dirty="0" smtClean="0"/>
              <a:t>Otra forma es declara e inicializar el iterador en una misma línea de código.  Esto hace exactamente lo mismo a las dos líneas anteriores.</a:t>
            </a:r>
            <a:endParaRPr lang="es-DO" sz="1200" dirty="0"/>
          </a:p>
        </p:txBody>
      </p:sp>
      <p:cxnSp>
        <p:nvCxnSpPr>
          <p:cNvPr id="20" name="Straight Arrow Connector 19"/>
          <p:cNvCxnSpPr>
            <a:stCxn id="13" idx="1"/>
          </p:cNvCxnSpPr>
          <p:nvPr/>
        </p:nvCxnSpPr>
        <p:spPr>
          <a:xfrm rot="10800000">
            <a:off x="6248400" y="2895600"/>
            <a:ext cx="457200" cy="158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5" idx="1"/>
          </p:cNvCxnSpPr>
          <p:nvPr/>
        </p:nvCxnSpPr>
        <p:spPr>
          <a:xfrm rot="10800000">
            <a:off x="4495800" y="4114800"/>
            <a:ext cx="457200" cy="228600"/>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24" name="Straight Arrow Connector 23"/>
          <p:cNvCxnSpPr>
            <a:stCxn id="16" idx="1"/>
          </p:cNvCxnSpPr>
          <p:nvPr/>
        </p:nvCxnSpPr>
        <p:spPr>
          <a:xfrm rot="10800000">
            <a:off x="4267200" y="6019800"/>
            <a:ext cx="685800" cy="381000"/>
          </a:xfrm>
          <a:prstGeom prst="straightConnector1">
            <a:avLst/>
          </a:prstGeom>
          <a:ln w="12700">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Operaciones con los iteradores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Movernos de posición operando aritméticamente el iterador sumando y restando</a:t>
            </a:r>
          </a:p>
          <a:p>
            <a:r>
              <a:rPr lang="es-DO" sz="2400" dirty="0" smtClean="0"/>
              <a:t>Siendo el string pais = “Republica Dominicana”</a:t>
            </a:r>
          </a:p>
          <a:p>
            <a:pPr>
              <a:buNone/>
            </a:pPr>
            <a:r>
              <a:rPr lang="es-DO" sz="2400" dirty="0" smtClean="0"/>
              <a:t>	string::iterator ite = pais.</a:t>
            </a:r>
            <a:r>
              <a:rPr lang="es-DO" sz="2400" b="1" dirty="0" smtClean="0">
                <a:solidFill>
                  <a:srgbClr val="0000FF"/>
                </a:solidFill>
              </a:rPr>
              <a:t>begin()</a:t>
            </a:r>
            <a:r>
              <a:rPr lang="es-DO" sz="2400" dirty="0" smtClean="0"/>
              <a:t>;</a:t>
            </a:r>
          </a:p>
          <a:p>
            <a:pPr>
              <a:buNone/>
            </a:pPr>
            <a:r>
              <a:rPr lang="es-DO" sz="2400" dirty="0" smtClean="0"/>
              <a:t>	</a:t>
            </a:r>
          </a:p>
          <a:p>
            <a:pPr>
              <a:buNone/>
            </a:pPr>
            <a:r>
              <a:rPr lang="es-DO" sz="2400" dirty="0" smtClean="0"/>
              <a:t>	</a:t>
            </a:r>
          </a:p>
          <a:p>
            <a:endParaRPr lang="es-DO" sz="2400" dirty="0" smtClean="0"/>
          </a:p>
        </p:txBody>
      </p:sp>
      <p:graphicFrame>
        <p:nvGraphicFramePr>
          <p:cNvPr id="10" name="Table 9"/>
          <p:cNvGraphicFramePr>
            <a:graphicFrameLocks noGrp="1"/>
          </p:cNvGraphicFramePr>
          <p:nvPr/>
        </p:nvGraphicFramePr>
        <p:xfrm>
          <a:off x="1066800" y="3810000"/>
          <a:ext cx="7391400" cy="2225040"/>
        </p:xfrm>
        <a:graphic>
          <a:graphicData uri="http://schemas.openxmlformats.org/drawingml/2006/table">
            <a:tbl>
              <a:tblPr firstRow="1" bandRow="1">
                <a:tableStyleId>{5C22544A-7EE6-4342-B048-85BDC9FD1C3A}</a:tableStyleId>
              </a:tblPr>
              <a:tblGrid>
                <a:gridCol w="2463800"/>
                <a:gridCol w="2641600"/>
                <a:gridCol w="2286000"/>
              </a:tblGrid>
              <a:tr h="370840">
                <a:tc>
                  <a:txBody>
                    <a:bodyPr/>
                    <a:lstStyle/>
                    <a:p>
                      <a:r>
                        <a:rPr lang="es-DO" noProof="0" dirty="0" smtClean="0"/>
                        <a:t>Operación</a:t>
                      </a:r>
                      <a:endParaRPr lang="es-DO" noProof="0" dirty="0"/>
                    </a:p>
                  </a:txBody>
                  <a:tcPr/>
                </a:tc>
                <a:tc>
                  <a:txBody>
                    <a:bodyPr/>
                    <a:lstStyle/>
                    <a:p>
                      <a:r>
                        <a:rPr lang="es-DO" noProof="0" smtClean="0"/>
                        <a:t>Resultado</a:t>
                      </a:r>
                      <a:endParaRPr lang="es-DO" noProof="0"/>
                    </a:p>
                  </a:txBody>
                  <a:tcPr/>
                </a:tc>
                <a:tc>
                  <a:txBody>
                    <a:bodyPr/>
                    <a:lstStyle/>
                    <a:p>
                      <a:pPr algn="ctr"/>
                      <a:r>
                        <a:rPr lang="es-DO" noProof="0" dirty="0" smtClean="0"/>
                        <a:t>Posición / Elemento</a:t>
                      </a:r>
                      <a:endParaRPr lang="es-DO" noProof="0" dirty="0"/>
                    </a:p>
                  </a:txBody>
                  <a:tcPr/>
                </a:tc>
              </a:tr>
              <a:tr h="370840">
                <a:tc>
                  <a:txBody>
                    <a:bodyPr/>
                    <a:lstStyle/>
                    <a:p>
                      <a:r>
                        <a:rPr lang="es-DO" sz="1600" b="1" noProof="0" smtClean="0">
                          <a:latin typeface="Courier New" pitchFamily="49" charset="0"/>
                          <a:cs typeface="Courier New" pitchFamily="49" charset="0"/>
                        </a:rPr>
                        <a:t>ite + 0</a:t>
                      </a:r>
                      <a:endParaRPr lang="es-DO" sz="1600" b="1" noProof="0">
                        <a:latin typeface="Courier New" pitchFamily="49" charset="0"/>
                        <a:cs typeface="Courier New" pitchFamily="49" charset="0"/>
                      </a:endParaRPr>
                    </a:p>
                  </a:txBody>
                  <a:tcPr/>
                </a:tc>
                <a:tc>
                  <a:txBody>
                    <a:bodyPr/>
                    <a:lstStyle/>
                    <a:p>
                      <a:r>
                        <a:rPr lang="es-DO" noProof="0" dirty="0" smtClean="0"/>
                        <a:t>Apunta al 1er elemento</a:t>
                      </a:r>
                      <a:endParaRPr lang="es-DO" noProof="0" dirty="0"/>
                    </a:p>
                  </a:txBody>
                  <a:tcPr/>
                </a:tc>
                <a:tc>
                  <a:txBody>
                    <a:bodyPr/>
                    <a:lstStyle/>
                    <a:p>
                      <a:pPr algn="ctr"/>
                      <a:r>
                        <a:rPr lang="es-DO" sz="1600" b="1" noProof="0" dirty="0" smtClean="0">
                          <a:latin typeface="Courier New" pitchFamily="49" charset="0"/>
                          <a:cs typeface="Courier New" pitchFamily="49" charset="0"/>
                        </a:rPr>
                        <a:t>1 =‘R’</a:t>
                      </a:r>
                      <a:endParaRPr lang="es-DO" sz="1600" b="1" noProof="0" dirty="0">
                        <a:latin typeface="Courier New" pitchFamily="49" charset="0"/>
                        <a:cs typeface="Courier New" pitchFamily="49" charset="0"/>
                      </a:endParaRPr>
                    </a:p>
                  </a:txBody>
                  <a:tcPr/>
                </a:tc>
              </a:tr>
              <a:tr h="370840">
                <a:tc>
                  <a:txBody>
                    <a:bodyPr/>
                    <a:lstStyle/>
                    <a:p>
                      <a:r>
                        <a:rPr lang="es-DO" sz="1600" b="1" noProof="0" smtClean="0">
                          <a:latin typeface="Courier New" pitchFamily="49" charset="0"/>
                          <a:cs typeface="Courier New" pitchFamily="49" charset="0"/>
                        </a:rPr>
                        <a:t>ite + 3</a:t>
                      </a:r>
                      <a:endParaRPr lang="es-DO" sz="1600" b="1" noProof="0">
                        <a:latin typeface="Courier New" pitchFamily="49" charset="0"/>
                        <a:cs typeface="Courier New" pitchFamily="49" charset="0"/>
                      </a:endParaRPr>
                    </a:p>
                  </a:txBody>
                  <a:tcPr/>
                </a:tc>
                <a:tc>
                  <a:txBody>
                    <a:bodyPr/>
                    <a:lstStyle/>
                    <a:p>
                      <a:r>
                        <a:rPr lang="es-DO" noProof="0" dirty="0" smtClean="0"/>
                        <a:t>Apunta al 4to elemento</a:t>
                      </a:r>
                      <a:endParaRPr lang="es-DO" noProof="0" dirty="0"/>
                    </a:p>
                  </a:txBody>
                  <a:tcPr/>
                </a:tc>
                <a:tc>
                  <a:txBody>
                    <a:bodyPr/>
                    <a:lstStyle/>
                    <a:p>
                      <a:pPr algn="ctr"/>
                      <a:r>
                        <a:rPr lang="es-DO" sz="1600" b="1" noProof="0" dirty="0" smtClean="0">
                          <a:latin typeface="Courier New" pitchFamily="49" charset="0"/>
                          <a:cs typeface="Courier New" pitchFamily="49" charset="0"/>
                        </a:rPr>
                        <a:t>4</a:t>
                      </a:r>
                      <a:r>
                        <a:rPr lang="es-DO" sz="1600" b="1" baseline="0" noProof="0" dirty="0" smtClean="0">
                          <a:latin typeface="Courier New" pitchFamily="49" charset="0"/>
                          <a:cs typeface="Courier New" pitchFamily="49" charset="0"/>
                        </a:rPr>
                        <a:t> =</a:t>
                      </a:r>
                      <a:r>
                        <a:rPr lang="es-DO" sz="1600" b="1" noProof="0" dirty="0" smtClean="0">
                          <a:latin typeface="Courier New" pitchFamily="49" charset="0"/>
                          <a:cs typeface="Courier New" pitchFamily="49" charset="0"/>
                        </a:rPr>
                        <a:t>‘u’</a:t>
                      </a:r>
                      <a:endParaRPr lang="es-DO" sz="1600" b="1" noProof="0" dirty="0">
                        <a:latin typeface="Courier New" pitchFamily="49" charset="0"/>
                        <a:cs typeface="Courier New" pitchFamily="49" charset="0"/>
                      </a:endParaRPr>
                    </a:p>
                  </a:txBody>
                  <a:tcPr/>
                </a:tc>
              </a:tr>
              <a:tr h="370840">
                <a:tc>
                  <a:txBody>
                    <a:bodyPr/>
                    <a:lstStyle/>
                    <a:p>
                      <a:r>
                        <a:rPr lang="es-DO" sz="1600" b="1" noProof="0" smtClean="0">
                          <a:latin typeface="Courier New" pitchFamily="49" charset="0"/>
                          <a:cs typeface="Courier New" pitchFamily="49" charset="0"/>
                        </a:rPr>
                        <a:t>ite</a:t>
                      </a:r>
                      <a:r>
                        <a:rPr lang="es-DO" sz="1600" b="1" baseline="0" noProof="0" smtClean="0">
                          <a:latin typeface="Courier New" pitchFamily="49" charset="0"/>
                          <a:cs typeface="Courier New" pitchFamily="49" charset="0"/>
                        </a:rPr>
                        <a:t> + 5</a:t>
                      </a:r>
                      <a:endParaRPr lang="es-DO" sz="1600" b="1" noProof="0">
                        <a:latin typeface="Courier New" pitchFamily="49" charset="0"/>
                        <a:cs typeface="Courier New" pitchFamily="49" charset="0"/>
                      </a:endParaRPr>
                    </a:p>
                  </a:txBody>
                  <a:tcPr/>
                </a:tc>
                <a:tc>
                  <a:txBody>
                    <a:bodyPr/>
                    <a:lstStyle/>
                    <a:p>
                      <a:r>
                        <a:rPr lang="es-DO" noProof="0" dirty="0" smtClean="0"/>
                        <a:t>Apunta al 6to elemento</a:t>
                      </a:r>
                      <a:endParaRPr lang="es-DO" noProof="0" dirty="0"/>
                    </a:p>
                  </a:txBody>
                  <a:tcPr/>
                </a:tc>
                <a:tc>
                  <a:txBody>
                    <a:bodyPr/>
                    <a:lstStyle/>
                    <a:p>
                      <a:pPr algn="ctr"/>
                      <a:r>
                        <a:rPr lang="es-DO" sz="1600" b="1" noProof="0" dirty="0" smtClean="0">
                          <a:latin typeface="Courier New" pitchFamily="49" charset="0"/>
                          <a:cs typeface="Courier New" pitchFamily="49" charset="0"/>
                        </a:rPr>
                        <a:t>6 = ‘l’</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ite + 8</a:t>
                      </a:r>
                      <a:endParaRPr lang="es-DO" sz="1600" b="1" noProof="0" dirty="0">
                        <a:latin typeface="Courier New" pitchFamily="49" charset="0"/>
                        <a:cs typeface="Courier New" pitchFamily="49" charset="0"/>
                      </a:endParaRPr>
                    </a:p>
                  </a:txBody>
                  <a:tcPr/>
                </a:tc>
                <a:tc>
                  <a:txBody>
                    <a:bodyPr/>
                    <a:lstStyle/>
                    <a:p>
                      <a:r>
                        <a:rPr lang="es-DO" noProof="0" dirty="0" smtClean="0"/>
                        <a:t>Apunta al 9no elemento</a:t>
                      </a:r>
                      <a:endParaRPr lang="es-DO" noProof="0" dirty="0"/>
                    </a:p>
                  </a:txBody>
                  <a:tcPr/>
                </a:tc>
                <a:tc>
                  <a:txBody>
                    <a:bodyPr/>
                    <a:lstStyle/>
                    <a:p>
                      <a:pPr algn="ctr"/>
                      <a:r>
                        <a:rPr lang="es-DO" sz="1600" b="1" noProof="0" dirty="0" smtClean="0">
                          <a:latin typeface="Courier New" pitchFamily="49" charset="0"/>
                          <a:cs typeface="Courier New" pitchFamily="49" charset="0"/>
                        </a:rPr>
                        <a:t>9 = ‘a’</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ite + 12</a:t>
                      </a:r>
                      <a:endParaRPr lang="es-DO" sz="1600" b="1" noProof="0" dirty="0">
                        <a:latin typeface="Courier New" pitchFamily="49" charset="0"/>
                        <a:cs typeface="Courier New" pitchFamily="49" charset="0"/>
                      </a:endParaRPr>
                    </a:p>
                  </a:txBody>
                  <a:tcPr/>
                </a:tc>
                <a:tc>
                  <a:txBody>
                    <a:bodyPr/>
                    <a:lstStyle/>
                    <a:p>
                      <a:r>
                        <a:rPr lang="es-DO" noProof="0" dirty="0" smtClean="0"/>
                        <a:t>Apunta al 13vo elemento</a:t>
                      </a:r>
                      <a:endParaRPr lang="es-DO" noProof="0" dirty="0"/>
                    </a:p>
                  </a:txBody>
                  <a:tcPr/>
                </a:tc>
                <a:tc>
                  <a:txBody>
                    <a:bodyPr/>
                    <a:lstStyle/>
                    <a:p>
                      <a:pPr algn="ctr"/>
                      <a:r>
                        <a:rPr lang="es-DO" sz="1600" b="1" noProof="0" dirty="0" smtClean="0">
                          <a:latin typeface="Courier New" pitchFamily="49" charset="0"/>
                          <a:cs typeface="Courier New" pitchFamily="49" charset="0"/>
                        </a:rPr>
                        <a:t>13 = ‘m’</a:t>
                      </a:r>
                      <a:endParaRPr lang="es-DO" sz="1600" b="1" noProof="0" dirty="0">
                        <a:latin typeface="Courier New" pitchFamily="49" charset="0"/>
                        <a:cs typeface="Courier New" pitchFamily="49" charset="0"/>
                      </a:endParaRPr>
                    </a:p>
                  </a:txBody>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Operaciones con los iteradores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Movernos de posición operando aritméticamente el iterador sumando y restando</a:t>
            </a:r>
          </a:p>
          <a:p>
            <a:r>
              <a:rPr lang="es-DO" sz="2400" dirty="0" smtClean="0"/>
              <a:t>Siendo el string pais = “Republica Dominicana”</a:t>
            </a:r>
          </a:p>
          <a:p>
            <a:pPr>
              <a:buNone/>
            </a:pPr>
            <a:r>
              <a:rPr lang="es-DO" sz="2400" dirty="0" smtClean="0"/>
              <a:t>	string::iterator ite = pais.</a:t>
            </a:r>
            <a:r>
              <a:rPr lang="es-DO" sz="2400" b="1" dirty="0" smtClean="0">
                <a:solidFill>
                  <a:srgbClr val="FF0000"/>
                </a:solidFill>
              </a:rPr>
              <a:t>end()</a:t>
            </a:r>
            <a:r>
              <a:rPr lang="es-DO" sz="2400" dirty="0" smtClean="0"/>
              <a:t>;</a:t>
            </a:r>
          </a:p>
          <a:p>
            <a:pPr>
              <a:buNone/>
            </a:pPr>
            <a:r>
              <a:rPr lang="es-DO" sz="2400" dirty="0" smtClean="0"/>
              <a:t>	</a:t>
            </a:r>
          </a:p>
          <a:p>
            <a:pPr>
              <a:buNone/>
            </a:pPr>
            <a:r>
              <a:rPr lang="es-DO" sz="2400" dirty="0" smtClean="0"/>
              <a:t>	</a:t>
            </a:r>
          </a:p>
          <a:p>
            <a:endParaRPr lang="es-DO" sz="2400" dirty="0" smtClean="0"/>
          </a:p>
        </p:txBody>
      </p:sp>
      <p:graphicFrame>
        <p:nvGraphicFramePr>
          <p:cNvPr id="10" name="Table 9"/>
          <p:cNvGraphicFramePr>
            <a:graphicFrameLocks noGrp="1"/>
          </p:cNvGraphicFramePr>
          <p:nvPr/>
        </p:nvGraphicFramePr>
        <p:xfrm>
          <a:off x="1066800" y="3810000"/>
          <a:ext cx="7391400" cy="2225040"/>
        </p:xfrm>
        <a:graphic>
          <a:graphicData uri="http://schemas.openxmlformats.org/drawingml/2006/table">
            <a:tbl>
              <a:tblPr firstRow="1" bandRow="1">
                <a:tableStyleId>{F5AB1C69-6EDB-4FF4-983F-18BD219EF322}</a:tableStyleId>
              </a:tblPr>
              <a:tblGrid>
                <a:gridCol w="2463800"/>
                <a:gridCol w="2641600"/>
                <a:gridCol w="2286000"/>
              </a:tblGrid>
              <a:tr h="370840">
                <a:tc>
                  <a:txBody>
                    <a:bodyPr/>
                    <a:lstStyle/>
                    <a:p>
                      <a:r>
                        <a:rPr lang="es-DO" noProof="0" dirty="0" smtClean="0"/>
                        <a:t>Operación</a:t>
                      </a:r>
                      <a:endParaRPr lang="es-DO" noProof="0" dirty="0"/>
                    </a:p>
                  </a:txBody>
                  <a:tcPr/>
                </a:tc>
                <a:tc>
                  <a:txBody>
                    <a:bodyPr/>
                    <a:lstStyle/>
                    <a:p>
                      <a:r>
                        <a:rPr lang="es-DO" noProof="0" smtClean="0"/>
                        <a:t>Resultado</a:t>
                      </a:r>
                      <a:endParaRPr lang="es-DO" noProof="0"/>
                    </a:p>
                  </a:txBody>
                  <a:tcPr/>
                </a:tc>
                <a:tc>
                  <a:txBody>
                    <a:bodyPr/>
                    <a:lstStyle/>
                    <a:p>
                      <a:pPr algn="ctr"/>
                      <a:r>
                        <a:rPr lang="es-DO" noProof="0" dirty="0" smtClean="0"/>
                        <a:t>Posición / Elemento</a:t>
                      </a:r>
                      <a:endParaRPr lang="es-DO" noProof="0" dirty="0"/>
                    </a:p>
                  </a:txBody>
                  <a:tcPr/>
                </a:tc>
              </a:tr>
              <a:tr h="370840">
                <a:tc>
                  <a:txBody>
                    <a:bodyPr/>
                    <a:lstStyle/>
                    <a:p>
                      <a:r>
                        <a:rPr lang="es-DO" sz="1600" b="1" noProof="0" dirty="0" smtClean="0">
                          <a:latin typeface="Courier New" pitchFamily="49" charset="0"/>
                          <a:cs typeface="Courier New" pitchFamily="49" charset="0"/>
                        </a:rPr>
                        <a:t>ite – 1</a:t>
                      </a:r>
                      <a:endParaRPr lang="es-DO" sz="1600" b="1" noProof="0" dirty="0">
                        <a:latin typeface="Courier New" pitchFamily="49" charset="0"/>
                        <a:cs typeface="Courier New" pitchFamily="49" charset="0"/>
                      </a:endParaRPr>
                    </a:p>
                  </a:txBody>
                  <a:tcPr/>
                </a:tc>
                <a:tc>
                  <a:txBody>
                    <a:bodyPr/>
                    <a:lstStyle/>
                    <a:p>
                      <a:r>
                        <a:rPr lang="es-DO" noProof="0" dirty="0" smtClean="0"/>
                        <a:t>Apunta al ultimo elemento</a:t>
                      </a:r>
                      <a:endParaRPr lang="es-DO" noProof="0" dirty="0"/>
                    </a:p>
                  </a:txBody>
                  <a:tcPr/>
                </a:tc>
                <a:tc>
                  <a:txBody>
                    <a:bodyPr/>
                    <a:lstStyle/>
                    <a:p>
                      <a:pPr algn="ctr"/>
                      <a:r>
                        <a:rPr lang="es-DO" sz="1600" b="1" noProof="0" dirty="0" smtClean="0">
                          <a:latin typeface="Courier New" pitchFamily="49" charset="0"/>
                          <a:cs typeface="Courier New" pitchFamily="49" charset="0"/>
                        </a:rPr>
                        <a:t>20 =‘a’</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ite – 5</a:t>
                      </a:r>
                      <a:endParaRPr lang="es-DO" sz="1600" b="1" noProof="0" dirty="0">
                        <a:latin typeface="Courier New" pitchFamily="49" charset="0"/>
                        <a:cs typeface="Courier New" pitchFamily="49" charset="0"/>
                      </a:endParaRPr>
                    </a:p>
                  </a:txBody>
                  <a:tcPr/>
                </a:tc>
                <a:tc>
                  <a:txBody>
                    <a:bodyPr/>
                    <a:lstStyle/>
                    <a:p>
                      <a:r>
                        <a:rPr lang="es-DO" noProof="0" dirty="0" smtClean="0"/>
                        <a:t>Apunta al 15vo elemento</a:t>
                      </a:r>
                      <a:endParaRPr lang="es-DO" noProof="0" dirty="0"/>
                    </a:p>
                  </a:txBody>
                  <a:tcPr/>
                </a:tc>
                <a:tc>
                  <a:txBody>
                    <a:bodyPr/>
                    <a:lstStyle/>
                    <a:p>
                      <a:pPr algn="ctr"/>
                      <a:r>
                        <a:rPr lang="es-DO" sz="1600" b="1" noProof="0" smtClean="0">
                          <a:latin typeface="Courier New" pitchFamily="49" charset="0"/>
                          <a:cs typeface="Courier New" pitchFamily="49" charset="0"/>
                        </a:rPr>
                        <a:t>15</a:t>
                      </a:r>
                      <a:r>
                        <a:rPr lang="es-DO" sz="1600" b="1" baseline="0" noProof="0" smtClean="0">
                          <a:latin typeface="Courier New" pitchFamily="49" charset="0"/>
                          <a:cs typeface="Courier New" pitchFamily="49" charset="0"/>
                        </a:rPr>
                        <a:t> =</a:t>
                      </a:r>
                      <a:r>
                        <a:rPr lang="es-DO" sz="1600" b="1" noProof="0" smtClean="0">
                          <a:latin typeface="Courier New" pitchFamily="49" charset="0"/>
                          <a:cs typeface="Courier New" pitchFamily="49" charset="0"/>
                        </a:rPr>
                        <a:t>‘i’</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ite</a:t>
                      </a:r>
                      <a:r>
                        <a:rPr lang="es-DO" sz="1600" b="1" baseline="0" noProof="0" dirty="0" smtClean="0">
                          <a:latin typeface="Courier New" pitchFamily="49" charset="0"/>
                          <a:cs typeface="Courier New" pitchFamily="49" charset="0"/>
                        </a:rPr>
                        <a:t> – 10</a:t>
                      </a:r>
                      <a:endParaRPr lang="es-DO" sz="1600" b="1" noProof="0" dirty="0">
                        <a:latin typeface="Courier New" pitchFamily="49" charset="0"/>
                        <a:cs typeface="Courier New" pitchFamily="49" charset="0"/>
                      </a:endParaRPr>
                    </a:p>
                  </a:txBody>
                  <a:tcPr/>
                </a:tc>
                <a:tc>
                  <a:txBody>
                    <a:bodyPr/>
                    <a:lstStyle/>
                    <a:p>
                      <a:r>
                        <a:rPr lang="es-DO" noProof="0" dirty="0" smtClean="0"/>
                        <a:t>Apunta al 11vo elemento</a:t>
                      </a:r>
                      <a:endParaRPr lang="es-DO" noProof="0" dirty="0"/>
                    </a:p>
                  </a:txBody>
                  <a:tcPr/>
                </a:tc>
                <a:tc>
                  <a:txBody>
                    <a:bodyPr/>
                    <a:lstStyle/>
                    <a:p>
                      <a:pPr algn="ctr"/>
                      <a:r>
                        <a:rPr lang="es-DO" sz="1600" b="1" noProof="0" dirty="0" smtClean="0">
                          <a:latin typeface="Courier New" pitchFamily="49" charset="0"/>
                          <a:cs typeface="Courier New" pitchFamily="49" charset="0"/>
                        </a:rPr>
                        <a:t>11 = ‘D’</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ite – 13</a:t>
                      </a:r>
                      <a:endParaRPr lang="es-DO" sz="1600" b="1" noProof="0" dirty="0">
                        <a:latin typeface="Courier New" pitchFamily="49" charset="0"/>
                        <a:cs typeface="Courier New" pitchFamily="49" charset="0"/>
                      </a:endParaRPr>
                    </a:p>
                  </a:txBody>
                  <a:tcPr/>
                </a:tc>
                <a:tc>
                  <a:txBody>
                    <a:bodyPr/>
                    <a:lstStyle/>
                    <a:p>
                      <a:r>
                        <a:rPr lang="es-DO" noProof="0" dirty="0" smtClean="0"/>
                        <a:t>Apunta al 8vo elemento</a:t>
                      </a:r>
                      <a:endParaRPr lang="es-DO" noProof="0" dirty="0"/>
                    </a:p>
                  </a:txBody>
                  <a:tcPr/>
                </a:tc>
                <a:tc>
                  <a:txBody>
                    <a:bodyPr/>
                    <a:lstStyle/>
                    <a:p>
                      <a:pPr algn="ctr"/>
                      <a:r>
                        <a:rPr lang="es-DO" sz="1600" b="1" noProof="0" dirty="0" smtClean="0">
                          <a:latin typeface="Courier New" pitchFamily="49" charset="0"/>
                          <a:cs typeface="Courier New" pitchFamily="49" charset="0"/>
                        </a:rPr>
                        <a:t>8 = ‘c’</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ite – 15</a:t>
                      </a:r>
                      <a:endParaRPr lang="es-DO" sz="1600" b="1" noProof="0" dirty="0">
                        <a:latin typeface="Courier New" pitchFamily="49" charset="0"/>
                        <a:cs typeface="Courier New" pitchFamily="49" charset="0"/>
                      </a:endParaRPr>
                    </a:p>
                  </a:txBody>
                  <a:tcPr/>
                </a:tc>
                <a:tc>
                  <a:txBody>
                    <a:bodyPr/>
                    <a:lstStyle/>
                    <a:p>
                      <a:r>
                        <a:rPr lang="es-DO" noProof="0" dirty="0" smtClean="0"/>
                        <a:t>Apunta al 6to elemento</a:t>
                      </a:r>
                      <a:endParaRPr lang="es-DO" noProof="0" dirty="0"/>
                    </a:p>
                  </a:txBody>
                  <a:tcPr/>
                </a:tc>
                <a:tc>
                  <a:txBody>
                    <a:bodyPr/>
                    <a:lstStyle/>
                    <a:p>
                      <a:pPr algn="ctr"/>
                      <a:r>
                        <a:rPr lang="es-DO" sz="1600" b="1" noProof="0" dirty="0" smtClean="0">
                          <a:latin typeface="Courier New" pitchFamily="49" charset="0"/>
                          <a:cs typeface="Courier New" pitchFamily="49" charset="0"/>
                        </a:rPr>
                        <a:t>6 = ‘l’</a:t>
                      </a:r>
                      <a:endParaRPr lang="es-DO" sz="1600" b="1" noProof="0" dirty="0">
                        <a:latin typeface="Courier New" pitchFamily="49" charset="0"/>
                        <a:cs typeface="Courier New" pitchFamily="49" charset="0"/>
                      </a:endParaRPr>
                    </a:p>
                  </a:txBody>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Accediendo mediante iteradores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Para acceder el valor almacenado por el elemento apuntado por el iterador, se realiza la operación llamada indireccionamiento, la cual se representa por el asterisco:</a:t>
            </a:r>
          </a:p>
          <a:p>
            <a:r>
              <a:rPr lang="es-DO" sz="2400" dirty="0" smtClean="0"/>
              <a:t>Siendo el string pais = “Republica Dominicana”</a:t>
            </a:r>
          </a:p>
          <a:p>
            <a:pPr>
              <a:buNone/>
            </a:pPr>
            <a:r>
              <a:rPr lang="es-DO" sz="2400" dirty="0" smtClean="0"/>
              <a:t>	string::iterator ite = pais.</a:t>
            </a:r>
            <a:r>
              <a:rPr lang="es-DO" sz="2400" b="1" dirty="0" smtClean="0">
                <a:solidFill>
                  <a:srgbClr val="0000FF"/>
                </a:solidFill>
              </a:rPr>
              <a:t>begin()</a:t>
            </a:r>
            <a:r>
              <a:rPr lang="es-DO" sz="2400" dirty="0" smtClean="0"/>
              <a:t>;</a:t>
            </a:r>
          </a:p>
          <a:p>
            <a:pPr>
              <a:buNone/>
            </a:pPr>
            <a:r>
              <a:rPr lang="es-DO" sz="2400" dirty="0" smtClean="0"/>
              <a:t>	</a:t>
            </a:r>
          </a:p>
          <a:p>
            <a:pPr>
              <a:buNone/>
            </a:pPr>
            <a:r>
              <a:rPr lang="es-DO" sz="2400" dirty="0" smtClean="0"/>
              <a:t>	</a:t>
            </a:r>
          </a:p>
          <a:p>
            <a:endParaRPr lang="es-DO" sz="2400" dirty="0" smtClean="0"/>
          </a:p>
        </p:txBody>
      </p:sp>
      <p:graphicFrame>
        <p:nvGraphicFramePr>
          <p:cNvPr id="10" name="Table 9"/>
          <p:cNvGraphicFramePr>
            <a:graphicFrameLocks noGrp="1"/>
          </p:cNvGraphicFramePr>
          <p:nvPr/>
        </p:nvGraphicFramePr>
        <p:xfrm>
          <a:off x="1034901" y="4089400"/>
          <a:ext cx="4876800" cy="1854200"/>
        </p:xfrm>
        <a:graphic>
          <a:graphicData uri="http://schemas.openxmlformats.org/drawingml/2006/table">
            <a:tbl>
              <a:tblPr firstRow="1" bandRow="1">
                <a:tableStyleId>{7DF18680-E054-41AD-8BC1-D1AEF772440D}</a:tableStyleId>
              </a:tblPr>
              <a:tblGrid>
                <a:gridCol w="2895600"/>
                <a:gridCol w="1981200"/>
              </a:tblGrid>
              <a:tr h="370840">
                <a:tc>
                  <a:txBody>
                    <a:bodyPr/>
                    <a:lstStyle/>
                    <a:p>
                      <a:r>
                        <a:rPr lang="es-DO" noProof="0" dirty="0" smtClean="0"/>
                        <a:t>Sentencia</a:t>
                      </a:r>
                      <a:endParaRPr lang="es-DO" noProof="0" dirty="0"/>
                    </a:p>
                  </a:txBody>
                  <a:tcPr/>
                </a:tc>
                <a:tc>
                  <a:txBody>
                    <a:bodyPr/>
                    <a:lstStyle/>
                    <a:p>
                      <a:pPr algn="ctr"/>
                      <a:r>
                        <a:rPr lang="es-DO" noProof="0" dirty="0" smtClean="0"/>
                        <a:t>Resultado</a:t>
                      </a:r>
                      <a:endParaRPr lang="es-DO" noProof="0" dirty="0"/>
                    </a:p>
                  </a:txBody>
                  <a:tcPr/>
                </a:tc>
              </a:tr>
              <a:tr h="370840">
                <a:tc>
                  <a:txBody>
                    <a:bodyPr/>
                    <a:lstStyle/>
                    <a:p>
                      <a:r>
                        <a:rPr lang="es-DO" sz="1600" b="1" noProof="0" dirty="0" smtClean="0">
                          <a:latin typeface="Courier New" pitchFamily="49" charset="0"/>
                          <a:cs typeface="Courier New" pitchFamily="49" charset="0"/>
                        </a:rPr>
                        <a:t>cout &lt;&lt; *ite;</a:t>
                      </a:r>
                      <a:endParaRPr lang="es-DO" sz="1600" b="1" noProof="0" dirty="0">
                        <a:latin typeface="Courier New" pitchFamily="49" charset="0"/>
                        <a:cs typeface="Courier New" pitchFamily="49" charset="0"/>
                      </a:endParaRPr>
                    </a:p>
                  </a:txBody>
                  <a:tcPr/>
                </a:tc>
                <a:tc>
                  <a:txBody>
                    <a:bodyPr/>
                    <a:lstStyle/>
                    <a:p>
                      <a:pPr algn="ctr"/>
                      <a:r>
                        <a:rPr lang="es-DO" sz="1600" b="1" noProof="0" dirty="0" smtClean="0">
                          <a:latin typeface="Courier New" pitchFamily="49" charset="0"/>
                          <a:cs typeface="Courier New" pitchFamily="49" charset="0"/>
                        </a:rPr>
                        <a:t>R</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cout &lt;&lt; *(ite + 5);</a:t>
                      </a:r>
                      <a:endParaRPr lang="es-DO" sz="1600" b="1" noProof="0" dirty="0">
                        <a:latin typeface="Courier New" pitchFamily="49" charset="0"/>
                        <a:cs typeface="Courier New" pitchFamily="49" charset="0"/>
                      </a:endParaRPr>
                    </a:p>
                  </a:txBody>
                  <a:tcPr/>
                </a:tc>
                <a:tc>
                  <a:txBody>
                    <a:bodyPr/>
                    <a:lstStyle/>
                    <a:p>
                      <a:pPr algn="ctr"/>
                      <a:r>
                        <a:rPr lang="es-DO" sz="1600" b="1" noProof="0" dirty="0" smtClean="0">
                          <a:latin typeface="Courier New" pitchFamily="49" charset="0"/>
                          <a:cs typeface="Courier New" pitchFamily="49" charset="0"/>
                        </a:rPr>
                        <a:t>b</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cout &lt;&lt; *(ite + 8);</a:t>
                      </a:r>
                      <a:endParaRPr lang="es-DO" sz="1600" b="1" noProof="0" dirty="0">
                        <a:latin typeface="Courier New" pitchFamily="49" charset="0"/>
                        <a:cs typeface="Courier New" pitchFamily="49" charset="0"/>
                      </a:endParaRPr>
                    </a:p>
                  </a:txBody>
                  <a:tcPr/>
                </a:tc>
                <a:tc>
                  <a:txBody>
                    <a:bodyPr/>
                    <a:lstStyle/>
                    <a:p>
                      <a:pPr algn="ctr"/>
                      <a:r>
                        <a:rPr lang="es-DO" sz="1600" b="1" noProof="0" dirty="0" smtClean="0">
                          <a:latin typeface="Courier New" pitchFamily="49" charset="0"/>
                          <a:cs typeface="Courier New" pitchFamily="49" charset="0"/>
                        </a:rPr>
                        <a:t>c</a:t>
                      </a:r>
                      <a:endParaRPr lang="es-DO" sz="1600" b="1" noProof="0" dirty="0">
                        <a:latin typeface="Courier New" pitchFamily="49" charset="0"/>
                        <a:cs typeface="Courier New" pitchFamily="49" charset="0"/>
                      </a:endParaRPr>
                    </a:p>
                  </a:txBody>
                  <a:tcPr/>
                </a:tc>
              </a:tr>
              <a:tr h="370840">
                <a:tc>
                  <a:txBody>
                    <a:bodyPr/>
                    <a:lstStyle/>
                    <a:p>
                      <a:r>
                        <a:rPr lang="es-DO" sz="1600" b="1" noProof="0" dirty="0" smtClean="0">
                          <a:latin typeface="Courier New" pitchFamily="49" charset="0"/>
                          <a:cs typeface="Courier New" pitchFamily="49" charset="0"/>
                        </a:rPr>
                        <a:t>cout &lt;&lt; *(ite – 17);</a:t>
                      </a:r>
                      <a:endParaRPr lang="es-DO" sz="1600" b="1" noProof="0" dirty="0">
                        <a:latin typeface="Courier New" pitchFamily="49" charset="0"/>
                        <a:cs typeface="Courier New" pitchFamily="49" charset="0"/>
                      </a:endParaRPr>
                    </a:p>
                  </a:txBody>
                  <a:tcPr/>
                </a:tc>
                <a:tc>
                  <a:txBody>
                    <a:bodyPr/>
                    <a:lstStyle/>
                    <a:p>
                      <a:pPr algn="ctr"/>
                      <a:r>
                        <a:rPr lang="es-DO" sz="1600" b="1" noProof="0" dirty="0" smtClean="0">
                          <a:latin typeface="Courier New" pitchFamily="49" charset="0"/>
                          <a:cs typeface="Courier New" pitchFamily="49" charset="0"/>
                        </a:rPr>
                        <a:t>c</a:t>
                      </a:r>
                      <a:endParaRPr lang="es-DO" sz="1600" b="1" noProof="0" dirty="0">
                        <a:latin typeface="Courier New" pitchFamily="49" charset="0"/>
                        <a:cs typeface="Courier New" pitchFamily="49" charset="0"/>
                      </a:endParaRPr>
                    </a:p>
                  </a:txBody>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Los iteradores tienen un tipo, esto es, apuntan a un tipo de dato, el tipo de dato almacenado por la colección y como tal hay que declararlos.  En esta asignatura estaremos viendo iteradores para los tipo </a:t>
            </a:r>
            <a:r>
              <a:rPr lang="es-DO" sz="1800" b="1" dirty="0" smtClean="0">
                <a:latin typeface="Courier New" pitchFamily="49" charset="0"/>
                <a:cs typeface="Courier New" pitchFamily="49" charset="0"/>
              </a:rPr>
              <a:t>&lt;string&gt; </a:t>
            </a:r>
            <a:r>
              <a:rPr lang="es-DO" sz="2400" dirty="0" smtClean="0"/>
              <a:t>y </a:t>
            </a:r>
            <a:r>
              <a:rPr lang="es-DO" sz="1800" b="1" dirty="0" smtClean="0">
                <a:latin typeface="Courier New" pitchFamily="49" charset="0"/>
                <a:cs typeface="Courier New" pitchFamily="49" charset="0"/>
              </a:rPr>
              <a:t>&lt;vector&gt;</a:t>
            </a:r>
          </a:p>
          <a:p>
            <a:r>
              <a:rPr lang="es-DO" sz="2400" dirty="0" smtClean="0"/>
              <a:t>Con el uso de iteradores, el acceso a los caracteres individuales de la cadena es seguro por que tienen la inteligencia construida para avisar cuando se intenta acceder a una posición vacía en dicha cadena (esto último es parte del manejo de excepciones)</a:t>
            </a:r>
          </a:p>
          <a:p>
            <a:pPr>
              <a:buNone/>
            </a:pPr>
            <a:r>
              <a:rPr lang="es-DO" sz="2400" dirty="0" smtClean="0"/>
              <a:t>	</a:t>
            </a:r>
          </a:p>
          <a:p>
            <a:endParaRPr lang="es-DO" sz="2400"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 ejemplo</a:t>
            </a:r>
            <a:endParaRPr lang="es-DO" dirty="0"/>
          </a:p>
        </p:txBody>
      </p:sp>
      <p:sp>
        <p:nvSpPr>
          <p:cNvPr id="9" name="Rectangle 8"/>
          <p:cNvSpPr/>
          <p:nvPr/>
        </p:nvSpPr>
        <p:spPr>
          <a:xfrm>
            <a:off x="5105400" y="2895600"/>
            <a:ext cx="3505200" cy="23622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Como podemos observar, declaramos un iterador que apunta a la primera posición de la cadena, con ese iterador condicionamos el ciclo </a:t>
            </a:r>
            <a:r>
              <a:rPr lang="es-DO" sz="1200" b="1" i="1" dirty="0" smtClean="0"/>
              <a:t>while</a:t>
            </a:r>
            <a:r>
              <a:rPr lang="es-DO" sz="1200" dirty="0" smtClean="0"/>
              <a:t> para que se mantenga ejecutándose mientras la posición manejada por el iterador </a:t>
            </a:r>
            <a:r>
              <a:rPr lang="es-DO" sz="1200" b="1" i="1" dirty="0" smtClean="0"/>
              <a:t>ite</a:t>
            </a:r>
            <a:r>
              <a:rPr lang="es-DO" sz="1200" i="1" dirty="0" smtClean="0"/>
              <a:t> </a:t>
            </a:r>
            <a:r>
              <a:rPr lang="es-DO" sz="1200" dirty="0" smtClean="0"/>
              <a:t>sea diferente al valor retornado por la función </a:t>
            </a:r>
            <a:r>
              <a:rPr lang="es-DO" sz="1200" b="1" i="1" dirty="0" smtClean="0"/>
              <a:t>end()</a:t>
            </a:r>
            <a:r>
              <a:rPr lang="es-DO" sz="1200" dirty="0" smtClean="0"/>
              <a:t>, es decir, diferente a la posición después de la ultima.</a:t>
            </a:r>
          </a:p>
          <a:p>
            <a:endParaRPr lang="es-DO" sz="1200" dirty="0" smtClean="0"/>
          </a:p>
          <a:p>
            <a:r>
              <a:rPr lang="es-DO" sz="1200" dirty="0" smtClean="0"/>
              <a:t>Dentro del ciclo, desplegamos por pantalla con el operador de indireccionamiento el valor contenido en el elemento apuntado por </a:t>
            </a:r>
            <a:r>
              <a:rPr lang="es-DO" sz="1200" b="1" i="1" dirty="0" smtClean="0"/>
              <a:t>ite</a:t>
            </a:r>
            <a:r>
              <a:rPr lang="es-DO" sz="1200" dirty="0" smtClean="0"/>
              <a:t> y luego movemos el iterador a la próxima posición </a:t>
            </a:r>
            <a:r>
              <a:rPr lang="es-DO" sz="1200" b="1" dirty="0" smtClean="0">
                <a:solidFill>
                  <a:srgbClr val="FF0000"/>
                </a:solidFill>
              </a:rPr>
              <a:t>sumándole 1</a:t>
            </a:r>
            <a:r>
              <a:rPr lang="es-DO" sz="1200" dirty="0" smtClean="0"/>
              <a:t>.</a:t>
            </a:r>
          </a:p>
        </p:txBody>
      </p:sp>
      <p:sp>
        <p:nvSpPr>
          <p:cNvPr id="14" name="Content Placeholder 13"/>
          <p:cNvSpPr>
            <a:spLocks noGrp="1"/>
          </p:cNvSpPr>
          <p:nvPr>
            <p:ph sz="quarter" idx="13"/>
          </p:nvPr>
        </p:nvSpPr>
        <p:spPr>
          <a:xfrm>
            <a:off x="609600" y="1803400"/>
            <a:ext cx="8153400" cy="863600"/>
          </a:xfrm>
        </p:spPr>
        <p:txBody>
          <a:bodyPr>
            <a:normAutofit/>
          </a:bodyPr>
          <a:lstStyle/>
          <a:p>
            <a:r>
              <a:rPr lang="en-US" sz="2400" dirty="0" smtClean="0"/>
              <a:t>Veamos el uso de iteradores para imprimir de forma verticual una cadena</a:t>
            </a:r>
            <a:endParaRPr lang="en-US" sz="2400" dirty="0"/>
          </a:p>
        </p:txBody>
      </p:sp>
      <p:pic>
        <p:nvPicPr>
          <p:cNvPr id="3" name="Picture 2"/>
          <p:cNvPicPr>
            <a:picLocks noChangeAspect="1" noChangeArrowheads="1"/>
          </p:cNvPicPr>
          <p:nvPr/>
        </p:nvPicPr>
        <p:blipFill>
          <a:blip r:embed="rId2" cstate="print"/>
          <a:srcRect/>
          <a:stretch>
            <a:fillRect/>
          </a:stretch>
        </p:blipFill>
        <p:spPr bwMode="auto">
          <a:xfrm>
            <a:off x="1056167" y="2895600"/>
            <a:ext cx="363855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 resumen</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Los iteradores nos permiten examinar con </a:t>
            </a:r>
            <a:r>
              <a:rPr lang="es-DO" sz="1800" b="1" dirty="0" smtClean="0">
                <a:latin typeface="Courier New" pitchFamily="49" charset="0"/>
                <a:cs typeface="Courier New" pitchFamily="49" charset="0"/>
              </a:rPr>
              <a:t>*ite</a:t>
            </a:r>
            <a:r>
              <a:rPr lang="es-DO" sz="2400" dirty="0" smtClean="0"/>
              <a:t>, el valor almacenado en esa posición</a:t>
            </a:r>
            <a:endParaRPr lang="es-DO" sz="1800" b="1" dirty="0" smtClean="0">
              <a:latin typeface="Courier New" pitchFamily="49" charset="0"/>
              <a:cs typeface="Courier New" pitchFamily="49" charset="0"/>
            </a:endParaRPr>
          </a:p>
          <a:p>
            <a:r>
              <a:rPr lang="es-DO" sz="2400" dirty="0" smtClean="0"/>
              <a:t>Los iteradores nos proveen operaciones para movernos entre los elementos de la cadena: </a:t>
            </a:r>
          </a:p>
          <a:p>
            <a:pPr lvl="1"/>
            <a:r>
              <a:rPr lang="es-DO" sz="1800" b="1" dirty="0" smtClean="0">
                <a:latin typeface="Courier New" pitchFamily="49" charset="0"/>
                <a:cs typeface="Courier New" pitchFamily="49" charset="0"/>
              </a:rPr>
              <a:t>*(ite + entero)</a:t>
            </a:r>
          </a:p>
          <a:p>
            <a:pPr lvl="1"/>
            <a:r>
              <a:rPr lang="es-DO" sz="1800" b="1" dirty="0" smtClean="0">
                <a:latin typeface="Courier New" pitchFamily="49" charset="0"/>
                <a:cs typeface="Courier New" pitchFamily="49" charset="0"/>
              </a:rPr>
              <a:t>*ite++</a:t>
            </a:r>
          </a:p>
          <a:p>
            <a:r>
              <a:rPr lang="es-DO" sz="2400" dirty="0" smtClean="0"/>
              <a:t>Los iteradores restringen las operaciones a las que la cadena puede manejar con eficiencia</a:t>
            </a:r>
          </a:p>
          <a:p>
            <a:endParaRPr lang="es-DO" sz="2400" dirty="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Iteradores: resumen</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begin() y end() son recursos de </a:t>
            </a:r>
            <a:r>
              <a:rPr lang="es-DO" sz="1800" b="1" dirty="0" smtClean="0">
                <a:latin typeface="Courier New" pitchFamily="49" charset="0"/>
                <a:cs typeface="Courier New" pitchFamily="49" charset="0"/>
              </a:rPr>
              <a:t>&lt;string&gt; </a:t>
            </a:r>
            <a:r>
              <a:rPr lang="es-DO" sz="2400" dirty="0" smtClean="0"/>
              <a:t>los cuales</a:t>
            </a:r>
            <a:endParaRPr lang="es-DO" sz="1800" b="1" dirty="0" smtClean="0">
              <a:latin typeface="Courier New" pitchFamily="49" charset="0"/>
              <a:cs typeface="Courier New" pitchFamily="49" charset="0"/>
            </a:endParaRPr>
          </a:p>
          <a:p>
            <a:pPr lvl="1"/>
            <a:r>
              <a:rPr lang="es-DO" sz="1800" b="1" dirty="0" smtClean="0">
                <a:latin typeface="Courier New" pitchFamily="49" charset="0"/>
                <a:cs typeface="Courier New" pitchFamily="49" charset="0"/>
              </a:rPr>
              <a:t>begin() </a:t>
            </a:r>
            <a:r>
              <a:rPr lang="es-DO" sz="2000" dirty="0" smtClean="0">
                <a:cs typeface="Courier New" pitchFamily="49" charset="0"/>
              </a:rPr>
              <a:t>retorna un iterador que apunta al primer elemento de la cadena, esto es al elemento</a:t>
            </a:r>
            <a:r>
              <a:rPr lang="es-DO" sz="2400" dirty="0" smtClean="0">
                <a:cs typeface="Courier New" pitchFamily="49" charset="0"/>
              </a:rPr>
              <a:t> </a:t>
            </a:r>
            <a:r>
              <a:rPr lang="es-DO" sz="1800" b="1" dirty="0" smtClean="0">
                <a:latin typeface="Courier New" pitchFamily="49" charset="0"/>
                <a:cs typeface="Courier New" pitchFamily="49" charset="0"/>
              </a:rPr>
              <a:t>cadena.at(0)</a:t>
            </a:r>
          </a:p>
          <a:p>
            <a:pPr lvl="1"/>
            <a:r>
              <a:rPr lang="es-DO" sz="1800" b="1" dirty="0" smtClean="0">
                <a:latin typeface="Courier New" pitchFamily="49" charset="0"/>
                <a:cs typeface="Courier New" pitchFamily="49" charset="0"/>
              </a:rPr>
              <a:t>end() </a:t>
            </a:r>
            <a:r>
              <a:rPr lang="es-DO" sz="2000" dirty="0" smtClean="0">
                <a:cs typeface="Courier New" pitchFamily="49" charset="0"/>
              </a:rPr>
              <a:t>retorna un iterador que apunta a la posición uno mas después del ultimo elemento de la cadena</a:t>
            </a:r>
            <a:endParaRPr lang="es-DO" sz="1800" b="1" dirty="0" smtClean="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solidFill>
                  <a:schemeClr val="bg1">
                    <a:lumMod val="50000"/>
                  </a:schemeClr>
                </a:solidFill>
              </a:rPr>
              <a:t>Strings: Concepto y declaración.</a:t>
            </a:r>
          </a:p>
          <a:p>
            <a:pPr marL="274320" lvl="1"/>
            <a:r>
              <a:rPr lang="es-DO" altLang="x-none" dirty="0" smtClean="0">
                <a:solidFill>
                  <a:schemeClr val="bg1">
                    <a:lumMod val="50000"/>
                  </a:schemeClr>
                </a:solidFill>
              </a:rPr>
              <a:t>Operadores de cadenas.</a:t>
            </a:r>
          </a:p>
          <a:p>
            <a:pPr marL="274320" lvl="1"/>
            <a:r>
              <a:rPr lang="es-DO" altLang="x-none" dirty="0" smtClean="0">
                <a:solidFill>
                  <a:schemeClr val="bg1">
                    <a:lumMod val="50000"/>
                  </a:schemeClr>
                </a:solidFill>
              </a:rPr>
              <a:t>Recursos de string.</a:t>
            </a:r>
          </a:p>
          <a:p>
            <a:pPr marL="274320" lvl="1"/>
            <a:r>
              <a:rPr lang="es-DO" altLang="x-none" dirty="0" smtClean="0">
                <a:solidFill>
                  <a:schemeClr val="bg1">
                    <a:lumMod val="50000"/>
                  </a:schemeClr>
                </a:solidFill>
              </a:rPr>
              <a:t>Iteradores.</a:t>
            </a:r>
          </a:p>
          <a:p>
            <a:pPr marL="274320" lvl="1"/>
            <a:r>
              <a:rPr lang="es-DO" dirty="0" smtClean="0"/>
              <a:t>Recursos de ctype.</a:t>
            </a:r>
          </a:p>
          <a:p>
            <a:pPr marL="274320" lvl="1"/>
            <a:r>
              <a:rPr lang="es-DO" dirty="0" smtClean="0">
                <a:solidFill>
                  <a:schemeClr val="bg1">
                    <a:lumMod val="50000"/>
                  </a:schemeClr>
                </a:solidFill>
              </a:rPr>
              <a:t>Estructuras: concepto y declaración.</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s-ES" dirty="0" smtClean="0"/>
              <a:t>¿Es un digito?</a:t>
            </a:r>
          </a:p>
          <a:p>
            <a:r>
              <a:rPr lang="es-ES" dirty="0" smtClean="0"/>
              <a:t>¿Es un caracter imprimible?</a:t>
            </a:r>
          </a:p>
          <a:p>
            <a:r>
              <a:rPr lang="es-ES" dirty="0" smtClean="0"/>
              <a:t>¿Es un caracter alfabético?</a:t>
            </a:r>
            <a:endParaRPr lang="es-DO" dirty="0" smtClean="0"/>
          </a:p>
        </p:txBody>
      </p:sp>
      <p:sp>
        <p:nvSpPr>
          <p:cNvPr id="3" name="Title 2"/>
          <p:cNvSpPr>
            <a:spLocks noGrp="1"/>
          </p:cNvSpPr>
          <p:nvPr>
            <p:ph type="title"/>
          </p:nvPr>
        </p:nvSpPr>
        <p:spPr/>
        <p:txBody>
          <a:bodyPr>
            <a:normAutofit/>
          </a:bodyPr>
          <a:lstStyle/>
          <a:p>
            <a:r>
              <a:rPr lang="es-DO" dirty="0" smtClean="0"/>
              <a:t>Recursos ctype</a:t>
            </a:r>
            <a:endParaRPr lang="es-DO"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ctype</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C++ provee varias funciones para realizar verificaciones con caracteres.  Estas funciones requieren como argumento un valor tipo </a:t>
            </a:r>
            <a:r>
              <a:rPr lang="es-DO" sz="2400" i="1" dirty="0" smtClean="0"/>
              <a:t>char</a:t>
            </a:r>
            <a:r>
              <a:rPr lang="es-DO" sz="2400" dirty="0" smtClean="0"/>
              <a:t> y por lo general retornan un valor numérico el cual si es igual a cero es falso y si es distinto de cero es verdadero</a:t>
            </a:r>
          </a:p>
          <a:p>
            <a:r>
              <a:rPr lang="es-DO" sz="2400" dirty="0" smtClean="0"/>
              <a:t>Examinemos a continuación las funciones </a:t>
            </a:r>
            <a:r>
              <a:rPr lang="es-DO" sz="2400" i="1" dirty="0" smtClean="0"/>
              <a:t>ctype</a:t>
            </a:r>
            <a:r>
              <a:rPr lang="es-DO" sz="2400" dirty="0" smtClean="0"/>
              <a:t> que nos brinda el lenguaje</a:t>
            </a:r>
            <a:endParaRPr lang="es-DO" sz="2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ctype</a:t>
            </a:r>
            <a:endParaRPr lang="es-DO" dirty="0"/>
          </a:p>
        </p:txBody>
      </p:sp>
      <p:graphicFrame>
        <p:nvGraphicFramePr>
          <p:cNvPr id="5" name="Content Placeholder 4"/>
          <p:cNvGraphicFramePr>
            <a:graphicFrameLocks noGrp="1"/>
          </p:cNvGraphicFramePr>
          <p:nvPr>
            <p:ph sz="quarter" idx="13"/>
          </p:nvPr>
        </p:nvGraphicFramePr>
        <p:xfrm>
          <a:off x="609600" y="2164080"/>
          <a:ext cx="8153400" cy="3779520"/>
        </p:xfrm>
        <a:graphic>
          <a:graphicData uri="http://schemas.openxmlformats.org/drawingml/2006/table">
            <a:tbl>
              <a:tblPr firstRow="1" bandRow="1">
                <a:tableStyleId>{F5AB1C69-6EDB-4FF4-983F-18BD219EF322}</a:tableStyleId>
              </a:tblPr>
              <a:tblGrid>
                <a:gridCol w="1143000"/>
                <a:gridCol w="7010400"/>
              </a:tblGrid>
              <a:tr h="0">
                <a:tc>
                  <a:txBody>
                    <a:bodyPr/>
                    <a:lstStyle/>
                    <a:p>
                      <a:r>
                        <a:rPr lang="en-US" sz="1400" dirty="0" smtClean="0"/>
                        <a:t>Función</a:t>
                      </a:r>
                      <a:endParaRPr lang="en-US" sz="1400" dirty="0"/>
                    </a:p>
                  </a:txBody>
                  <a:tcPr/>
                </a:tc>
                <a:tc>
                  <a:txBody>
                    <a:bodyPr/>
                    <a:lstStyle/>
                    <a:p>
                      <a:r>
                        <a:rPr lang="en-US" sz="1400" dirty="0" smtClean="0"/>
                        <a:t>Descripción</a:t>
                      </a:r>
                      <a:endParaRPr lang="en-US" sz="1400" dirty="0"/>
                    </a:p>
                  </a:txBody>
                  <a:tcPr/>
                </a:tc>
              </a:tr>
              <a:tr h="0">
                <a:tc>
                  <a:txBody>
                    <a:bodyPr/>
                    <a:lstStyle/>
                    <a:p>
                      <a:r>
                        <a:rPr lang="en-US" sz="1200" dirty="0" smtClean="0">
                          <a:latin typeface="Courier New" pitchFamily="49" charset="0"/>
                          <a:cs typeface="Courier New" pitchFamily="49" charset="0"/>
                        </a:rPr>
                        <a:t>isalpha</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a:t>
                      </a:r>
                      <a:r>
                        <a:rPr lang="en-US" sz="1400" i="0" baseline="0" dirty="0" smtClean="0"/>
                        <a:t> si el caracter es alfabético.  Retorna </a:t>
                      </a:r>
                      <a:r>
                        <a:rPr lang="en-US" sz="1400" i="1" baseline="0" dirty="0" smtClean="0"/>
                        <a:t>false</a:t>
                      </a:r>
                      <a:r>
                        <a:rPr lang="en-US" sz="1400" i="0" baseline="0" dirty="0" smtClean="0"/>
                        <a:t> si el caracter no es una letra</a:t>
                      </a:r>
                      <a:endParaRPr lang="en-US" sz="1400" dirty="0"/>
                    </a:p>
                  </a:txBody>
                  <a:tcPr/>
                </a:tc>
              </a:tr>
              <a:tr h="0">
                <a:tc>
                  <a:txBody>
                    <a:bodyPr/>
                    <a:lstStyle/>
                    <a:p>
                      <a:r>
                        <a:rPr lang="en-US" sz="1200" dirty="0" smtClean="0">
                          <a:latin typeface="Courier New" pitchFamily="49" charset="0"/>
                          <a:cs typeface="Courier New" pitchFamily="49" charset="0"/>
                        </a:rPr>
                        <a:t>isalnum</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a:t>
                      </a:r>
                      <a:r>
                        <a:rPr lang="en-US" sz="1400" i="0" dirty="0" smtClean="0"/>
                        <a:t> si el caracter es alfanumérico,</a:t>
                      </a:r>
                      <a:r>
                        <a:rPr lang="en-US" sz="1400" i="0" baseline="0" dirty="0" smtClean="0"/>
                        <a:t> una letra o un dígito</a:t>
                      </a:r>
                      <a:endParaRPr lang="en-US" sz="1400" dirty="0"/>
                    </a:p>
                  </a:txBody>
                  <a:tcPr/>
                </a:tc>
              </a:tr>
              <a:tr h="0">
                <a:tc>
                  <a:txBody>
                    <a:bodyPr/>
                    <a:lstStyle/>
                    <a:p>
                      <a:r>
                        <a:rPr lang="en-US" sz="1200" dirty="0" smtClean="0">
                          <a:latin typeface="Courier New" pitchFamily="49" charset="0"/>
                          <a:cs typeface="Courier New" pitchFamily="49" charset="0"/>
                        </a:rPr>
                        <a:t>isdigit</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a:t>
                      </a:r>
                      <a:r>
                        <a:rPr lang="en-US" sz="1400" i="0" dirty="0" smtClean="0"/>
                        <a:t> si el caracter es un dígito (0 – 9)</a:t>
                      </a:r>
                      <a:endParaRPr lang="en-US" sz="1400" dirty="0"/>
                    </a:p>
                  </a:txBody>
                  <a:tcPr/>
                </a:tc>
              </a:tr>
              <a:tr h="0">
                <a:tc>
                  <a:txBody>
                    <a:bodyPr/>
                    <a:lstStyle/>
                    <a:p>
                      <a:r>
                        <a:rPr lang="en-US" sz="1200" dirty="0" smtClean="0">
                          <a:latin typeface="Courier New" pitchFamily="49" charset="0"/>
                          <a:cs typeface="Courier New" pitchFamily="49" charset="0"/>
                        </a:rPr>
                        <a:t>islower</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a:t>
                      </a:r>
                      <a:r>
                        <a:rPr lang="en-US" sz="1400" i="0" dirty="0" smtClean="0"/>
                        <a:t> si el caracter es una letra</a:t>
                      </a:r>
                      <a:r>
                        <a:rPr lang="en-US" sz="1400" i="0" baseline="0" dirty="0" smtClean="0"/>
                        <a:t> minúscula</a:t>
                      </a:r>
                      <a:endParaRPr lang="en-US" sz="1400" dirty="0"/>
                    </a:p>
                  </a:txBody>
                  <a:tcPr/>
                </a:tc>
              </a:tr>
              <a:tr h="0">
                <a:tc>
                  <a:txBody>
                    <a:bodyPr/>
                    <a:lstStyle/>
                    <a:p>
                      <a:r>
                        <a:rPr lang="en-US" sz="1200" dirty="0" smtClean="0">
                          <a:latin typeface="Courier New" pitchFamily="49" charset="0"/>
                          <a:cs typeface="Courier New" pitchFamily="49" charset="0"/>
                        </a:rPr>
                        <a:t>isprint</a:t>
                      </a:r>
                      <a:endParaRPr lang="en-US" sz="1200" dirty="0">
                        <a:latin typeface="Courier New" pitchFamily="49" charset="0"/>
                        <a:cs typeface="Courier New" pitchFamily="49" charset="0"/>
                      </a:endParaRPr>
                    </a:p>
                  </a:txBody>
                  <a:tcPr/>
                </a:tc>
                <a:tc>
                  <a:txBody>
                    <a:bodyPr/>
                    <a:lstStyle/>
                    <a:p>
                      <a:r>
                        <a:rPr lang="en-US" sz="1400" dirty="0" smtClean="0"/>
                        <a:t>Retorna</a:t>
                      </a:r>
                      <a:r>
                        <a:rPr lang="en-US" sz="1400" baseline="0" dirty="0" smtClean="0"/>
                        <a:t> </a:t>
                      </a:r>
                      <a:r>
                        <a:rPr lang="en-US" sz="1400" i="1" baseline="0" dirty="0" smtClean="0"/>
                        <a:t>true</a:t>
                      </a:r>
                      <a:r>
                        <a:rPr lang="en-US" sz="1400" i="0" baseline="0" dirty="0" smtClean="0"/>
                        <a:t> si el argumento es un caracter imprimible (incluye el espacio en blanco)</a:t>
                      </a:r>
                      <a:endParaRPr lang="en-US" sz="1400" dirty="0"/>
                    </a:p>
                  </a:txBody>
                  <a:tcPr/>
                </a:tc>
              </a:tr>
              <a:tr h="0">
                <a:tc>
                  <a:txBody>
                    <a:bodyPr/>
                    <a:lstStyle/>
                    <a:p>
                      <a:r>
                        <a:rPr lang="en-US" sz="1200" dirty="0" smtClean="0">
                          <a:latin typeface="Courier New" pitchFamily="49" charset="0"/>
                          <a:cs typeface="Courier New" pitchFamily="49" charset="0"/>
                        </a:rPr>
                        <a:t>ispunct</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 </a:t>
                      </a:r>
                      <a:r>
                        <a:rPr lang="en-US" sz="1400" i="0" dirty="0" smtClean="0"/>
                        <a:t>si</a:t>
                      </a:r>
                      <a:r>
                        <a:rPr lang="en-US" sz="1400" i="0" baseline="0" dirty="0" smtClean="0"/>
                        <a:t> el argumento es un caracter imprimible excluyendo dígitos, letras o espacio en blanco</a:t>
                      </a:r>
                      <a:endParaRPr lang="en-US" sz="1400" dirty="0"/>
                    </a:p>
                  </a:txBody>
                  <a:tcPr/>
                </a:tc>
              </a:tr>
              <a:tr h="0">
                <a:tc>
                  <a:txBody>
                    <a:bodyPr/>
                    <a:lstStyle/>
                    <a:p>
                      <a:r>
                        <a:rPr lang="en-US" sz="1200" dirty="0" smtClean="0">
                          <a:latin typeface="Courier New" pitchFamily="49" charset="0"/>
                          <a:cs typeface="Courier New" pitchFamily="49" charset="0"/>
                        </a:rPr>
                        <a:t>isupper</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a:t>
                      </a:r>
                      <a:r>
                        <a:rPr lang="en-US" sz="1400" i="0" dirty="0" smtClean="0"/>
                        <a:t> si el caracter es una letra</a:t>
                      </a:r>
                      <a:r>
                        <a:rPr lang="en-US" sz="1400" i="0" baseline="0" dirty="0" smtClean="0"/>
                        <a:t> mayúscula</a:t>
                      </a:r>
                      <a:endParaRPr lang="en-US" sz="1400" dirty="0"/>
                    </a:p>
                  </a:txBody>
                  <a:tcPr/>
                </a:tc>
              </a:tr>
              <a:tr h="0">
                <a:tc>
                  <a:txBody>
                    <a:bodyPr/>
                    <a:lstStyle/>
                    <a:p>
                      <a:r>
                        <a:rPr lang="en-US" sz="1200" dirty="0" smtClean="0">
                          <a:latin typeface="Courier New" pitchFamily="49" charset="0"/>
                          <a:cs typeface="Courier New" pitchFamily="49" charset="0"/>
                        </a:rPr>
                        <a:t>isspace</a:t>
                      </a:r>
                      <a:endParaRPr lang="en-US" sz="1200" dirty="0">
                        <a:latin typeface="Courier New" pitchFamily="49" charset="0"/>
                        <a:cs typeface="Courier New" pitchFamily="49" charset="0"/>
                      </a:endParaRPr>
                    </a:p>
                  </a:txBody>
                  <a:tcPr/>
                </a:tc>
                <a:tc>
                  <a:txBody>
                    <a:bodyPr/>
                    <a:lstStyle/>
                    <a:p>
                      <a:r>
                        <a:rPr lang="en-US" sz="1400" dirty="0" smtClean="0"/>
                        <a:t>Retorna </a:t>
                      </a:r>
                      <a:r>
                        <a:rPr lang="en-US" sz="1400" i="1" dirty="0" smtClean="0"/>
                        <a:t>true</a:t>
                      </a:r>
                      <a:r>
                        <a:rPr lang="en-US" sz="1400" i="0" dirty="0" smtClean="0"/>
                        <a:t> si el argumento es un caracter de espacio en blanco (tab, enter o newline, espacio en blanco)</a:t>
                      </a:r>
                      <a:endParaRPr lang="en-US" sz="1400" dirty="0"/>
                    </a:p>
                  </a:txBody>
                  <a:tcPr/>
                </a:tc>
              </a:tr>
              <a:tr h="0">
                <a:tc>
                  <a:txBody>
                    <a:bodyPr/>
                    <a:lstStyle/>
                    <a:p>
                      <a:r>
                        <a:rPr lang="en-US" sz="1200" dirty="0" smtClean="0">
                          <a:latin typeface="Courier New" pitchFamily="49" charset="0"/>
                          <a:cs typeface="Courier New" pitchFamily="49" charset="0"/>
                        </a:rPr>
                        <a:t>tolower</a:t>
                      </a:r>
                      <a:endParaRPr lang="en-US" sz="1200" dirty="0">
                        <a:latin typeface="Courier New" pitchFamily="49" charset="0"/>
                        <a:cs typeface="Courier New" pitchFamily="49" charset="0"/>
                      </a:endParaRPr>
                    </a:p>
                  </a:txBody>
                  <a:tcPr/>
                </a:tc>
                <a:tc>
                  <a:txBody>
                    <a:bodyPr/>
                    <a:lstStyle/>
                    <a:p>
                      <a:r>
                        <a:rPr lang="en-US" sz="1400" dirty="0" smtClean="0"/>
                        <a:t>Retorna el</a:t>
                      </a:r>
                      <a:r>
                        <a:rPr lang="en-US" sz="1400" baseline="0" dirty="0" smtClean="0"/>
                        <a:t> caracter en minúscula equivalente al argumento utilizado</a:t>
                      </a:r>
                      <a:endParaRPr lang="en-US" sz="1400" dirty="0"/>
                    </a:p>
                  </a:txBody>
                  <a:tcPr/>
                </a:tc>
              </a:tr>
              <a:tr h="0">
                <a:tc>
                  <a:txBody>
                    <a:bodyPr/>
                    <a:lstStyle/>
                    <a:p>
                      <a:r>
                        <a:rPr lang="en-US" sz="1200" dirty="0" smtClean="0">
                          <a:latin typeface="Courier New" pitchFamily="49" charset="0"/>
                          <a:cs typeface="Courier New" pitchFamily="49" charset="0"/>
                        </a:rPr>
                        <a:t>toupper</a:t>
                      </a:r>
                      <a:endParaRPr lang="en-US" sz="1200" dirty="0">
                        <a:latin typeface="Courier New" pitchFamily="49" charset="0"/>
                        <a:cs typeface="Courier New" pitchFamily="49"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Retorna el</a:t>
                      </a:r>
                      <a:r>
                        <a:rPr lang="en-US" sz="1400" baseline="0" dirty="0" smtClean="0"/>
                        <a:t> caracter en mayúscula equivalente al argumento utilizado</a:t>
                      </a:r>
                      <a:endParaRPr lang="en-US" sz="1400" dirty="0" smtClean="0"/>
                    </a:p>
                  </a:txBody>
                  <a:tcPr/>
                </a:tc>
              </a:tr>
            </a:tbl>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ctype</a:t>
            </a:r>
            <a:endParaRPr lang="es-DO" dirty="0"/>
          </a:p>
        </p:txBody>
      </p:sp>
      <p:sp>
        <p:nvSpPr>
          <p:cNvPr id="9" name="Rectangle 8"/>
          <p:cNvSpPr/>
          <p:nvPr/>
        </p:nvSpPr>
        <p:spPr>
          <a:xfrm>
            <a:off x="6019800" y="2362200"/>
            <a:ext cx="2743200" cy="3352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Este ejemplo analiza una variable string llamada </a:t>
            </a:r>
            <a:r>
              <a:rPr lang="es-DO" sz="1200" i="1" dirty="0" smtClean="0"/>
              <a:t>asignatura</a:t>
            </a:r>
            <a:r>
              <a:rPr lang="es-DO" sz="1200" dirty="0" smtClean="0"/>
              <a:t> y determina cuantos dígitos contiene la cadena haciendo uso de la función </a:t>
            </a:r>
            <a:r>
              <a:rPr lang="es-DO" sz="1200" b="1" i="1" dirty="0" smtClean="0"/>
              <a:t>isdigit</a:t>
            </a:r>
            <a:r>
              <a:rPr lang="es-DO" sz="1200" dirty="0" smtClean="0"/>
              <a:t>.</a:t>
            </a:r>
          </a:p>
          <a:p>
            <a:endParaRPr lang="es-DO" sz="1200" dirty="0" smtClean="0"/>
          </a:p>
          <a:p>
            <a:r>
              <a:rPr lang="es-DO" sz="1200" dirty="0" smtClean="0"/>
              <a:t>Recuerde que para proveer el caracter de una cadena o string en particular utilizamos la función </a:t>
            </a:r>
            <a:r>
              <a:rPr lang="es-DO" sz="1200" b="1" i="1" dirty="0" smtClean="0"/>
              <a:t>at</a:t>
            </a:r>
            <a:r>
              <a:rPr lang="es-DO" sz="1200" dirty="0" smtClean="0"/>
              <a:t> la cual nos devuelve el caracter en la posición indicada por el valor entero usado como argumento.</a:t>
            </a:r>
          </a:p>
          <a:p>
            <a:endParaRPr lang="es-DO" sz="1200" dirty="0" smtClean="0"/>
          </a:p>
          <a:p>
            <a:r>
              <a:rPr lang="es-DO" sz="1200" dirty="0" smtClean="0"/>
              <a:t>En este caso utilizamos un ciclo para navegar a través de toda la cadena, posición por posición y aplicamos la función </a:t>
            </a:r>
            <a:r>
              <a:rPr lang="es-DO" sz="1200" b="1" i="1" dirty="0" smtClean="0"/>
              <a:t>isdigit </a:t>
            </a:r>
            <a:r>
              <a:rPr lang="es-DO" sz="1200" dirty="0" smtClean="0"/>
              <a:t>para preguntar si el caracter o posición de la cadena actualmente accedida es un número.</a:t>
            </a:r>
          </a:p>
        </p:txBody>
      </p:sp>
      <p:sp>
        <p:nvSpPr>
          <p:cNvPr id="14" name="Content Placeholder 13"/>
          <p:cNvSpPr>
            <a:spLocks noGrp="1"/>
          </p:cNvSpPr>
          <p:nvPr>
            <p:ph sz="quarter" idx="13"/>
          </p:nvPr>
        </p:nvSpPr>
        <p:spPr>
          <a:xfrm>
            <a:off x="609600" y="1803400"/>
            <a:ext cx="8153400" cy="558800"/>
          </a:xfrm>
        </p:spPr>
        <p:txBody>
          <a:bodyPr>
            <a:normAutofit/>
          </a:bodyPr>
          <a:lstStyle/>
          <a:p>
            <a:r>
              <a:rPr lang="en-US" sz="2400" dirty="0" smtClean="0"/>
              <a:t>Veamos un ejemplo</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990600" y="2362200"/>
            <a:ext cx="4829175" cy="3076575"/>
          </a:xfrm>
          <a:prstGeom prst="rect">
            <a:avLst/>
          </a:prstGeom>
          <a:noFill/>
          <a:ln w="9525">
            <a:noFill/>
            <a:miter lim="800000"/>
            <a:headEnd/>
            <a:tailEnd/>
          </a:ln>
          <a:effectLst/>
        </p:spPr>
      </p:pic>
      <p:sp>
        <p:nvSpPr>
          <p:cNvPr id="7" name="Rectangle 6"/>
          <p:cNvSpPr/>
          <p:nvPr/>
        </p:nvSpPr>
        <p:spPr>
          <a:xfrm>
            <a:off x="979967" y="4136066"/>
            <a:ext cx="3505200" cy="152400"/>
          </a:xfrm>
          <a:prstGeom prst="rect">
            <a:avLst/>
          </a:prstGeom>
          <a:solidFill>
            <a:srgbClr val="FFFF00">
              <a:alpha val="19000"/>
            </a:srgbClr>
          </a:solidFill>
          <a:ln>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9" idx="1"/>
          </p:cNvCxnSpPr>
          <p:nvPr/>
        </p:nvCxnSpPr>
        <p:spPr>
          <a:xfrm rot="10800000" flipV="1">
            <a:off x="4495800" y="4038600"/>
            <a:ext cx="15240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Recursos ctype</a:t>
            </a:r>
            <a:endParaRPr lang="es-DO" dirty="0"/>
          </a:p>
        </p:txBody>
      </p:sp>
      <p:sp>
        <p:nvSpPr>
          <p:cNvPr id="9" name="Rectangle 8"/>
          <p:cNvSpPr/>
          <p:nvPr/>
        </p:nvSpPr>
        <p:spPr>
          <a:xfrm>
            <a:off x="5715000" y="2362200"/>
            <a:ext cx="3048000" cy="2895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En esta ocasión definimos una variable </a:t>
            </a:r>
            <a:r>
              <a:rPr lang="es-DO" sz="1200" i="1" dirty="0" smtClean="0"/>
              <a:t>string</a:t>
            </a:r>
            <a:r>
              <a:rPr lang="es-DO" sz="1200" dirty="0" smtClean="0"/>
              <a:t> llamada </a:t>
            </a:r>
            <a:r>
              <a:rPr lang="es-DO" sz="1200" i="1" dirty="0" smtClean="0"/>
              <a:t>msj</a:t>
            </a:r>
            <a:r>
              <a:rPr lang="es-DO" sz="1200" dirty="0" smtClean="0"/>
              <a:t> la cual contiene el texto </a:t>
            </a:r>
            <a:r>
              <a:rPr lang="es-DO" sz="1200" dirty="0" smtClean="0">
                <a:solidFill>
                  <a:schemeClr val="tx1">
                    <a:lumMod val="75000"/>
                    <a:lumOff val="25000"/>
                  </a:schemeClr>
                </a:solidFill>
              </a:rPr>
              <a:t>“Programando con C++ en INF-510”</a:t>
            </a:r>
            <a:r>
              <a:rPr lang="es-DO" sz="1200" dirty="0" smtClean="0"/>
              <a:t>.  Definimos una constante tipo </a:t>
            </a:r>
            <a:r>
              <a:rPr lang="es-DO" sz="1200" i="1" dirty="0" smtClean="0"/>
              <a:t>char</a:t>
            </a:r>
            <a:r>
              <a:rPr lang="es-DO" sz="1200" dirty="0" smtClean="0"/>
              <a:t> para almacenar el caracter a evaluar con cada función.</a:t>
            </a:r>
          </a:p>
          <a:p>
            <a:endParaRPr lang="es-DO" sz="1200" dirty="0" smtClean="0"/>
          </a:p>
          <a:p>
            <a:r>
              <a:rPr lang="es-DO" sz="1200" dirty="0" smtClean="0"/>
              <a:t>Luego invocamos por cada línea la función ctype y con el operador ternario desplegamos Si o No en lugar de un número distinto de cero si es verdadero o cero si es falso.</a:t>
            </a:r>
          </a:p>
          <a:p>
            <a:endParaRPr lang="es-DO" sz="1200" dirty="0" smtClean="0"/>
          </a:p>
          <a:p>
            <a:r>
              <a:rPr lang="es-DO" sz="1200" dirty="0" smtClean="0"/>
              <a:t>Le invitamos a jugar con este programa y probar diversos caracteres utilizando las funciones ctype explicadas en esta unidad.</a:t>
            </a:r>
          </a:p>
        </p:txBody>
      </p:sp>
      <p:sp>
        <p:nvSpPr>
          <p:cNvPr id="14" name="Content Placeholder 13"/>
          <p:cNvSpPr>
            <a:spLocks noGrp="1"/>
          </p:cNvSpPr>
          <p:nvPr>
            <p:ph sz="quarter" idx="13"/>
          </p:nvPr>
        </p:nvSpPr>
        <p:spPr>
          <a:xfrm>
            <a:off x="609600" y="1803400"/>
            <a:ext cx="8153400" cy="558800"/>
          </a:xfrm>
        </p:spPr>
        <p:txBody>
          <a:bodyPr>
            <a:normAutofit/>
          </a:bodyPr>
          <a:lstStyle/>
          <a:p>
            <a:r>
              <a:rPr lang="en-US" sz="2400" dirty="0" smtClean="0"/>
              <a:t>Veamos otro ejemplo usando diversas funciones ctype</a:t>
            </a:r>
            <a:endParaRPr lang="en-US" sz="2400" dirty="0"/>
          </a:p>
        </p:txBody>
      </p:sp>
      <p:pic>
        <p:nvPicPr>
          <p:cNvPr id="2051" name="Picture 3"/>
          <p:cNvPicPr>
            <a:picLocks noChangeAspect="1" noChangeArrowheads="1"/>
          </p:cNvPicPr>
          <p:nvPr/>
        </p:nvPicPr>
        <p:blipFill>
          <a:blip r:embed="rId2" cstate="print"/>
          <a:srcRect/>
          <a:stretch>
            <a:fillRect/>
          </a:stretch>
        </p:blipFill>
        <p:spPr bwMode="auto">
          <a:xfrm>
            <a:off x="1066800" y="2362200"/>
            <a:ext cx="3886200" cy="41025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Contenido</a:t>
            </a:r>
            <a:endParaRPr lang="en-US" dirty="0"/>
          </a:p>
        </p:txBody>
      </p:sp>
      <p:sp>
        <p:nvSpPr>
          <p:cNvPr id="3" name="Rectangle 2"/>
          <p:cNvSpPr>
            <a:spLocks noGrp="1"/>
          </p:cNvSpPr>
          <p:nvPr>
            <p:ph sz="quarter" idx="13"/>
          </p:nvPr>
        </p:nvSpPr>
        <p:spPr>
          <a:xfrm>
            <a:off x="609600" y="2006600"/>
            <a:ext cx="7924800" cy="4267200"/>
          </a:xfrm>
        </p:spPr>
        <p:txBody>
          <a:bodyPr anchor="ctr"/>
          <a:lstStyle>
            <a:extLst/>
          </a:lstStyle>
          <a:p>
            <a:pPr marL="274320" lvl="1"/>
            <a:r>
              <a:rPr lang="es-DO" altLang="x-none" dirty="0" smtClean="0">
                <a:solidFill>
                  <a:schemeClr val="bg1">
                    <a:lumMod val="50000"/>
                  </a:schemeClr>
                </a:solidFill>
              </a:rPr>
              <a:t>Strings: Concepto y declaración.</a:t>
            </a:r>
          </a:p>
          <a:p>
            <a:pPr marL="274320" lvl="1"/>
            <a:r>
              <a:rPr lang="es-DO" altLang="x-none" dirty="0" smtClean="0">
                <a:solidFill>
                  <a:schemeClr val="bg1">
                    <a:lumMod val="50000"/>
                  </a:schemeClr>
                </a:solidFill>
              </a:rPr>
              <a:t>Operadores de cadenas.</a:t>
            </a:r>
          </a:p>
          <a:p>
            <a:pPr marL="274320" lvl="1"/>
            <a:r>
              <a:rPr lang="es-DO" altLang="x-none" dirty="0" smtClean="0">
                <a:solidFill>
                  <a:schemeClr val="bg1">
                    <a:lumMod val="50000"/>
                  </a:schemeClr>
                </a:solidFill>
              </a:rPr>
              <a:t>Recursos de string.</a:t>
            </a:r>
          </a:p>
          <a:p>
            <a:pPr marL="274320" lvl="1"/>
            <a:r>
              <a:rPr lang="es-DO" altLang="x-none" dirty="0" smtClean="0">
                <a:solidFill>
                  <a:schemeClr val="bg1">
                    <a:lumMod val="50000"/>
                  </a:schemeClr>
                </a:solidFill>
              </a:rPr>
              <a:t>Iteradores.</a:t>
            </a:r>
          </a:p>
          <a:p>
            <a:pPr marL="274320" lvl="1"/>
            <a:r>
              <a:rPr lang="es-DO" altLang="x-none" dirty="0" smtClean="0">
                <a:solidFill>
                  <a:schemeClr val="bg1">
                    <a:lumMod val="50000"/>
                  </a:schemeClr>
                </a:solidFill>
              </a:rPr>
              <a:t>Recursos de ctype.</a:t>
            </a:r>
          </a:p>
          <a:p>
            <a:pPr marL="274320" lvl="1"/>
            <a:r>
              <a:rPr lang="es-DO" dirty="0" smtClean="0"/>
              <a:t>Estructuras: concepto y declaración.</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s-ES" dirty="0" smtClean="0"/>
              <a:t>Concepto, declaración, miembros</a:t>
            </a:r>
          </a:p>
        </p:txBody>
      </p:sp>
      <p:sp>
        <p:nvSpPr>
          <p:cNvPr id="3" name="Title 2"/>
          <p:cNvSpPr>
            <a:spLocks noGrp="1"/>
          </p:cNvSpPr>
          <p:nvPr>
            <p:ph type="title"/>
          </p:nvPr>
        </p:nvSpPr>
        <p:spPr/>
        <p:txBody>
          <a:bodyPr>
            <a:normAutofit/>
          </a:bodyPr>
          <a:lstStyle/>
          <a:p>
            <a:r>
              <a:rPr lang="es-DO" dirty="0" smtClean="0"/>
              <a:t>Estructuras</a:t>
            </a:r>
            <a:endParaRPr lang="es-DO"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3" name="Content Placeholder 2"/>
          <p:cNvSpPr>
            <a:spLocks noGrp="1"/>
          </p:cNvSpPr>
          <p:nvPr>
            <p:ph sz="quarter" idx="13"/>
          </p:nvPr>
        </p:nvSpPr>
        <p:spPr/>
        <p:txBody>
          <a:bodyPr>
            <a:normAutofit/>
          </a:bodyPr>
          <a:lstStyle/>
          <a:p>
            <a:r>
              <a:rPr lang="es-DO" sz="2400" dirty="0" smtClean="0"/>
              <a:t>Es una forma de almacenar en un solo lugar toda la información que pertenece a una entidad completa de data</a:t>
            </a:r>
          </a:p>
          <a:p>
            <a:r>
              <a:rPr lang="es-DO" sz="2400" dirty="0" smtClean="0"/>
              <a:t>Es una colección de datos de diferentes tipos</a:t>
            </a:r>
          </a:p>
          <a:p>
            <a:r>
              <a:rPr lang="es-DO" sz="2400" dirty="0" smtClean="0"/>
              <a:t>Usado para declarar un nuevo tipo definido por el desarrollador</a:t>
            </a:r>
          </a:p>
          <a:p>
            <a:r>
              <a:rPr lang="es-DO" sz="2400" dirty="0" smtClean="0"/>
              <a:t>Agrupa variables de diferentes tipos</a:t>
            </a:r>
          </a:p>
          <a:p>
            <a:r>
              <a:rPr lang="es-DO" sz="2400" dirty="0" smtClean="0"/>
              <a:t>Es el “registro” oficial de C++</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5" name="Rounded Rectangle 4"/>
          <p:cNvSpPr/>
          <p:nvPr/>
        </p:nvSpPr>
        <p:spPr>
          <a:xfrm>
            <a:off x="3973033" y="2362200"/>
            <a:ext cx="4038600" cy="1676400"/>
          </a:xfrm>
          <a:prstGeom prst="roundRect">
            <a:avLst>
              <a:gd name="adj" fmla="val 463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Rectangle 5"/>
          <p:cNvSpPr/>
          <p:nvPr/>
        </p:nvSpPr>
        <p:spPr>
          <a:xfrm>
            <a:off x="5192233" y="2514600"/>
            <a:ext cx="1143000" cy="228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7" name="Rectangle 6"/>
          <p:cNvSpPr/>
          <p:nvPr/>
        </p:nvSpPr>
        <p:spPr>
          <a:xfrm>
            <a:off x="5192233" y="2895600"/>
            <a:ext cx="2590800" cy="228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8" name="Rectangle 7"/>
          <p:cNvSpPr/>
          <p:nvPr/>
        </p:nvSpPr>
        <p:spPr>
          <a:xfrm>
            <a:off x="5192233" y="3276600"/>
            <a:ext cx="381000" cy="228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9" name="TextBox 8"/>
          <p:cNvSpPr txBox="1"/>
          <p:nvPr/>
        </p:nvSpPr>
        <p:spPr>
          <a:xfrm>
            <a:off x="4049233" y="2482702"/>
            <a:ext cx="1066800" cy="292388"/>
          </a:xfrm>
          <a:prstGeom prst="rect">
            <a:avLst/>
          </a:prstGeom>
          <a:noFill/>
        </p:spPr>
        <p:txBody>
          <a:bodyPr wrap="square" rtlCol="0">
            <a:spAutoFit/>
          </a:bodyPr>
          <a:lstStyle/>
          <a:p>
            <a:r>
              <a:rPr lang="en-US" sz="1300" dirty="0" smtClean="0"/>
              <a:t>codigo</a:t>
            </a:r>
            <a:endParaRPr lang="en-US" sz="1300" dirty="0"/>
          </a:p>
        </p:txBody>
      </p:sp>
      <p:sp>
        <p:nvSpPr>
          <p:cNvPr id="10" name="TextBox 9"/>
          <p:cNvSpPr txBox="1"/>
          <p:nvPr/>
        </p:nvSpPr>
        <p:spPr>
          <a:xfrm>
            <a:off x="4049233" y="2895600"/>
            <a:ext cx="1066800" cy="292388"/>
          </a:xfrm>
          <a:prstGeom prst="rect">
            <a:avLst/>
          </a:prstGeom>
          <a:noFill/>
        </p:spPr>
        <p:txBody>
          <a:bodyPr wrap="square" rtlCol="0">
            <a:spAutoFit/>
          </a:bodyPr>
          <a:lstStyle/>
          <a:p>
            <a:r>
              <a:rPr lang="en-US" sz="1300" dirty="0" smtClean="0"/>
              <a:t>descripcion</a:t>
            </a:r>
            <a:endParaRPr lang="en-US" sz="1300" dirty="0"/>
          </a:p>
        </p:txBody>
      </p:sp>
      <p:sp>
        <p:nvSpPr>
          <p:cNvPr id="11" name="TextBox 10"/>
          <p:cNvSpPr txBox="1"/>
          <p:nvPr/>
        </p:nvSpPr>
        <p:spPr>
          <a:xfrm>
            <a:off x="4049233" y="3276600"/>
            <a:ext cx="1066800" cy="292388"/>
          </a:xfrm>
          <a:prstGeom prst="rect">
            <a:avLst/>
          </a:prstGeom>
          <a:noFill/>
        </p:spPr>
        <p:txBody>
          <a:bodyPr wrap="square" rtlCol="0">
            <a:spAutoFit/>
          </a:bodyPr>
          <a:lstStyle/>
          <a:p>
            <a:r>
              <a:rPr lang="en-US" sz="1300" dirty="0" smtClean="0"/>
              <a:t>aplicaITBIS</a:t>
            </a:r>
            <a:endParaRPr lang="en-US" sz="1300" dirty="0"/>
          </a:p>
        </p:txBody>
      </p:sp>
      <p:sp>
        <p:nvSpPr>
          <p:cNvPr id="12" name="TextBox 11"/>
          <p:cNvSpPr txBox="1"/>
          <p:nvPr/>
        </p:nvSpPr>
        <p:spPr>
          <a:xfrm>
            <a:off x="4049233" y="3636334"/>
            <a:ext cx="1066800" cy="292388"/>
          </a:xfrm>
          <a:prstGeom prst="rect">
            <a:avLst/>
          </a:prstGeom>
          <a:noFill/>
        </p:spPr>
        <p:txBody>
          <a:bodyPr wrap="square" rtlCol="0">
            <a:spAutoFit/>
          </a:bodyPr>
          <a:lstStyle/>
          <a:p>
            <a:r>
              <a:rPr lang="en-US" sz="1300" dirty="0" smtClean="0"/>
              <a:t>precio</a:t>
            </a:r>
            <a:endParaRPr lang="en-US" sz="1300" dirty="0"/>
          </a:p>
        </p:txBody>
      </p:sp>
      <p:sp>
        <p:nvSpPr>
          <p:cNvPr id="13" name="Rectangle 12"/>
          <p:cNvSpPr/>
          <p:nvPr/>
        </p:nvSpPr>
        <p:spPr>
          <a:xfrm>
            <a:off x="5192233" y="3657600"/>
            <a:ext cx="1143000" cy="228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15" name="Rounded Rectangle 14"/>
          <p:cNvSpPr/>
          <p:nvPr/>
        </p:nvSpPr>
        <p:spPr>
          <a:xfrm>
            <a:off x="3962400" y="2057400"/>
            <a:ext cx="4038600" cy="228600"/>
          </a:xfrm>
          <a:prstGeom prst="round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accent3">
                    <a:lumMod val="75000"/>
                  </a:schemeClr>
                </a:solidFill>
              </a:rPr>
              <a:t>Articulo</a:t>
            </a:r>
          </a:p>
        </p:txBody>
      </p:sp>
      <p:sp>
        <p:nvSpPr>
          <p:cNvPr id="17" name="TextBox 16"/>
          <p:cNvSpPr txBox="1"/>
          <p:nvPr/>
        </p:nvSpPr>
        <p:spPr>
          <a:xfrm>
            <a:off x="609600" y="2057400"/>
            <a:ext cx="3276600" cy="1815882"/>
          </a:xfrm>
          <a:prstGeom prst="rect">
            <a:avLst/>
          </a:prstGeom>
          <a:noFill/>
        </p:spPr>
        <p:txBody>
          <a:bodyPr wrap="square" rtlCol="0">
            <a:spAutoFit/>
          </a:bodyPr>
          <a:lstStyle/>
          <a:p>
            <a:r>
              <a:rPr lang="en-US" sz="1600" dirty="0" smtClean="0"/>
              <a:t>Veamos la siguiente gráfica la cual muestra la anatomía de una estructura en C++, en ella podemos observar dos componentes:</a:t>
            </a:r>
          </a:p>
          <a:p>
            <a:endParaRPr lang="en-US" sz="1600" dirty="0" smtClean="0"/>
          </a:p>
          <a:p>
            <a:pPr marL="342900" indent="-342900">
              <a:buAutoNum type="arabicPeriod"/>
            </a:pPr>
            <a:r>
              <a:rPr lang="en-US" sz="1600" dirty="0" smtClean="0"/>
              <a:t>El nombre de la estructura</a:t>
            </a:r>
          </a:p>
          <a:p>
            <a:pPr marL="342900" indent="-342900">
              <a:buAutoNum type="arabicPeriod"/>
            </a:pPr>
            <a:r>
              <a:rPr lang="en-US" sz="1600" dirty="0" smtClean="0"/>
              <a:t>Los miembros de la estructura</a:t>
            </a:r>
          </a:p>
        </p:txBody>
      </p:sp>
      <p:sp>
        <p:nvSpPr>
          <p:cNvPr id="18" name="Flowchart: Connector 17"/>
          <p:cNvSpPr/>
          <p:nvPr/>
        </p:nvSpPr>
        <p:spPr>
          <a:xfrm>
            <a:off x="8316433" y="2013099"/>
            <a:ext cx="304800" cy="304800"/>
          </a:xfrm>
          <a:prstGeom prst="flowChartConnector">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1</a:t>
            </a:r>
            <a:endParaRPr lang="en-US" dirty="0"/>
          </a:p>
        </p:txBody>
      </p:sp>
      <p:sp>
        <p:nvSpPr>
          <p:cNvPr id="19" name="Flowchart: Connector 18"/>
          <p:cNvSpPr/>
          <p:nvPr/>
        </p:nvSpPr>
        <p:spPr>
          <a:xfrm>
            <a:off x="8305800" y="3429000"/>
            <a:ext cx="304800" cy="304800"/>
          </a:xfrm>
          <a:prstGeom prst="flowChartConnector">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2</a:t>
            </a:r>
            <a:endParaRPr lang="en-US" dirty="0"/>
          </a:p>
        </p:txBody>
      </p:sp>
      <p:cxnSp>
        <p:nvCxnSpPr>
          <p:cNvPr id="21" name="Straight Arrow Connector 20"/>
          <p:cNvCxnSpPr>
            <a:stCxn id="18" idx="2"/>
            <a:endCxn id="15" idx="3"/>
          </p:cNvCxnSpPr>
          <p:nvPr/>
        </p:nvCxnSpPr>
        <p:spPr>
          <a:xfrm rot="10800000" flipV="1">
            <a:off x="8001001" y="2165498"/>
            <a:ext cx="315433" cy="62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9" idx="2"/>
            <a:endCxn id="13" idx="3"/>
          </p:cNvCxnSpPr>
          <p:nvPr/>
        </p:nvCxnSpPr>
        <p:spPr>
          <a:xfrm rot="10800000" flipV="1">
            <a:off x="6335234" y="3581400"/>
            <a:ext cx="1970567" cy="190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9" idx="2"/>
            <a:endCxn id="8" idx="3"/>
          </p:cNvCxnSpPr>
          <p:nvPr/>
        </p:nvCxnSpPr>
        <p:spPr>
          <a:xfrm rot="10800000">
            <a:off x="5573234" y="3390900"/>
            <a:ext cx="2732567" cy="190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9" idx="2"/>
            <a:endCxn id="7" idx="3"/>
          </p:cNvCxnSpPr>
          <p:nvPr/>
        </p:nvCxnSpPr>
        <p:spPr>
          <a:xfrm rot="10800000">
            <a:off x="7783034" y="3009900"/>
            <a:ext cx="522767" cy="571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9" idx="2"/>
            <a:endCxn id="6" idx="3"/>
          </p:cNvCxnSpPr>
          <p:nvPr/>
        </p:nvCxnSpPr>
        <p:spPr>
          <a:xfrm rot="10800000">
            <a:off x="6335234" y="2628900"/>
            <a:ext cx="1970567" cy="9525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609600" y="4267200"/>
            <a:ext cx="7467600" cy="2062103"/>
          </a:xfrm>
          <a:prstGeom prst="rect">
            <a:avLst/>
          </a:prstGeom>
          <a:noFill/>
        </p:spPr>
        <p:txBody>
          <a:bodyPr wrap="square" rtlCol="0">
            <a:spAutoFit/>
          </a:bodyPr>
          <a:lstStyle/>
          <a:p>
            <a:r>
              <a:rPr lang="en-US" sz="1600" dirty="0" smtClean="0"/>
              <a:t>Como podemos ver, una estructura puede estar compuesta por uno o más miembros, estos miembros por lo general son miembros dato (también podemos tener funciones como miembros de una estructura).  Estos elementos que componen la estructura pueden ser cualquier tipo de dato de los ya conocidos o incluso podríamos tener una estructura como miembro de otro estructura.</a:t>
            </a:r>
          </a:p>
          <a:p>
            <a:endParaRPr lang="en-US" sz="1600" dirty="0" smtClean="0"/>
          </a:p>
          <a:p>
            <a:r>
              <a:rPr lang="en-US" sz="1600" dirty="0" smtClean="0"/>
              <a:t>Para cada miembro se define su nombre, el cual debe obedecer las reglas de los identificadores, y su tipo de dato.</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3" name="Content Placeholder 2"/>
          <p:cNvSpPr>
            <a:spLocks noGrp="1"/>
          </p:cNvSpPr>
          <p:nvPr>
            <p:ph sz="quarter" idx="13"/>
          </p:nvPr>
        </p:nvSpPr>
        <p:spPr>
          <a:xfrm>
            <a:off x="609600" y="1803400"/>
            <a:ext cx="3962400" cy="4368800"/>
          </a:xfrm>
        </p:spPr>
        <p:txBody>
          <a:bodyPr>
            <a:normAutofit/>
          </a:bodyPr>
          <a:lstStyle/>
          <a:p>
            <a:r>
              <a:rPr lang="es-DO" sz="2400" dirty="0" smtClean="0"/>
              <a:t>Sintaxis</a:t>
            </a:r>
          </a:p>
          <a:p>
            <a:pPr>
              <a:buNone/>
            </a:pPr>
            <a:endParaRPr lang="es-DO" sz="1000" dirty="0" smtClean="0"/>
          </a:p>
          <a:p>
            <a:pPr>
              <a:buNone/>
            </a:pPr>
            <a:r>
              <a:rPr lang="es-DO" sz="1400" dirty="0" smtClean="0">
                <a:latin typeface="Courier New" pitchFamily="49" charset="0"/>
                <a:cs typeface="Courier New" pitchFamily="49" charset="0"/>
              </a:rPr>
              <a:t>	</a:t>
            </a:r>
            <a:r>
              <a:rPr lang="es-DO" sz="1400" b="1" dirty="0" smtClean="0">
                <a:latin typeface="Courier New" pitchFamily="49" charset="0"/>
                <a:cs typeface="Courier New" pitchFamily="49" charset="0"/>
              </a:rPr>
              <a:t>struct</a:t>
            </a:r>
            <a:r>
              <a:rPr lang="es-DO" sz="1400" dirty="0" smtClean="0">
                <a:latin typeface="Courier New" pitchFamily="49" charset="0"/>
                <a:cs typeface="Courier New" pitchFamily="49" charset="0"/>
              </a:rPr>
              <a:t> IdEstructura</a:t>
            </a:r>
          </a:p>
          <a:p>
            <a:pPr>
              <a:buNone/>
            </a:pPr>
            <a:r>
              <a:rPr lang="es-DO" sz="1400" dirty="0" smtClean="0">
                <a:latin typeface="Courier New" pitchFamily="49" charset="0"/>
                <a:cs typeface="Courier New" pitchFamily="49" charset="0"/>
              </a:rPr>
              <a:t>	{</a:t>
            </a:r>
          </a:p>
          <a:p>
            <a:pPr>
              <a:buNone/>
            </a:pPr>
            <a:r>
              <a:rPr lang="es-DO" sz="1400" dirty="0" smtClean="0">
                <a:latin typeface="Courier New" pitchFamily="49" charset="0"/>
                <a:cs typeface="Courier New" pitchFamily="49" charset="0"/>
              </a:rPr>
              <a:t>	    tipo idMiembro1;</a:t>
            </a:r>
          </a:p>
          <a:p>
            <a:pPr>
              <a:buNone/>
            </a:pPr>
            <a:r>
              <a:rPr lang="es-DO" sz="1400" dirty="0" smtClean="0">
                <a:latin typeface="Courier New" pitchFamily="49" charset="0"/>
                <a:cs typeface="Courier New" pitchFamily="49" charset="0"/>
              </a:rPr>
              <a:t>	    tipo idMiembro2;</a:t>
            </a:r>
          </a:p>
          <a:p>
            <a:pPr>
              <a:buNone/>
            </a:pPr>
            <a:r>
              <a:rPr lang="es-DO" sz="1400" dirty="0" smtClean="0">
                <a:latin typeface="Courier New" pitchFamily="49" charset="0"/>
                <a:cs typeface="Courier New" pitchFamily="49" charset="0"/>
              </a:rPr>
              <a:t>	    tipo idMiembro3;</a:t>
            </a:r>
          </a:p>
          <a:p>
            <a:pPr>
              <a:buNone/>
            </a:pPr>
            <a:r>
              <a:rPr lang="es-DO" sz="1400" dirty="0" smtClean="0">
                <a:latin typeface="Courier New" pitchFamily="49" charset="0"/>
                <a:cs typeface="Courier New" pitchFamily="49" charset="0"/>
              </a:rPr>
              <a:t>	    .</a:t>
            </a:r>
          </a:p>
          <a:p>
            <a:pPr>
              <a:buNone/>
            </a:pPr>
            <a:r>
              <a:rPr lang="es-DO" sz="1400" dirty="0" smtClean="0">
                <a:latin typeface="Courier New" pitchFamily="49" charset="0"/>
                <a:cs typeface="Courier New" pitchFamily="49" charset="0"/>
              </a:rPr>
              <a:t>	    .</a:t>
            </a:r>
          </a:p>
          <a:p>
            <a:pPr>
              <a:buNone/>
            </a:pPr>
            <a:r>
              <a:rPr lang="es-DO" sz="1400" dirty="0" smtClean="0">
                <a:latin typeface="Courier New" pitchFamily="49" charset="0"/>
                <a:cs typeface="Courier New" pitchFamily="49" charset="0"/>
              </a:rPr>
              <a:t>	    .</a:t>
            </a:r>
          </a:p>
          <a:p>
            <a:pPr>
              <a:buNone/>
            </a:pPr>
            <a:r>
              <a:rPr lang="es-DO" sz="1400" dirty="0" smtClean="0">
                <a:latin typeface="Courier New" pitchFamily="49" charset="0"/>
                <a:cs typeface="Courier New" pitchFamily="49" charset="0"/>
              </a:rPr>
              <a:t>	    tipo idMiembroN;</a:t>
            </a:r>
          </a:p>
          <a:p>
            <a:pPr>
              <a:buNone/>
            </a:pPr>
            <a:r>
              <a:rPr lang="es-DO" sz="1400" dirty="0" smtClean="0">
                <a:latin typeface="Courier New" pitchFamily="49" charset="0"/>
                <a:cs typeface="Courier New" pitchFamily="49" charset="0"/>
              </a:rPr>
              <a:t>	};</a:t>
            </a:r>
          </a:p>
        </p:txBody>
      </p:sp>
      <p:sp>
        <p:nvSpPr>
          <p:cNvPr id="6" name="Rectangle 5"/>
          <p:cNvSpPr/>
          <p:nvPr/>
        </p:nvSpPr>
        <p:spPr>
          <a:xfrm>
            <a:off x="4800600" y="1981200"/>
            <a:ext cx="3657600" cy="40386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r>
              <a:rPr lang="es-DO" sz="1100" b="1" dirty="0" smtClean="0"/>
              <a:t>Concepto</a:t>
            </a:r>
          </a:p>
          <a:p>
            <a:endParaRPr lang="es-DO" sz="1100" b="1" dirty="0" smtClean="0"/>
          </a:p>
          <a:p>
            <a:r>
              <a:rPr lang="es-DO" sz="1100" dirty="0" smtClean="0"/>
              <a:t>Las estructuras las declaramos antes de la función </a:t>
            </a:r>
            <a:r>
              <a:rPr lang="es-DO" sz="1100" i="1" dirty="0" smtClean="0"/>
              <a:t>main, </a:t>
            </a:r>
            <a:r>
              <a:rPr lang="es-DO" sz="1100" dirty="0" smtClean="0"/>
              <a:t>donde definimos las variables globales.  Cada  miembro de la estructura debe ir separado por punto y coma (;), preferiblemente uno por línea.  Los elementos de la estructura son los siguientes:</a:t>
            </a:r>
          </a:p>
          <a:p>
            <a:endParaRPr lang="es-DO" sz="1100" b="1" dirty="0" smtClean="0"/>
          </a:p>
          <a:p>
            <a:r>
              <a:rPr lang="es-DO" sz="1100" i="1" u="sng" dirty="0" smtClean="0"/>
              <a:t>idEstructura</a:t>
            </a:r>
            <a:r>
              <a:rPr lang="es-DO" sz="1100" dirty="0" smtClean="0"/>
              <a:t>: es el nombre de la estructura, debe respetar las reglas de los identificadores</a:t>
            </a:r>
            <a:endParaRPr lang="es-DO" sz="1100" i="1" dirty="0" smtClean="0"/>
          </a:p>
          <a:p>
            <a:endParaRPr lang="es-DO" sz="1100" i="1" u="sng" dirty="0" smtClean="0"/>
          </a:p>
          <a:p>
            <a:r>
              <a:rPr lang="es-DO" sz="1100" i="1" u="sng" dirty="0" smtClean="0"/>
              <a:t>idMiembro</a:t>
            </a:r>
            <a:r>
              <a:rPr lang="es-DO" sz="1100" dirty="0" smtClean="0"/>
              <a:t>: es el nombre del miembro de la estructura, puede definir tantos miembros desee</a:t>
            </a:r>
            <a:endParaRPr lang="es-DO" sz="1100" i="1" dirty="0" smtClean="0"/>
          </a:p>
          <a:p>
            <a:endParaRPr lang="es-DO" sz="1100" i="1" u="sng" dirty="0" smtClean="0"/>
          </a:p>
          <a:p>
            <a:r>
              <a:rPr lang="es-DO" sz="1100" i="1" u="sng" dirty="0" smtClean="0"/>
              <a:t>tipo</a:t>
            </a:r>
            <a:r>
              <a:rPr lang="es-DO" sz="1100" dirty="0" smtClean="0"/>
              <a:t>: es el tipo de dato del miembro</a:t>
            </a:r>
            <a:endParaRPr lang="es-DO" sz="1100" i="1" dirty="0" smtClean="0"/>
          </a:p>
          <a:p>
            <a:endParaRPr lang="es-DO" sz="1100" dirty="0" smtClean="0"/>
          </a:p>
          <a:p>
            <a:r>
              <a:rPr lang="es-DO" sz="1100" dirty="0" smtClean="0"/>
              <a:t>Note que al final de la declaración de la estructura se utiliza un punto y coma (;) luego de la llave para cerrar dicha definición.</a:t>
            </a:r>
          </a:p>
          <a:p>
            <a:endParaRPr lang="es-DO" sz="1100" dirty="0" smtClean="0"/>
          </a:p>
          <a:p>
            <a:r>
              <a:rPr lang="es-DO" sz="1100" dirty="0" smtClean="0"/>
              <a:t>La declaración por si misma no define ninguna variable, esto es, no asigna espacio en RAM para ningún nombre de variable miembro.</a:t>
            </a:r>
            <a:endParaRPr lang="es-DO" sz="11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3" name="Content Placeholder 2"/>
          <p:cNvSpPr>
            <a:spLocks noGrp="1"/>
          </p:cNvSpPr>
          <p:nvPr>
            <p:ph sz="quarter" idx="13"/>
          </p:nvPr>
        </p:nvSpPr>
        <p:spPr/>
        <p:txBody>
          <a:bodyPr>
            <a:normAutofit lnSpcReduction="10000"/>
          </a:bodyPr>
          <a:lstStyle/>
          <a:p>
            <a:r>
              <a:rPr lang="es-DO" sz="2400" dirty="0" smtClean="0"/>
              <a:t>¿Como declaramos una variable de estructura?</a:t>
            </a:r>
          </a:p>
          <a:p>
            <a:pPr>
              <a:buNone/>
            </a:pPr>
            <a:endParaRPr lang="es-DO" sz="2400" dirty="0" smtClean="0"/>
          </a:p>
          <a:p>
            <a:pPr>
              <a:buNone/>
            </a:pPr>
            <a:r>
              <a:rPr lang="es-DO" sz="2400" dirty="0" smtClean="0"/>
              <a:t>	La forma de declarar una variable tipo estructura es prácticamente la misma forma utilizada para declarar cualquier tipo de variable, veamos:</a:t>
            </a:r>
          </a:p>
          <a:p>
            <a:pPr>
              <a:buNone/>
            </a:pPr>
            <a:r>
              <a:rPr lang="es-DO" sz="2400" dirty="0" smtClean="0"/>
              <a:t>	</a:t>
            </a:r>
          </a:p>
          <a:p>
            <a:pPr>
              <a:buNone/>
            </a:pPr>
            <a:r>
              <a:rPr lang="es-DO" sz="2400" b="1" dirty="0" smtClean="0">
                <a:latin typeface="Courier New" pitchFamily="49" charset="0"/>
                <a:cs typeface="Courier New" pitchFamily="49" charset="0"/>
              </a:rPr>
              <a:t>		</a:t>
            </a:r>
            <a:r>
              <a:rPr lang="es-DO" sz="1800" b="1" dirty="0" smtClean="0">
                <a:latin typeface="Courier New" pitchFamily="49" charset="0"/>
                <a:cs typeface="Courier New" pitchFamily="49" charset="0"/>
              </a:rPr>
              <a:t>idEstructura nombreVariable;</a:t>
            </a:r>
            <a:endParaRPr lang="es-DO" sz="1600" b="1" dirty="0" smtClean="0">
              <a:latin typeface="Courier New" pitchFamily="49" charset="0"/>
              <a:cs typeface="Courier New" pitchFamily="49" charset="0"/>
            </a:endParaRPr>
          </a:p>
          <a:p>
            <a:pPr>
              <a:buNone/>
            </a:pPr>
            <a:endParaRPr lang="es-DO" sz="1600" b="1" dirty="0" smtClean="0">
              <a:latin typeface="Courier New" pitchFamily="49" charset="0"/>
              <a:cs typeface="Courier New" pitchFamily="49" charset="0"/>
            </a:endParaRPr>
          </a:p>
          <a:p>
            <a:pPr>
              <a:buNone/>
            </a:pPr>
            <a:r>
              <a:rPr lang="es-DO" sz="2400" dirty="0" smtClean="0"/>
              <a:t>	Ejemplo:</a:t>
            </a:r>
          </a:p>
          <a:p>
            <a:pPr>
              <a:buNone/>
            </a:pPr>
            <a:endParaRPr lang="es-DO" sz="1600" b="1" dirty="0" smtClean="0">
              <a:latin typeface="Courier New" pitchFamily="49" charset="0"/>
              <a:cs typeface="Courier New" pitchFamily="49" charset="0"/>
            </a:endParaRPr>
          </a:p>
          <a:p>
            <a:pPr>
              <a:buNone/>
            </a:pPr>
            <a:r>
              <a:rPr lang="es-DO" sz="1600" b="1" dirty="0" smtClean="0">
                <a:latin typeface="Courier New" pitchFamily="49" charset="0"/>
                <a:cs typeface="Courier New" pitchFamily="49" charset="0"/>
              </a:rPr>
              <a:t>		</a:t>
            </a:r>
            <a:r>
              <a:rPr lang="es-DO" sz="1800" b="1" dirty="0" smtClean="0">
                <a:latin typeface="Courier New" pitchFamily="49" charset="0"/>
                <a:cs typeface="Courier New" pitchFamily="49" charset="0"/>
              </a:rPr>
              <a:t>Articulo articulo;</a:t>
            </a:r>
            <a:endParaRPr lang="es-DO" sz="2400" b="1" dirty="0" smtClean="0">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000" dirty="0" smtClean="0"/>
              <a:t>Veamos un ejemplo dando entrada a los miembros de una estructura</a:t>
            </a:r>
            <a:endParaRPr lang="es-DO" sz="2000" dirty="0"/>
          </a:p>
        </p:txBody>
      </p:sp>
      <p:sp>
        <p:nvSpPr>
          <p:cNvPr id="9" name="Rectangle 8"/>
          <p:cNvSpPr/>
          <p:nvPr/>
        </p:nvSpPr>
        <p:spPr>
          <a:xfrm>
            <a:off x="4724400" y="2362200"/>
            <a:ext cx="3733800" cy="1752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Como se puede observar, en este ejemplo declaramos una estructura llamada </a:t>
            </a:r>
            <a:r>
              <a:rPr lang="es-DO" sz="1200" i="1" dirty="0" smtClean="0"/>
              <a:t>Perro</a:t>
            </a:r>
            <a:r>
              <a:rPr lang="es-DO" sz="1200" dirty="0" smtClean="0"/>
              <a:t> la cual consta de tres miembros.</a:t>
            </a:r>
          </a:p>
          <a:p>
            <a:endParaRPr lang="es-DO" sz="1200" dirty="0" smtClean="0"/>
          </a:p>
          <a:p>
            <a:r>
              <a:rPr lang="es-DO" sz="1200" dirty="0" smtClean="0"/>
              <a:t>Note que la declaración de la estructura se realiza en la parte del archivo donde se declaran las variables globales.  Fíjese también en la declaración de la variable </a:t>
            </a:r>
            <a:r>
              <a:rPr lang="es-DO" sz="1200" i="1" dirty="0" smtClean="0"/>
              <a:t>miPerro</a:t>
            </a:r>
            <a:r>
              <a:rPr lang="es-DO" sz="1200" dirty="0" smtClean="0"/>
              <a:t> la cual es tipo </a:t>
            </a:r>
            <a:r>
              <a:rPr lang="es-DO" sz="1200" i="1" dirty="0" smtClean="0"/>
              <a:t>Perro, </a:t>
            </a:r>
            <a:r>
              <a:rPr lang="es-DO" sz="1200" dirty="0" smtClean="0"/>
              <a:t>esto significa que puede almacenar el nombre, la edad y la raza bajo una misma entidad de datos.</a:t>
            </a:r>
          </a:p>
        </p:txBody>
      </p:sp>
      <p:pic>
        <p:nvPicPr>
          <p:cNvPr id="1026" name="Picture 2"/>
          <p:cNvPicPr>
            <a:picLocks noChangeAspect="1" noChangeArrowheads="1"/>
          </p:cNvPicPr>
          <p:nvPr/>
        </p:nvPicPr>
        <p:blipFill>
          <a:blip r:embed="rId2" cstate="print"/>
          <a:srcRect/>
          <a:stretch>
            <a:fillRect/>
          </a:stretch>
        </p:blipFill>
        <p:spPr bwMode="auto">
          <a:xfrm>
            <a:off x="1066800" y="2362200"/>
            <a:ext cx="3048000" cy="397933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724400" y="4299099"/>
            <a:ext cx="3733800" cy="21947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Veamos un ejemplo con una estructura como miembro de otra</a:t>
            </a:r>
            <a:endParaRPr lang="es-DO" sz="2400" dirty="0"/>
          </a:p>
        </p:txBody>
      </p:sp>
      <p:sp>
        <p:nvSpPr>
          <p:cNvPr id="9" name="Rectangle 8"/>
          <p:cNvSpPr/>
          <p:nvPr/>
        </p:nvSpPr>
        <p:spPr>
          <a:xfrm>
            <a:off x="4724400" y="2590800"/>
            <a:ext cx="3733800" cy="1752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En la estructura </a:t>
            </a:r>
            <a:r>
              <a:rPr lang="es-DO" sz="1200" i="1" dirty="0" smtClean="0"/>
              <a:t>Articulo </a:t>
            </a:r>
            <a:r>
              <a:rPr lang="es-DO" sz="1200" dirty="0" smtClean="0"/>
              <a:t>compuesta por tres miembros dato, uno de ellos es a su vez de tipo estructura, es decir, tipo </a:t>
            </a:r>
            <a:r>
              <a:rPr lang="es-DO" sz="1200" i="1" dirty="0" smtClean="0"/>
              <a:t>Precio </a:t>
            </a:r>
            <a:r>
              <a:rPr lang="es-DO" sz="1200" dirty="0" smtClean="0"/>
              <a:t>el cual a su vez esta compuesto por tres miembros.</a:t>
            </a:r>
          </a:p>
          <a:p>
            <a:endParaRPr lang="es-DO" sz="1200" dirty="0" smtClean="0"/>
          </a:p>
          <a:p>
            <a:r>
              <a:rPr lang="es-DO" sz="1200" dirty="0" smtClean="0"/>
              <a:t>Note que hemos declarado primero la estructura </a:t>
            </a:r>
            <a:r>
              <a:rPr lang="es-DO" sz="1200" i="1" dirty="0" smtClean="0"/>
              <a:t>Precio </a:t>
            </a:r>
            <a:r>
              <a:rPr lang="es-DO" sz="1200" dirty="0" smtClean="0"/>
              <a:t>que es referida dentro de la estructura </a:t>
            </a:r>
            <a:r>
              <a:rPr lang="es-DO" sz="1200" i="1" dirty="0" smtClean="0"/>
              <a:t>Articulo</a:t>
            </a:r>
            <a:r>
              <a:rPr lang="es-DO" sz="1200" dirty="0" smtClean="0"/>
              <a:t> de forma que el compilador pueda encontrar la definición de dicha estructura cuando la analice.</a:t>
            </a:r>
          </a:p>
        </p:txBody>
      </p:sp>
      <p:pic>
        <p:nvPicPr>
          <p:cNvPr id="2050" name="Picture 2"/>
          <p:cNvPicPr>
            <a:picLocks noChangeAspect="1" noChangeArrowheads="1"/>
          </p:cNvPicPr>
          <p:nvPr/>
        </p:nvPicPr>
        <p:blipFill>
          <a:blip r:embed="rId2" cstate="print"/>
          <a:srcRect/>
          <a:stretch>
            <a:fillRect/>
          </a:stretch>
        </p:blipFill>
        <p:spPr bwMode="auto">
          <a:xfrm>
            <a:off x="1066800" y="2590800"/>
            <a:ext cx="291465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  acceder a los miembros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A todos los miembros de una variable tipo </a:t>
            </a:r>
            <a:r>
              <a:rPr lang="es-DO" sz="1900" b="1" dirty="0" smtClean="0">
                <a:solidFill>
                  <a:srgbClr val="FF0000"/>
                </a:solidFill>
                <a:latin typeface="Courier New" pitchFamily="49" charset="0"/>
                <a:cs typeface="Courier New" pitchFamily="49" charset="0"/>
              </a:rPr>
              <a:t>struct</a:t>
            </a:r>
            <a:r>
              <a:rPr lang="es-DO" sz="1800" dirty="0" smtClean="0"/>
              <a:t> </a:t>
            </a:r>
            <a:r>
              <a:rPr lang="es-DO" sz="2400" dirty="0" smtClean="0"/>
              <a:t>se accede usando el operador de punto (.) con la siguiente sintaxis:</a:t>
            </a:r>
          </a:p>
          <a:p>
            <a:pPr>
              <a:buNone/>
            </a:pPr>
            <a:r>
              <a:rPr lang="es-DO" sz="2400" dirty="0" smtClean="0"/>
              <a:t>	</a:t>
            </a:r>
            <a:endParaRPr lang="es-DO" sz="1600" dirty="0" smtClean="0"/>
          </a:p>
          <a:p>
            <a:pPr>
              <a:buNone/>
            </a:pPr>
            <a:r>
              <a:rPr lang="es-DO" sz="2400" dirty="0" smtClean="0"/>
              <a:t>	</a:t>
            </a:r>
            <a:r>
              <a:rPr lang="es-DO" sz="2000" b="1" dirty="0" smtClean="0">
                <a:solidFill>
                  <a:srgbClr val="0070C0"/>
                </a:solidFill>
                <a:latin typeface="Courier New" pitchFamily="49" charset="0"/>
                <a:cs typeface="Courier New" pitchFamily="49" charset="0"/>
              </a:rPr>
              <a:t>variableTipoStruct</a:t>
            </a:r>
            <a:r>
              <a:rPr lang="es-DO" sz="2000" b="1" dirty="0" smtClean="0">
                <a:latin typeface="Courier New" pitchFamily="49" charset="0"/>
                <a:cs typeface="Courier New" pitchFamily="49" charset="0"/>
              </a:rPr>
              <a:t>.</a:t>
            </a:r>
            <a:r>
              <a:rPr lang="es-DO" sz="2000" b="1" dirty="0" smtClean="0">
                <a:solidFill>
                  <a:srgbClr val="7030A0"/>
                </a:solidFill>
                <a:latin typeface="Courier New" pitchFamily="49" charset="0"/>
                <a:cs typeface="Courier New" pitchFamily="49" charset="0"/>
              </a:rPr>
              <a:t>miembro</a:t>
            </a:r>
            <a:endParaRPr lang="es-DO" sz="2400" b="1" dirty="0" smtClean="0">
              <a:solidFill>
                <a:srgbClr val="7030A0"/>
              </a:solidFill>
              <a:latin typeface="Courier New" pitchFamily="49" charset="0"/>
              <a:cs typeface="Courier New" pitchFamily="49" charset="0"/>
            </a:endParaRPr>
          </a:p>
          <a:p>
            <a:pPr>
              <a:buNone/>
            </a:pPr>
            <a:endParaRPr lang="es-DO" sz="2400" dirty="0" smtClean="0"/>
          </a:p>
          <a:p>
            <a:r>
              <a:rPr lang="es-DO" sz="2400" dirty="0" smtClean="0"/>
              <a:t>Accediendo de esta forma podemos hacer todas las operaciones propias de una variable simple</a:t>
            </a:r>
            <a:endParaRPr lang="es-DO" sz="2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  inicializar</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Una variable tipo </a:t>
            </a:r>
            <a:r>
              <a:rPr lang="es-DO" sz="1900" b="1" dirty="0" smtClean="0">
                <a:solidFill>
                  <a:srgbClr val="FF0000"/>
                </a:solidFill>
                <a:latin typeface="Courier New" pitchFamily="49" charset="0"/>
                <a:cs typeface="Courier New" pitchFamily="49" charset="0"/>
              </a:rPr>
              <a:t>struct</a:t>
            </a:r>
            <a:r>
              <a:rPr lang="es-DO" sz="1800" dirty="0" smtClean="0"/>
              <a:t> </a:t>
            </a:r>
            <a:r>
              <a:rPr lang="es-DO" sz="2400" dirty="0" smtClean="0"/>
              <a:t>puede ser inicializada al momento de ser declarada con la siguiente sintaxis:</a:t>
            </a:r>
          </a:p>
          <a:p>
            <a:pPr>
              <a:buNone/>
            </a:pPr>
            <a:endParaRPr lang="es-DO" sz="1400" dirty="0" smtClean="0"/>
          </a:p>
          <a:p>
            <a:pPr>
              <a:buNone/>
            </a:pPr>
            <a:r>
              <a:rPr lang="es-DO" sz="2400" dirty="0" smtClean="0"/>
              <a:t>	</a:t>
            </a:r>
            <a:r>
              <a:rPr lang="es-DO" sz="2000" b="1" dirty="0" smtClean="0">
                <a:solidFill>
                  <a:srgbClr val="0070C0"/>
                </a:solidFill>
                <a:latin typeface="Courier New" pitchFamily="49" charset="0"/>
                <a:cs typeface="Courier New" pitchFamily="49" charset="0"/>
              </a:rPr>
              <a:t>TipoStruct </a:t>
            </a:r>
            <a:r>
              <a:rPr lang="es-DO" sz="2000" b="1" dirty="0" smtClean="0">
                <a:solidFill>
                  <a:srgbClr val="FF0000"/>
                </a:solidFill>
                <a:latin typeface="Courier New" pitchFamily="49" charset="0"/>
                <a:cs typeface="Courier New" pitchFamily="49" charset="0"/>
              </a:rPr>
              <a:t>variable</a:t>
            </a:r>
            <a:r>
              <a:rPr lang="es-DO" sz="2000" b="1" dirty="0" smtClean="0">
                <a:solidFill>
                  <a:srgbClr val="0070C0"/>
                </a:solidFill>
                <a:latin typeface="Courier New" pitchFamily="49" charset="0"/>
                <a:cs typeface="Courier New" pitchFamily="49" charset="0"/>
              </a:rPr>
              <a:t> = </a:t>
            </a:r>
            <a:r>
              <a:rPr lang="es-DO" sz="2000" b="1" dirty="0" smtClean="0">
                <a:solidFill>
                  <a:srgbClr val="7030A0"/>
                </a:solidFill>
                <a:latin typeface="Courier New" pitchFamily="49" charset="0"/>
                <a:cs typeface="Courier New" pitchFamily="49" charset="0"/>
              </a:rPr>
              <a:t>{valor1, valor2, ...}</a:t>
            </a:r>
          </a:p>
          <a:p>
            <a:pPr>
              <a:buNone/>
            </a:pPr>
            <a:endParaRPr lang="es-DO" sz="1600" dirty="0" smtClean="0"/>
          </a:p>
          <a:p>
            <a:r>
              <a:rPr lang="es-DO" sz="2400" dirty="0" smtClean="0"/>
              <a:t>El inicializador para una variable de estructura es una lista de valores, separados por comas, encerrada entre un par de llaves y precedida por un operador de asignación (=)</a:t>
            </a:r>
          </a:p>
          <a:p>
            <a:r>
              <a:rPr lang="es-DO" sz="2400" dirty="0" smtClean="0"/>
              <a:t>No es necesario inicializar todos los miembros de una estructura</a:t>
            </a:r>
            <a:endParaRPr lang="es-DO" sz="24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  inicializar</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Por ejemplo, si tomamos la siguiente estructura:</a:t>
            </a:r>
          </a:p>
          <a:p>
            <a:pPr>
              <a:buNone/>
            </a:pPr>
            <a:endParaRPr lang="es-DO" sz="1400" dirty="0" smtClean="0"/>
          </a:p>
          <a:p>
            <a:pPr>
              <a:lnSpc>
                <a:spcPct val="60000"/>
              </a:lnSpc>
              <a:buNone/>
            </a:pPr>
            <a:r>
              <a:rPr lang="es-DO" sz="2000" dirty="0" smtClean="0"/>
              <a:t>	</a:t>
            </a:r>
            <a:r>
              <a:rPr lang="es-DO" sz="1200" b="1" dirty="0" smtClean="0">
                <a:solidFill>
                  <a:srgbClr val="0000FF"/>
                </a:solidFill>
                <a:latin typeface="Courier New" pitchFamily="49" charset="0"/>
                <a:cs typeface="Courier New" pitchFamily="49" charset="0"/>
              </a:rPr>
              <a:t>struct</a:t>
            </a:r>
            <a:r>
              <a:rPr lang="es-DO" sz="1200" dirty="0" smtClean="0">
                <a:latin typeface="Courier New" pitchFamily="49" charset="0"/>
                <a:cs typeface="Courier New" pitchFamily="49" charset="0"/>
              </a:rPr>
              <a:t> Contacto</a:t>
            </a:r>
          </a:p>
          <a:p>
            <a:pPr>
              <a:lnSpc>
                <a:spcPct val="60000"/>
              </a:lnSpc>
              <a:buNone/>
            </a:pPr>
            <a:r>
              <a:rPr lang="es-DO" sz="1200" dirty="0" smtClean="0">
                <a:latin typeface="Courier New" pitchFamily="49" charset="0"/>
                <a:cs typeface="Courier New" pitchFamily="49" charset="0"/>
              </a:rPr>
              <a:t>	{</a:t>
            </a:r>
          </a:p>
          <a:p>
            <a:pPr>
              <a:lnSpc>
                <a:spcPct val="60000"/>
              </a:lnSpc>
              <a:buNone/>
            </a:pPr>
            <a:r>
              <a:rPr lang="es-DO" sz="1200" dirty="0" smtClean="0">
                <a:latin typeface="Courier New" pitchFamily="49" charset="0"/>
                <a:cs typeface="Courier New" pitchFamily="49" charset="0"/>
              </a:rPr>
              <a:t>	   </a:t>
            </a:r>
            <a:r>
              <a:rPr lang="es-DO" sz="1200" b="1" dirty="0" smtClean="0">
                <a:solidFill>
                  <a:srgbClr val="00B050"/>
                </a:solidFill>
                <a:latin typeface="Courier New" pitchFamily="49" charset="0"/>
                <a:cs typeface="Courier New" pitchFamily="49" charset="0"/>
              </a:rPr>
              <a:t>string</a:t>
            </a:r>
            <a:r>
              <a:rPr lang="es-DO" sz="1200" dirty="0" smtClean="0">
                <a:latin typeface="Courier New" pitchFamily="49" charset="0"/>
                <a:cs typeface="Courier New" pitchFamily="49" charset="0"/>
              </a:rPr>
              <a:t> nombre;</a:t>
            </a:r>
          </a:p>
          <a:p>
            <a:pPr>
              <a:lnSpc>
                <a:spcPct val="60000"/>
              </a:lnSpc>
              <a:buNone/>
            </a:pPr>
            <a:r>
              <a:rPr lang="es-DO" sz="1200" dirty="0" smtClean="0">
                <a:latin typeface="Courier New" pitchFamily="49" charset="0"/>
                <a:cs typeface="Courier New" pitchFamily="49" charset="0"/>
              </a:rPr>
              <a:t>	   </a:t>
            </a:r>
            <a:r>
              <a:rPr lang="es-DO" sz="1200" b="1" dirty="0" smtClean="0">
                <a:solidFill>
                  <a:srgbClr val="00B050"/>
                </a:solidFill>
                <a:latin typeface="Courier New" pitchFamily="49" charset="0"/>
                <a:cs typeface="Courier New" pitchFamily="49" charset="0"/>
              </a:rPr>
              <a:t>string</a:t>
            </a:r>
            <a:r>
              <a:rPr lang="es-DO" sz="1200" dirty="0" smtClean="0">
                <a:latin typeface="Courier New" pitchFamily="49" charset="0"/>
                <a:cs typeface="Courier New" pitchFamily="49" charset="0"/>
              </a:rPr>
              <a:t> telefono;</a:t>
            </a:r>
          </a:p>
          <a:p>
            <a:pPr>
              <a:lnSpc>
                <a:spcPct val="60000"/>
              </a:lnSpc>
              <a:buNone/>
            </a:pPr>
            <a:r>
              <a:rPr lang="es-DO" sz="1200" dirty="0" smtClean="0">
                <a:latin typeface="Courier New" pitchFamily="49" charset="0"/>
                <a:cs typeface="Courier New" pitchFamily="49" charset="0"/>
              </a:rPr>
              <a:t>	   </a:t>
            </a:r>
            <a:r>
              <a:rPr lang="es-DO" sz="1200" b="1" dirty="0" smtClean="0">
                <a:solidFill>
                  <a:srgbClr val="0000FF"/>
                </a:solidFill>
                <a:latin typeface="Courier New" pitchFamily="49" charset="0"/>
                <a:cs typeface="Courier New" pitchFamily="49" charset="0"/>
              </a:rPr>
              <a:t>unsigned short </a:t>
            </a:r>
            <a:r>
              <a:rPr lang="es-DO" sz="1200" dirty="0" smtClean="0">
                <a:latin typeface="Courier New" pitchFamily="49" charset="0"/>
                <a:cs typeface="Courier New" pitchFamily="49" charset="0"/>
              </a:rPr>
              <a:t>edad;</a:t>
            </a:r>
          </a:p>
          <a:p>
            <a:pPr>
              <a:lnSpc>
                <a:spcPct val="60000"/>
              </a:lnSpc>
              <a:buNone/>
            </a:pPr>
            <a:r>
              <a:rPr lang="es-DO" sz="1200" dirty="0" smtClean="0">
                <a:latin typeface="Courier New" pitchFamily="49" charset="0"/>
                <a:cs typeface="Courier New" pitchFamily="49" charset="0"/>
              </a:rPr>
              <a:t>	};</a:t>
            </a:r>
          </a:p>
          <a:p>
            <a:pPr>
              <a:lnSpc>
                <a:spcPct val="60000"/>
              </a:lnSpc>
              <a:buNone/>
            </a:pPr>
            <a:endParaRPr lang="es-DO" sz="1200" dirty="0" smtClean="0">
              <a:latin typeface="Courier New" pitchFamily="49" charset="0"/>
              <a:cs typeface="Courier New" pitchFamily="49" charset="0"/>
            </a:endParaRPr>
          </a:p>
          <a:p>
            <a:pPr>
              <a:lnSpc>
                <a:spcPct val="60000"/>
              </a:lnSpc>
              <a:buNone/>
            </a:pPr>
            <a:r>
              <a:rPr lang="es-DO" sz="1200" dirty="0" smtClean="0">
                <a:latin typeface="Courier New" pitchFamily="49" charset="0"/>
                <a:cs typeface="Courier New" pitchFamily="49" charset="0"/>
              </a:rPr>
              <a:t>	</a:t>
            </a:r>
            <a:r>
              <a:rPr lang="es-DO" sz="1200" b="1" dirty="0" smtClean="0">
                <a:latin typeface="Courier New" pitchFamily="49" charset="0"/>
                <a:cs typeface="Courier New" pitchFamily="49" charset="0"/>
              </a:rPr>
              <a:t>Contacto contc1 = {“Alina”} </a:t>
            </a:r>
            <a:r>
              <a:rPr lang="es-DO" sz="1200" dirty="0" smtClean="0">
                <a:solidFill>
                  <a:srgbClr val="0000FF"/>
                </a:solidFill>
                <a:latin typeface="Courier New" pitchFamily="49" charset="0"/>
                <a:cs typeface="Courier New" pitchFamily="49" charset="0"/>
              </a:rPr>
              <a:t>// solo se inicializa el miembro nombre</a:t>
            </a:r>
          </a:p>
          <a:p>
            <a:pPr>
              <a:lnSpc>
                <a:spcPct val="60000"/>
              </a:lnSpc>
              <a:buNone/>
            </a:pPr>
            <a:r>
              <a:rPr lang="es-DO" sz="1200" dirty="0" smtClean="0">
                <a:latin typeface="Courier New" pitchFamily="49" charset="0"/>
                <a:cs typeface="Courier New" pitchFamily="49" charset="0"/>
              </a:rPr>
              <a:t>	</a:t>
            </a:r>
            <a:r>
              <a:rPr lang="es-DO" sz="1200" b="1" dirty="0" smtClean="0">
                <a:latin typeface="Courier New" pitchFamily="49" charset="0"/>
                <a:cs typeface="Courier New" pitchFamily="49" charset="0"/>
              </a:rPr>
              <a:t>Contacto contc2 = {“Helena”, “8099990000”} </a:t>
            </a:r>
            <a:r>
              <a:rPr lang="es-DO" sz="1200" dirty="0" smtClean="0">
                <a:solidFill>
                  <a:srgbClr val="0000FF"/>
                </a:solidFill>
                <a:latin typeface="Courier New" pitchFamily="49" charset="0"/>
                <a:cs typeface="Courier New" pitchFamily="49" charset="0"/>
              </a:rPr>
              <a:t>// se inicializa el nombre y el telefono</a:t>
            </a:r>
          </a:p>
          <a:p>
            <a:pPr>
              <a:lnSpc>
                <a:spcPct val="60000"/>
              </a:lnSpc>
              <a:buNone/>
            </a:pPr>
            <a:r>
              <a:rPr lang="es-DO" sz="1200" dirty="0" smtClean="0">
                <a:latin typeface="Courier New" pitchFamily="49" charset="0"/>
                <a:cs typeface="Courier New" pitchFamily="49" charset="0"/>
              </a:rPr>
              <a:t>	</a:t>
            </a:r>
            <a:r>
              <a:rPr lang="es-DO" sz="1200" b="1" dirty="0" smtClean="0">
                <a:latin typeface="Courier New" pitchFamily="49" charset="0"/>
                <a:cs typeface="Courier New" pitchFamily="49" charset="0"/>
              </a:rPr>
              <a:t>Contacto contc3 = {“Bruce”, 52}</a:t>
            </a:r>
            <a:r>
              <a:rPr lang="es-DO" sz="1200" dirty="0" smtClean="0">
                <a:latin typeface="Courier New" pitchFamily="49" charset="0"/>
                <a:cs typeface="Courier New" pitchFamily="49" charset="0"/>
              </a:rPr>
              <a:t> </a:t>
            </a:r>
            <a:r>
              <a:rPr lang="es-DO" sz="1200" dirty="0" smtClean="0">
                <a:solidFill>
                  <a:srgbClr val="FF0000"/>
                </a:solidFill>
                <a:latin typeface="Courier New" pitchFamily="49" charset="0"/>
                <a:cs typeface="Courier New" pitchFamily="49" charset="0"/>
              </a:rPr>
              <a:t>// ERROR: el segundo miembro no es un entero</a:t>
            </a:r>
          </a:p>
          <a:p>
            <a:pPr>
              <a:lnSpc>
                <a:spcPct val="60000"/>
              </a:lnSpc>
              <a:buNone/>
            </a:pPr>
            <a:r>
              <a:rPr lang="es-DO" sz="1200" b="1" dirty="0" smtClean="0">
                <a:latin typeface="Courier New" pitchFamily="49" charset="0"/>
                <a:cs typeface="Courier New" pitchFamily="49" charset="0"/>
              </a:rPr>
              <a:t>	Contacto contc4 = {“Bruce”, ,52}</a:t>
            </a:r>
            <a:r>
              <a:rPr lang="es-DO" sz="1200" dirty="0" smtClean="0">
                <a:latin typeface="Courier New" pitchFamily="49" charset="0"/>
                <a:cs typeface="Courier New" pitchFamily="49" charset="0"/>
              </a:rPr>
              <a:t> </a:t>
            </a:r>
            <a:r>
              <a:rPr lang="es-DO" sz="1200" dirty="0" smtClean="0">
                <a:solidFill>
                  <a:srgbClr val="FF0000"/>
                </a:solidFill>
                <a:latin typeface="Courier New" pitchFamily="49" charset="0"/>
                <a:cs typeface="Courier New" pitchFamily="49" charset="0"/>
              </a:rPr>
              <a:t>// ERROR: no puede dejar vacío un miembro</a:t>
            </a:r>
            <a:endParaRPr lang="es-DO" sz="1200" dirty="0" smtClean="0">
              <a:latin typeface="Courier New" pitchFamily="49" charset="0"/>
              <a:cs typeface="Courier New" pitchFamily="49" charset="0"/>
            </a:endParaRPr>
          </a:p>
          <a:p>
            <a:endParaRPr lang="es-DO" sz="2400" dirty="0" smtClean="0"/>
          </a:p>
          <a:p>
            <a:r>
              <a:rPr lang="es-DO" sz="2400" dirty="0" smtClean="0"/>
              <a:t>La inicialización se realiza de acuerdo al orden de declaración de los miembros </a:t>
            </a:r>
            <a:endParaRPr lang="es-DO" sz="24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Estructuras</a:t>
            </a:r>
            <a:endParaRPr lang="es-DO" dirty="0"/>
          </a:p>
        </p:txBody>
      </p:sp>
      <p:sp>
        <p:nvSpPr>
          <p:cNvPr id="7" name="Content Placeholder 6"/>
          <p:cNvSpPr>
            <a:spLocks noGrp="1"/>
          </p:cNvSpPr>
          <p:nvPr>
            <p:ph sz="quarter" idx="13"/>
          </p:nvPr>
        </p:nvSpPr>
        <p:spPr>
          <a:xfrm>
            <a:off x="609600" y="1828800"/>
            <a:ext cx="8153400" cy="4343400"/>
          </a:xfrm>
        </p:spPr>
        <p:txBody>
          <a:bodyPr>
            <a:normAutofit/>
          </a:bodyPr>
          <a:lstStyle/>
          <a:p>
            <a:r>
              <a:rPr lang="es-DO" sz="2400" dirty="0" smtClean="0"/>
              <a:t>Ejemplo inicializando una variable de estructura y accediendo a sus miembros</a:t>
            </a:r>
            <a:endParaRPr lang="es-DO" sz="2400" dirty="0"/>
          </a:p>
        </p:txBody>
      </p:sp>
      <p:sp>
        <p:nvSpPr>
          <p:cNvPr id="9" name="Rectangle 8"/>
          <p:cNvSpPr/>
          <p:nvPr/>
        </p:nvSpPr>
        <p:spPr>
          <a:xfrm>
            <a:off x="5791200" y="2743200"/>
            <a:ext cx="2895600" cy="3810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s-DO" sz="1200" dirty="0" smtClean="0"/>
              <a:t>En este ejemplo declaramos una estructura llamada </a:t>
            </a:r>
            <a:r>
              <a:rPr lang="es-DO" sz="1200" i="1" dirty="0" smtClean="0"/>
              <a:t>Triangulo</a:t>
            </a:r>
            <a:r>
              <a:rPr lang="es-DO" sz="1200" dirty="0" smtClean="0"/>
              <a:t> con dos miembros (base y altura).  </a:t>
            </a:r>
          </a:p>
          <a:p>
            <a:endParaRPr lang="es-DO" sz="1200" dirty="0" smtClean="0"/>
          </a:p>
          <a:p>
            <a:r>
              <a:rPr lang="es-DO" sz="1200" dirty="0" smtClean="0"/>
              <a:t>Una observación interesante que merece la pena destacar es que hemos inicializado la variable tipo </a:t>
            </a:r>
            <a:r>
              <a:rPr lang="es-DO" sz="1200" i="1" dirty="0" smtClean="0"/>
              <a:t>Triangulo</a:t>
            </a:r>
            <a:r>
              <a:rPr lang="es-DO" sz="1200" dirty="0" smtClean="0"/>
              <a:t> al momento de declararla proporcionando los valores para los miembros de la estructura dentro de las llaves en el orden de definición de los mismos.</a:t>
            </a:r>
          </a:p>
          <a:p>
            <a:endParaRPr lang="es-DO" sz="1200" dirty="0" smtClean="0"/>
          </a:p>
          <a:p>
            <a:r>
              <a:rPr lang="es-DO" sz="1200" dirty="0" smtClean="0"/>
              <a:t>En la línea 17 accedemos a los miembros de la estructura utilizando el operador punto.</a:t>
            </a:r>
          </a:p>
          <a:p>
            <a:endParaRPr lang="es-DO" sz="1200" dirty="0" smtClean="0"/>
          </a:p>
          <a:p>
            <a:r>
              <a:rPr lang="es-DO" sz="1200" b="1" dirty="0" smtClean="0"/>
              <a:t>¿Que sucede si tengo un miembro que es también una estructura?  </a:t>
            </a:r>
            <a:r>
              <a:rPr lang="es-DO" sz="1200" dirty="0" smtClean="0"/>
              <a:t>No hay confusión con esto, solamente utilice el punto:</a:t>
            </a:r>
          </a:p>
          <a:p>
            <a:endParaRPr lang="es-DO" sz="1200" dirty="0" smtClean="0"/>
          </a:p>
          <a:p>
            <a:r>
              <a:rPr lang="es-DO" sz="1050" b="1" dirty="0" smtClean="0">
                <a:solidFill>
                  <a:srgbClr val="0000FF"/>
                </a:solidFill>
                <a:latin typeface="Courier New" pitchFamily="49" charset="0"/>
                <a:cs typeface="Courier New" pitchFamily="49" charset="0"/>
              </a:rPr>
              <a:t>cout</a:t>
            </a:r>
            <a:r>
              <a:rPr lang="es-DO" sz="1050" b="1" dirty="0" smtClean="0">
                <a:latin typeface="Courier New" pitchFamily="49" charset="0"/>
                <a:cs typeface="Courier New" pitchFamily="49" charset="0"/>
              </a:rPr>
              <a:t> &lt;&lt; </a:t>
            </a:r>
            <a:r>
              <a:rPr lang="es-DO" sz="1050" b="1" dirty="0" smtClean="0">
                <a:solidFill>
                  <a:schemeClr val="accent2">
                    <a:lumMod val="75000"/>
                  </a:schemeClr>
                </a:solidFill>
                <a:latin typeface="Courier New" pitchFamily="49" charset="0"/>
                <a:cs typeface="Courier New" pitchFamily="49" charset="0"/>
              </a:rPr>
              <a:t>articulo</a:t>
            </a:r>
            <a:r>
              <a:rPr lang="es-DO" sz="1050" b="1" dirty="0" smtClean="0">
                <a:latin typeface="Courier New" pitchFamily="49" charset="0"/>
                <a:cs typeface="Courier New" pitchFamily="49" charset="0"/>
              </a:rPr>
              <a:t>.</a:t>
            </a:r>
            <a:r>
              <a:rPr lang="es-DO" sz="1050" b="1" dirty="0" smtClean="0">
                <a:solidFill>
                  <a:srgbClr val="7030A0"/>
                </a:solidFill>
                <a:latin typeface="Courier New" pitchFamily="49" charset="0"/>
                <a:cs typeface="Courier New" pitchFamily="49" charset="0"/>
              </a:rPr>
              <a:t>precios</a:t>
            </a:r>
            <a:r>
              <a:rPr lang="es-DO" sz="1050" b="1" dirty="0" smtClean="0">
                <a:latin typeface="Courier New" pitchFamily="49" charset="0"/>
                <a:cs typeface="Courier New" pitchFamily="49" charset="0"/>
              </a:rPr>
              <a:t>.</a:t>
            </a:r>
            <a:r>
              <a:rPr lang="es-DO" sz="1050" b="1" dirty="0" smtClean="0">
                <a:solidFill>
                  <a:srgbClr val="FF0000"/>
                </a:solidFill>
                <a:latin typeface="Courier New" pitchFamily="49" charset="0"/>
                <a:cs typeface="Courier New" pitchFamily="49" charset="0"/>
              </a:rPr>
              <a:t>precio1</a:t>
            </a:r>
            <a:r>
              <a:rPr lang="es-DO" sz="1050" b="1" dirty="0" smtClean="0">
                <a:latin typeface="Courier New" pitchFamily="49" charset="0"/>
                <a:cs typeface="Courier New" pitchFamily="49" charset="0"/>
              </a:rPr>
              <a:t>;</a:t>
            </a:r>
          </a:p>
        </p:txBody>
      </p:sp>
      <p:pic>
        <p:nvPicPr>
          <p:cNvPr id="3074" name="Picture 2"/>
          <p:cNvPicPr>
            <a:picLocks noChangeAspect="1" noChangeArrowheads="1"/>
          </p:cNvPicPr>
          <p:nvPr/>
        </p:nvPicPr>
        <p:blipFill>
          <a:blip r:embed="rId2" cstate="print"/>
          <a:srcRect/>
          <a:stretch>
            <a:fillRect/>
          </a:stretch>
        </p:blipFill>
        <p:spPr bwMode="auto">
          <a:xfrm>
            <a:off x="1056167" y="2743200"/>
            <a:ext cx="4429125" cy="3705225"/>
          </a:xfrm>
          <a:prstGeom prst="rect">
            <a:avLst/>
          </a:prstGeom>
          <a:noFill/>
          <a:ln w="9525">
            <a:noFill/>
            <a:miter lim="800000"/>
            <a:headEnd/>
            <a:tailEnd/>
          </a:ln>
          <a:effectLst/>
        </p:spPr>
      </p:pic>
      <p:cxnSp>
        <p:nvCxnSpPr>
          <p:cNvPr id="11" name="Straight Arrow Connector 10"/>
          <p:cNvCxnSpPr/>
          <p:nvPr/>
        </p:nvCxnSpPr>
        <p:spPr>
          <a:xfrm rot="10800000" flipV="1">
            <a:off x="5486400" y="5181600"/>
            <a:ext cx="3048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flipV="1">
            <a:off x="4419600" y="3657600"/>
            <a:ext cx="1371600" cy="1066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Resumen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100" noProof="1" smtClean="0">
                <a:cs typeface="Courier New" pitchFamily="49" charset="0"/>
              </a:rPr>
              <a:t>En esta unidad hemos aprendido:</a:t>
            </a:r>
          </a:p>
          <a:p>
            <a:pPr lvl="1"/>
            <a:r>
              <a:rPr lang="es-DO" sz="1800" noProof="1" smtClean="0">
                <a:cs typeface="Courier New" pitchFamily="49" charset="0"/>
              </a:rPr>
              <a:t>Los </a:t>
            </a:r>
            <a:r>
              <a:rPr lang="es-DO" sz="1800" b="1" i="1" noProof="1" smtClean="0">
                <a:cs typeface="Courier New" pitchFamily="49" charset="0"/>
              </a:rPr>
              <a:t>strings </a:t>
            </a:r>
            <a:r>
              <a:rPr lang="es-DO" sz="1800" noProof="1" smtClean="0">
                <a:cs typeface="Courier New" pitchFamily="49" charset="0"/>
              </a:rPr>
              <a:t>son cadenas inteligentes que contienen diversos recursos o funciones que nos facilitan la manipulación de este tipo de datos</a:t>
            </a:r>
            <a:endParaRPr lang="es-DO" sz="1800" b="1" i="1" noProof="1" smtClean="0">
              <a:latin typeface="Courier New" pitchFamily="49" charset="0"/>
              <a:cs typeface="Courier New" pitchFamily="49" charset="0"/>
            </a:endParaRPr>
          </a:p>
          <a:p>
            <a:pPr lvl="1"/>
            <a:r>
              <a:rPr lang="es-DO" sz="1800" noProof="1" smtClean="0">
                <a:cs typeface="Courier New" pitchFamily="49" charset="0"/>
              </a:rPr>
              <a:t>Las cadenas tipo </a:t>
            </a:r>
            <a:r>
              <a:rPr lang="es-DO" sz="1800" b="1" i="1" noProof="1" smtClean="0">
                <a:cs typeface="Courier New" pitchFamily="49" charset="0"/>
              </a:rPr>
              <a:t>string</a:t>
            </a:r>
            <a:r>
              <a:rPr lang="es-DO" sz="1800" noProof="1" smtClean="0">
                <a:cs typeface="Courier New" pitchFamily="49" charset="0"/>
              </a:rPr>
              <a:t> pueden ser manejadas mediante el uso de iteradores permitiéndonos apuntar a los elementos que la componen caracter por caracter o posición por posición</a:t>
            </a:r>
          </a:p>
          <a:p>
            <a:pPr lvl="1"/>
            <a:r>
              <a:rPr lang="es-DO" sz="1800" noProof="1" smtClean="0">
                <a:cs typeface="Courier New" pitchFamily="49" charset="0"/>
              </a:rPr>
              <a:t>C++ nos provee de la librería </a:t>
            </a:r>
            <a:r>
              <a:rPr lang="es-DO" sz="1800" b="1" i="1" noProof="1" smtClean="0">
                <a:cs typeface="Courier New" pitchFamily="49" charset="0"/>
              </a:rPr>
              <a:t>cctype</a:t>
            </a:r>
            <a:r>
              <a:rPr lang="es-DO" sz="1800" noProof="1" smtClean="0">
                <a:cs typeface="Courier New" pitchFamily="49" charset="0"/>
              </a:rPr>
              <a:t> la cual contiene varias funciones para la evaluación de datos tipo </a:t>
            </a:r>
            <a:r>
              <a:rPr lang="es-DO" sz="1800" b="1" i="1" noProof="1" smtClean="0">
                <a:cs typeface="Courier New" pitchFamily="49" charset="0"/>
              </a:rPr>
              <a:t>char</a:t>
            </a:r>
            <a:r>
              <a:rPr lang="es-DO" sz="1800" noProof="1" smtClean="0">
                <a:cs typeface="Courier New" pitchFamily="49" charset="0"/>
              </a:rPr>
              <a:t> brindándonos la capacidad para evaluar si un caracter está en mayúscula, o si es un digito o alfabético entre muchas otras mas</a:t>
            </a:r>
          </a:p>
          <a:p>
            <a:pPr lvl="1"/>
            <a:r>
              <a:rPr lang="es-DO" sz="1800" noProof="1" smtClean="0">
                <a:cs typeface="Courier New" pitchFamily="49" charset="0"/>
              </a:rPr>
              <a:t>Las estructuras en C++ permiten almacenar bajo una misma unidad o entidad de datos diversos miembros los cuales pueden ser declarados como variables, funciones o incluso otra estructura</a:t>
            </a:r>
          </a:p>
          <a:p>
            <a:pPr>
              <a:buNone/>
            </a:pPr>
            <a:endParaRPr lang="es-DO" sz="2100" b="1" noProof="1" smtClean="0">
              <a:solidFill>
                <a:srgbClr val="FF0000"/>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DO" dirty="0" smtClean="0"/>
              <a:t>Resumen</a:t>
            </a:r>
            <a:endParaRPr lang="es-DO" dirty="0"/>
          </a:p>
        </p:txBody>
      </p:sp>
      <p:sp>
        <p:nvSpPr>
          <p:cNvPr id="3" name="Content Placeholder 2"/>
          <p:cNvSpPr>
            <a:spLocks noGrp="1"/>
          </p:cNvSpPr>
          <p:nvPr>
            <p:ph sz="quarter" idx="13"/>
          </p:nvPr>
        </p:nvSpPr>
        <p:spPr>
          <a:xfrm>
            <a:off x="609600" y="1803400"/>
            <a:ext cx="7772400" cy="4368800"/>
          </a:xfrm>
        </p:spPr>
        <p:txBody>
          <a:bodyPr>
            <a:normAutofit/>
          </a:bodyPr>
          <a:lstStyle/>
          <a:p>
            <a:r>
              <a:rPr lang="es-DO" sz="2100" noProof="1" smtClean="0">
                <a:cs typeface="Courier New" pitchFamily="49" charset="0"/>
              </a:rPr>
              <a:t>En esta unidad hemos aprendido:</a:t>
            </a:r>
          </a:p>
          <a:p>
            <a:pPr lvl="1"/>
            <a:r>
              <a:rPr lang="es-DO" sz="1800" noProof="1" smtClean="0">
                <a:cs typeface="Courier New" pitchFamily="49" charset="0"/>
              </a:rPr>
              <a:t>Las estructuras pueden ser inicializadas al momento de su declaración tomando el cuenta el orden definido para sus miembros</a:t>
            </a:r>
            <a:endParaRPr lang="es-DO" sz="1800" b="1" i="1" noProof="1" smtClean="0">
              <a:latin typeface="Courier New" pitchFamily="49" charset="0"/>
              <a:cs typeface="Courier New" pitchFamily="49" charset="0"/>
            </a:endParaRPr>
          </a:p>
          <a:p>
            <a:pPr lvl="1"/>
            <a:r>
              <a:rPr lang="es-DO" sz="1800" noProof="1" smtClean="0">
                <a:cs typeface="Courier New" pitchFamily="49" charset="0"/>
              </a:rPr>
              <a:t>Mediante el operador punto (.) podemos acceder a cada miembro de la estructura y tratarlo como una variable individual</a:t>
            </a:r>
          </a:p>
          <a:p>
            <a:pPr>
              <a:buNone/>
            </a:pPr>
            <a:endParaRPr lang="es-DO" sz="2100" b="1" noProof="1" smtClean="0">
              <a:solidFill>
                <a:srgbClr val="FF0000"/>
              </a:solidFill>
              <a:latin typeface="Courier New" pitchFamily="49" charset="0"/>
              <a:cs typeface="Courier New" pitchFamily="49"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extLst/>
          </a:lstStyle>
          <a:p>
            <a:r>
              <a:rPr lang="en-US" dirty="0" smtClean="0"/>
              <a:t>Bibliografía</a:t>
            </a:r>
            <a:endParaRPr lang="en-US" dirty="0"/>
          </a:p>
        </p:txBody>
      </p:sp>
      <p:sp>
        <p:nvSpPr>
          <p:cNvPr id="3" name="Rectangle 2"/>
          <p:cNvSpPr>
            <a:spLocks noGrp="1"/>
          </p:cNvSpPr>
          <p:nvPr>
            <p:ph sz="quarter" idx="13"/>
          </p:nvPr>
        </p:nvSpPr>
        <p:spPr>
          <a:xfrm>
            <a:off x="609600" y="2209800"/>
            <a:ext cx="7924800" cy="4064000"/>
          </a:xfrm>
        </p:spPr>
        <p:txBody>
          <a:bodyPr anchor="ctr">
            <a:noAutofit/>
          </a:bodyPr>
          <a:lstStyle>
            <a:extLst/>
          </a:lstStyle>
          <a:p>
            <a:pPr lvl="1"/>
            <a:r>
              <a:rPr lang="en-US" sz="2200" dirty="0"/>
              <a:t>Addison Wesley, Tony Gaddis. (2009). Starting Out with C</a:t>
            </a:r>
            <a:r>
              <a:rPr lang="en-US" sz="2200" dirty="0" smtClean="0"/>
              <a:t>++ Brief</a:t>
            </a:r>
            <a:r>
              <a:rPr lang="en-US" sz="2200" dirty="0"/>
              <a:t>: From Control Structures through Objects. San </a:t>
            </a:r>
            <a:r>
              <a:rPr lang="en-US" sz="2200" dirty="0" smtClean="0"/>
              <a:t>Francisco, </a:t>
            </a:r>
            <a:r>
              <a:rPr lang="es-DO" sz="2200" dirty="0" smtClean="0"/>
              <a:t>California</a:t>
            </a:r>
            <a:r>
              <a:rPr lang="es-DO" sz="2200" dirty="0"/>
              <a:t>. 6th Edition.</a:t>
            </a:r>
          </a:p>
          <a:p>
            <a:pPr lvl="1"/>
            <a:r>
              <a:rPr lang="es-DO" sz="2200" dirty="0"/>
              <a:t> Aprende a programar en C++. (2010). Página dedicada a </a:t>
            </a:r>
            <a:r>
              <a:rPr lang="es-DO" sz="2200" dirty="0" smtClean="0"/>
              <a:t>la </a:t>
            </a:r>
            <a:r>
              <a:rPr lang="es-ES" sz="2200" dirty="0" smtClean="0"/>
              <a:t>enseñanza </a:t>
            </a:r>
            <a:r>
              <a:rPr lang="es-ES" sz="2200" dirty="0"/>
              <a:t>de C++ con libro de libre descarga, recuperado el </a:t>
            </a:r>
            <a:r>
              <a:rPr lang="es-ES" sz="2200" dirty="0" smtClean="0"/>
              <a:t>3 Junio 2013 </a:t>
            </a:r>
            <a:r>
              <a:rPr lang="es-ES" sz="2200" dirty="0"/>
              <a:t>de: </a:t>
            </a:r>
            <a:r>
              <a:rPr lang="es-ES" sz="2200" dirty="0">
                <a:hlinkClick r:id="rId3"/>
              </a:rPr>
              <a:t>http://</a:t>
            </a:r>
            <a:r>
              <a:rPr lang="es-ES" sz="2200" dirty="0" smtClean="0">
                <a:hlinkClick r:id="rId3"/>
              </a:rPr>
              <a:t>c.conclase.net/curso/index.php</a:t>
            </a:r>
            <a:endParaRPr lang="es-ES" sz="2200" dirty="0" smtClean="0"/>
          </a:p>
          <a:p>
            <a:pPr lvl="1"/>
            <a:r>
              <a:rPr lang="es-ES" sz="2200" dirty="0" smtClean="0"/>
              <a:t>Página </a:t>
            </a:r>
            <a:r>
              <a:rPr lang="es-ES" sz="2200" dirty="0"/>
              <a:t>dedicada al lenguaje de programación C++ (2000 </a:t>
            </a:r>
            <a:r>
              <a:rPr lang="es-ES" sz="2200" dirty="0" smtClean="0"/>
              <a:t>–2014</a:t>
            </a:r>
            <a:r>
              <a:rPr lang="es-ES" sz="2200" dirty="0"/>
              <a:t>). </a:t>
            </a:r>
            <a:r>
              <a:rPr lang="es-ES" sz="2200" dirty="0" smtClean="0"/>
              <a:t>Tutoriales </a:t>
            </a:r>
            <a:r>
              <a:rPr lang="es-ES" sz="2200" dirty="0"/>
              <a:t>y recursos de libre descarga, </a:t>
            </a:r>
            <a:r>
              <a:rPr lang="es-ES" sz="2200" dirty="0" smtClean="0"/>
              <a:t>recuperado </a:t>
            </a:r>
            <a:r>
              <a:rPr lang="en-US" sz="2200" dirty="0" smtClean="0"/>
              <a:t>Enero </a:t>
            </a:r>
            <a:r>
              <a:rPr lang="en-US" sz="2200" dirty="0"/>
              <a:t>2014 en: </a:t>
            </a:r>
            <a:r>
              <a:rPr lang="en-US" sz="2200" dirty="0">
                <a:hlinkClick r:id="rId4"/>
              </a:rPr>
              <a:t>http://</a:t>
            </a:r>
            <a:r>
              <a:rPr lang="en-US" sz="2200" dirty="0" smtClean="0">
                <a:hlinkClick r:id="rId4"/>
              </a:rPr>
              <a:t>www.cplusplus.com</a:t>
            </a:r>
            <a:r>
              <a:rPr lang="en-US" sz="2200" dirty="0" smtClean="0"/>
              <a:t> </a:t>
            </a:r>
            <a:r>
              <a:rPr lang="en-US" sz="2200" dirty="0"/>
              <a:t>All rights reserved </a:t>
            </a:r>
            <a:r>
              <a:rPr lang="en-US" sz="2200" dirty="0" smtClean="0"/>
              <a:t>-</a:t>
            </a:r>
            <a:r>
              <a:rPr lang="es-DO" sz="2200" dirty="0" smtClean="0"/>
              <a:t>v3.1</a:t>
            </a:r>
            <a:endParaRPr lang="es-DO" sz="2200" dirty="0"/>
          </a:p>
          <a:p>
            <a:pPr lvl="1"/>
            <a:r>
              <a:rPr lang="en-US" sz="2200" dirty="0"/>
              <a:t> Paul </a:t>
            </a:r>
            <a:r>
              <a:rPr lang="en-US" sz="2200" dirty="0" err="1"/>
              <a:t>Deitel</a:t>
            </a:r>
            <a:r>
              <a:rPr lang="en-US" sz="2200" dirty="0"/>
              <a:t>, Harvey </a:t>
            </a:r>
            <a:r>
              <a:rPr lang="en-US" sz="2200" dirty="0" err="1"/>
              <a:t>Deitel</a:t>
            </a:r>
            <a:r>
              <a:rPr lang="en-US" sz="2200" dirty="0"/>
              <a:t> (2011). C++ How to Program, </a:t>
            </a:r>
            <a:r>
              <a:rPr lang="en-US" sz="2200" dirty="0" smtClean="0"/>
              <a:t>New York</a:t>
            </a:r>
            <a:r>
              <a:rPr lang="en-US" sz="2200" dirty="0"/>
              <a:t>, 8th Edition, Prentice Hall.</a:t>
            </a:r>
            <a:endParaRPr lang="es-DO" sz="2200" dirty="0" smtClean="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3" name="Rectangle 2"/>
          <p:cNvSpPr>
            <a:spLocks noGrp="1"/>
          </p:cNvSpPr>
          <p:nvPr>
            <p:ph type="body" sz="half" idx="2"/>
          </p:nvPr>
        </p:nvSpPr>
        <p:spPr/>
        <p:txBody>
          <a:bodyPr/>
          <a:lstStyle>
            <a:extLst/>
          </a:lstStyle>
          <a:p>
            <a:r>
              <a:rPr lang="en-US" dirty="0" smtClean="0"/>
              <a:t>Por Félix Ferreiras y Zobiesky Ovalle</a:t>
            </a:r>
            <a:endParaRPr lang="en-US" dirty="0"/>
          </a:p>
        </p:txBody>
      </p:sp>
      <p:sp>
        <p:nvSpPr>
          <p:cNvPr id="4" name="Rectangle 3"/>
          <p:cNvSpPr>
            <a:spLocks noGrp="1"/>
          </p:cNvSpPr>
          <p:nvPr>
            <p:ph type="title"/>
          </p:nvPr>
        </p:nvSpPr>
        <p:spPr/>
        <p:txBody>
          <a:bodyPr>
            <a:normAutofit/>
          </a:bodyPr>
          <a:lstStyle>
            <a:extLst/>
          </a:lstStyle>
          <a:p>
            <a:r>
              <a:rPr lang="en-US" dirty="0" smtClean="0"/>
              <a:t>Unidad 3: Cadenas y estructuras</a:t>
            </a:r>
            <a:endParaRPr lang="en-US" dirty="0"/>
          </a:p>
        </p:txBody>
      </p:sp>
      <p:pic>
        <p:nvPicPr>
          <p:cNvPr id="13" name="Picture Placeholder 12" descr="c++1.jpg"/>
          <p:cNvPicPr>
            <a:picLocks noGrp="1" noChangeAspect="1"/>
          </p:cNvPicPr>
          <p:nvPr>
            <p:ph type="pic" idx="1"/>
          </p:nvPr>
        </p:nvPicPr>
        <p:blipFill>
          <a:blip r:embed="rId3" cstate="print"/>
          <a:srcRect t="3684" b="3684"/>
          <a:stretch>
            <a:fillRect/>
          </a:stretch>
        </p:blipFill>
        <p:spPr/>
      </p:pic>
    </p:spTree>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S010176930">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E92F831A-BD16-4DAF-8CAE-F21564186F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TS010176930</Template>
  <TotalTime>0</TotalTime>
  <Words>4292</Words>
  <Application>Microsoft Office PowerPoint</Application>
  <PresentationFormat>Presentación en pantalla (4:3)</PresentationFormat>
  <Paragraphs>606</Paragraphs>
  <Slides>64</Slides>
  <Notes>11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64</vt:i4>
      </vt:variant>
    </vt:vector>
  </HeadingPairs>
  <TitlesOfParts>
    <vt:vector size="71" baseType="lpstr">
      <vt:lpstr>Calibri</vt:lpstr>
      <vt:lpstr>Courier New</vt:lpstr>
      <vt:lpstr>Tahoma</vt:lpstr>
      <vt:lpstr>Tw Cen MT</vt:lpstr>
      <vt:lpstr>Wingdings</vt:lpstr>
      <vt:lpstr>Wingdings 2</vt:lpstr>
      <vt:lpstr>TS010176930</vt:lpstr>
      <vt:lpstr>Unidad 3 cadenas y estructuras</vt:lpstr>
      <vt:lpstr>Objetivos</vt:lpstr>
      <vt:lpstr>Contenido</vt:lpstr>
      <vt:lpstr>Contenido</vt:lpstr>
      <vt:lpstr>Strings</vt:lpstr>
      <vt:lpstr>Strings: Concepto</vt:lpstr>
      <vt:lpstr>Strings: Concepto</vt:lpstr>
      <vt:lpstr>Strings: Declaración</vt:lpstr>
      <vt:lpstr>Strings: Declaración</vt:lpstr>
      <vt:lpstr>Uso de getline</vt:lpstr>
      <vt:lpstr>Uso de getline</vt:lpstr>
      <vt:lpstr>Ejemplo con getline</vt:lpstr>
      <vt:lpstr>Combinando cin &gt;&gt; y getline</vt:lpstr>
      <vt:lpstr>Contenido</vt:lpstr>
      <vt:lpstr>Operadores de cadena</vt:lpstr>
      <vt:lpstr>Operadores de cadena</vt:lpstr>
      <vt:lpstr>Operador de asignación</vt:lpstr>
      <vt:lpstr>Operador de concatenación</vt:lpstr>
      <vt:lpstr>Operador de concatenación</vt:lpstr>
      <vt:lpstr>Operadores de relación</vt:lpstr>
      <vt:lpstr>Operadores de relación</vt:lpstr>
      <vt:lpstr>Contenido</vt:lpstr>
      <vt:lpstr>Recursos de string</vt:lpstr>
      <vt:lpstr>Recursos de string</vt:lpstr>
      <vt:lpstr>Recursos de string</vt:lpstr>
      <vt:lpstr>Recursos de string</vt:lpstr>
      <vt:lpstr>¿Cómo invocamos un recurso?</vt:lpstr>
      <vt:lpstr>Ejemplos de recursos de string</vt:lpstr>
      <vt:lpstr>Ejemplos de recursos de string</vt:lpstr>
      <vt:lpstr>Contenido</vt:lpstr>
      <vt:lpstr>Iteradores</vt:lpstr>
      <vt:lpstr>Iteradores</vt:lpstr>
      <vt:lpstr>Iteradores</vt:lpstr>
      <vt:lpstr>Iteradores</vt:lpstr>
      <vt:lpstr>Iteradores</vt:lpstr>
      <vt:lpstr>Operaciones con los iteradores</vt:lpstr>
      <vt:lpstr>Operaciones con los iteradores</vt:lpstr>
      <vt:lpstr>Accediendo mediante iteradores</vt:lpstr>
      <vt:lpstr>Iteradores</vt:lpstr>
      <vt:lpstr>Iteradores: ejemplo</vt:lpstr>
      <vt:lpstr>Iteradores: resumen</vt:lpstr>
      <vt:lpstr>Iteradores: resumen</vt:lpstr>
      <vt:lpstr>Contenido</vt:lpstr>
      <vt:lpstr>Recursos ctype</vt:lpstr>
      <vt:lpstr>Recursos ctype</vt:lpstr>
      <vt:lpstr>Recursos ctype</vt:lpstr>
      <vt:lpstr>Recursos ctype</vt:lpstr>
      <vt:lpstr>Recursos ctype</vt:lpstr>
      <vt:lpstr>Contenido</vt:lpstr>
      <vt:lpstr>Estructuras</vt:lpstr>
      <vt:lpstr>Estructuras</vt:lpstr>
      <vt:lpstr>Estructuras</vt:lpstr>
      <vt:lpstr>Estructuras</vt:lpstr>
      <vt:lpstr>Estructuras</vt:lpstr>
      <vt:lpstr>Estructuras</vt:lpstr>
      <vt:lpstr>Estructuras</vt:lpstr>
      <vt:lpstr>Estructuras:  acceder a los miembros</vt:lpstr>
      <vt:lpstr>Estructuras:  inicializar</vt:lpstr>
      <vt:lpstr>Estructuras:  inicializar</vt:lpstr>
      <vt:lpstr>Estructuras</vt:lpstr>
      <vt:lpstr>Resumen</vt:lpstr>
      <vt:lpstr>Resumen</vt:lpstr>
      <vt:lpstr>Bibliografía</vt:lpstr>
      <vt:lpstr>Unidad 3: Cadenas y estructuras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2013-12-18T18:59:06Z</dcterms:created>
  <dcterms:modified xsi:type="dcterms:W3CDTF">2014-10-31T13:36:53Z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TC101769309990</vt:lpwstr>
  </property>
</Properties>
</file>